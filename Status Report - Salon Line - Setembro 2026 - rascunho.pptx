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olors1.xml" ContentType="application/vnd.ms-office.chartcolorstyle+xml"/>
  <Override PartName="/ppt/charts/colors2.xml" ContentType="application/vnd.ms-office.chartcolorstyle+xml"/>
  <Override PartName="/ppt/charts/colors3.xml" ContentType="application/vnd.ms-office.chartcolorstyle+xml"/>
  <Override PartName="/ppt/charts/colors4.xml" ContentType="application/vnd.ms-office.chartcolorstyle+xml"/>
  <Override PartName="/ppt/charts/style1.xml" ContentType="application/vnd.ms-office.chartstyle+xml"/>
  <Override PartName="/ppt/charts/style2.xml" ContentType="application/vnd.ms-office.chartstyle+xml"/>
  <Override PartName="/ppt/charts/style3.xml" ContentType="application/vnd.ms-office.chartstyle+xml"/>
  <Override PartName="/ppt/charts/style4.xml" ContentType="application/vnd.ms-office.chartstyle+xml"/>
  <Override PartName="/ppt/media/image10.svg" ContentType="image/svg+xml"/>
  <Override PartName="/ppt/media/image11.svg" ContentType="image/svg+xml"/>
  <Override PartName="/ppt/media/image12.svg" ContentType="image/svg+xml"/>
  <Override PartName="/ppt/media/image13.svg" ContentType="image/svg+xml"/>
  <Override PartName="/ppt/media/image14.svg" ContentType="image/svg+xml"/>
  <Override PartName="/ppt/media/image15.svg" ContentType="image/svg+xml"/>
  <Override PartName="/ppt/media/image16.svg" ContentType="image/svg+xml"/>
  <Override PartName="/ppt/media/image17.svg" ContentType="image/svg+xml"/>
  <Override PartName="/ppt/media/image18.svg" ContentType="image/svg+xml"/>
  <Override PartName="/ppt/media/image19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4"/>
  </p:sldMasterIdLst>
  <p:sldIdLst>
    <p:sldId id="256" r:id="rId5"/>
    <p:sldId id="259" r:id="rId6"/>
    <p:sldId id="260" r:id="rId7"/>
    <p:sldId id="264" r:id="rId8"/>
    <p:sldId id="265" r:id="rId9"/>
    <p:sldId id="271" r:id="rId29"/>
    <p:sldId id="272" r:id="rId30"/>
    <p:sldId id="273" r:id="rId31"/>
    <p:sldId id="274" r:id="rId32"/>
    <p:sldId id="275" r:id="rId33"/>
    <p:sldId id="276" r:id="rId34"/>
    <p:sldId id="277" r:id="rId35"/>
    <p:sldId id="278" r:id="rId36"/>
    <p:sldId id="266" r:id="rId10"/>
    <p:sldId id="270" r:id="rId11"/>
    <p:sldId id="261" r:id="rId12"/>
    <p:sldId id="267" r:id="rId13"/>
    <p:sldId id="268" r:id="rId14"/>
    <p:sldId id="269" r:id="rId15"/>
  </p:sldIdLst>
  <p:sldSz cx="18288000" cy="10287000"/>
  <p:notesSz cx="6858000" cy="9144000"/>
  <p:embeddedFontLst>
    <p:embeddedFont>
      <p:font typeface="General Sans 1 Light" panose="020B0604020202020204" charset="0"/>
      <p:regular r:id="rId16"/>
    </p:embeddedFont>
    <p:embeddedFont>
      <p:font typeface="General Sans 1 Medium" panose="020B0604020202020204" charset="0"/>
      <p:regular r:id="rId17"/>
    </p:embeddedFont>
    <p:embeddedFont>
      <p:font typeface="General Sans 1 Semi-Bold" panose="020B0604020202020204" charset="0"/>
      <p:regular r:id="rId18"/>
      <p:bold r:id="rId19"/>
    </p:embeddedFont>
    <p:embeddedFont>
      <p:font typeface="General Sans 2 Light" panose="020B0604020202020204" charset="0"/>
      <p:regular r:id="rId20"/>
    </p:embeddedFont>
    <p:embeddedFont>
      <p:font typeface="General Sans 2 Medium" panose="020B0604020202020204" charset="0"/>
      <p:regular r:id="rId21"/>
    </p:embeddedFont>
    <p:embeddedFont>
      <p:font typeface="Inter Heavy" panose="020B0604020202020204" charset="0"/>
      <p:regular r:id="rId22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58ED5"/>
    <a:srgbClr val="E2E0E1"/>
    <a:srgbClr val="B49C9D"/>
    <a:srgbClr val="E2D8D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DDB2B35-2E67-4F98-82DA-666FB1EA03F7}" v="40" dt="2026-09-24T15:48:05.89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2735" autoAdjust="0"/>
  </p:normalViewPr>
  <p:slideViewPr>
    <p:cSldViewPr>
      <p:cViewPr varScale="1">
        <p:scale>
          <a:sx n="37" d="100"/>
          <a:sy n="37" d="100"/>
        </p:scale>
        <p:origin x="988" y="-2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14.xml"/><Relationship Id="rId11" Type="http://schemas.openxmlformats.org/officeDocument/2006/relationships/slide" Target="slides/slide15.xml"/><Relationship Id="rId12" Type="http://schemas.openxmlformats.org/officeDocument/2006/relationships/slide" Target="slides/slide16.xml"/><Relationship Id="rId13" Type="http://schemas.openxmlformats.org/officeDocument/2006/relationships/slide" Target="slides/slide17.xml"/><Relationship Id="rId14" Type="http://schemas.openxmlformats.org/officeDocument/2006/relationships/slide" Target="slides/slide18.xml"/><Relationship Id="rId15" Type="http://schemas.openxmlformats.org/officeDocument/2006/relationships/slide" Target="slides/slide19.xml"/><Relationship Id="rId16" Type="http://schemas.openxmlformats.org/officeDocument/2006/relationships/font" Target="fonts/font1.fntdata"/><Relationship Id="rId17" Type="http://schemas.openxmlformats.org/officeDocument/2006/relationships/font" Target="fonts/font2.fntdata"/><Relationship Id="rId18" Type="http://schemas.openxmlformats.org/officeDocument/2006/relationships/font" Target="fonts/font3.fntdata"/><Relationship Id="rId19" Type="http://schemas.openxmlformats.org/officeDocument/2006/relationships/font" Target="fonts/font4.fntdata"/><Relationship Id="rId20" Type="http://schemas.openxmlformats.org/officeDocument/2006/relationships/font" Target="fonts/font5.fntdata"/><Relationship Id="rId21" Type="http://schemas.openxmlformats.org/officeDocument/2006/relationships/font" Target="fonts/font6.fntdata"/><Relationship Id="rId22" Type="http://schemas.openxmlformats.org/officeDocument/2006/relationships/font" Target="fonts/font7.fntdata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Relationship Id="rId27" Type="http://schemas.microsoft.com/office/2016/11/relationships/changesInfo" Target="changesInfos/changesInfo1.xml"/><Relationship Id="rId28" Type="http://schemas.microsoft.com/office/2015/10/relationships/revisionInfo" Target="revisionInfo.xml"/><Relationship Id="rId29" Type="http://schemas.openxmlformats.org/officeDocument/2006/relationships/slide" Target="slides/slide6.xml"/><Relationship Id="rId30" Type="http://schemas.openxmlformats.org/officeDocument/2006/relationships/slide" Target="slides/slide7.xml"/><Relationship Id="rId31" Type="http://schemas.openxmlformats.org/officeDocument/2006/relationships/slide" Target="slides/slide8.xml"/><Relationship Id="rId32" Type="http://schemas.openxmlformats.org/officeDocument/2006/relationships/slide" Target="slides/slide9.xml"/><Relationship Id="rId33" Type="http://schemas.openxmlformats.org/officeDocument/2006/relationships/slide" Target="slides/slide10.xml"/><Relationship Id="rId34" Type="http://schemas.openxmlformats.org/officeDocument/2006/relationships/slide" Target="slides/slide11.xml"/><Relationship Id="rId35" Type="http://schemas.openxmlformats.org/officeDocument/2006/relationships/slide" Target="slides/slide12.xml"/><Relationship Id="rId36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ábio Vidart" userId="dca8298e-ecf8-47d4-b4a2-6a27c72e50ef" providerId="ADAL" clId="{5ADE955B-D2C9-4C6D-820C-C83BBCA0CEA8}"/>
    <pc:docChg chg="undo custSel addSld modSld sldOrd">
      <pc:chgData name="Fábio Vidart" userId="dca8298e-ecf8-47d4-b4a2-6a27c72e50ef" providerId="ADAL" clId="{5ADE955B-D2C9-4C6D-820C-C83BBCA0CEA8}" dt="2026-09-24T15:48:05.891" v="5190" actId="20577"/>
      <pc:docMkLst>
        <pc:docMk/>
      </pc:docMkLst>
      <pc:sldChg chg="modSp mod">
        <pc:chgData name="Fábio Vidart" userId="dca8298e-ecf8-47d4-b4a2-6a27c72e50ef" providerId="ADAL" clId="{5ADE955B-D2C9-4C6D-820C-C83BBCA0CEA8}" dt="2026-09-14T13:33:45.812" v="3306" actId="20577"/>
        <pc:sldMkLst>
          <pc:docMk/>
          <pc:sldMk cId="0" sldId="256"/>
        </pc:sldMkLst>
        <pc:spChg chg="mod">
          <ac:chgData name="Fábio Vidart" userId="dca8298e-ecf8-47d4-b4a2-6a27c72e50ef" providerId="ADAL" clId="{5ADE955B-D2C9-4C6D-820C-C83BBCA0CEA8}" dt="2026-09-14T13:33:45.812" v="3306" actId="20577"/>
          <ac:spMkLst>
            <pc:docMk/>
            <pc:sldMk cId="0" sldId="256"/>
            <ac:spMk id="12" creationId="{00000000-0000-0000-0000-000000000000}"/>
          </ac:spMkLst>
        </pc:spChg>
      </pc:sldChg>
      <pc:sldChg chg="modSp mod">
        <pc:chgData name="Fábio Vidart" userId="dca8298e-ecf8-47d4-b4a2-6a27c72e50ef" providerId="ADAL" clId="{5ADE955B-D2C9-4C6D-820C-C83BBCA0CEA8}" dt="2026-09-16T19:23:01.898" v="5142" actId="20577"/>
        <pc:sldMkLst>
          <pc:docMk/>
          <pc:sldMk cId="0" sldId="259"/>
        </pc:sldMkLst>
        <pc:spChg chg="mod">
          <ac:chgData name="Fábio Vidart" userId="dca8298e-ecf8-47d4-b4a2-6a27c72e50ef" providerId="ADAL" clId="{5ADE955B-D2C9-4C6D-820C-C83BBCA0CEA8}" dt="2026-09-16T19:23:01.898" v="5142" actId="20577"/>
          <ac:spMkLst>
            <pc:docMk/>
            <pc:sldMk cId="0" sldId="259"/>
            <ac:spMk id="6" creationId="{00000000-0000-0000-0000-000000000000}"/>
          </ac:spMkLst>
        </pc:spChg>
      </pc:sldChg>
      <pc:sldChg chg="addSp delSp modSp mod">
        <pc:chgData name="Fábio Vidart" userId="dca8298e-ecf8-47d4-b4a2-6a27c72e50ef" providerId="ADAL" clId="{5ADE955B-D2C9-4C6D-820C-C83BBCA0CEA8}" dt="2026-09-15T21:22:57.735" v="4698" actId="20577"/>
        <pc:sldMkLst>
          <pc:docMk/>
          <pc:sldMk cId="0" sldId="260"/>
        </pc:sldMkLst>
        <pc:spChg chg="mod">
          <ac:chgData name="Fábio Vidart" userId="dca8298e-ecf8-47d4-b4a2-6a27c72e50ef" providerId="ADAL" clId="{5ADE955B-D2C9-4C6D-820C-C83BBCA0CEA8}" dt="2026-09-15T21:22:57.735" v="4698" actId="20577"/>
          <ac:spMkLst>
            <pc:docMk/>
            <pc:sldMk cId="0" sldId="260"/>
            <ac:spMk id="6" creationId="{00000000-0000-0000-0000-000000000000}"/>
          </ac:spMkLst>
        </pc:spChg>
        <pc:spChg chg="mod">
          <ac:chgData name="Fábio Vidart" userId="dca8298e-ecf8-47d4-b4a2-6a27c72e50ef" providerId="ADAL" clId="{5ADE955B-D2C9-4C6D-820C-C83BBCA0CEA8}" dt="2026-09-14T16:16:38.730" v="3330" actId="20577"/>
          <ac:spMkLst>
            <pc:docMk/>
            <pc:sldMk cId="0" sldId="260"/>
            <ac:spMk id="17" creationId="{00000000-0000-0000-0000-000000000000}"/>
          </ac:spMkLst>
        </pc:spChg>
        <pc:grpChg chg="add del">
          <ac:chgData name="Fábio Vidart" userId="dca8298e-ecf8-47d4-b4a2-6a27c72e50ef" providerId="ADAL" clId="{5ADE955B-D2C9-4C6D-820C-C83BBCA0CEA8}" dt="2026-09-14T13:37:34.569" v="3310" actId="478"/>
          <ac:grpSpMkLst>
            <pc:docMk/>
            <pc:sldMk cId="0" sldId="260"/>
            <ac:grpSpMk id="29" creationId="{6C7CD4BA-CB71-3C4C-1927-262031C309AF}"/>
          </ac:grpSpMkLst>
        </pc:grpChg>
        <pc:graphicFrameChg chg="add mod">
          <ac:chgData name="Fábio Vidart" userId="dca8298e-ecf8-47d4-b4a2-6a27c72e50ef" providerId="ADAL" clId="{5ADE955B-D2C9-4C6D-820C-C83BBCA0CEA8}" dt="2026-09-14T16:16:27.688" v="3326" actId="255"/>
          <ac:graphicFrameMkLst>
            <pc:docMk/>
            <pc:sldMk cId="0" sldId="260"/>
            <ac:graphicFrameMk id="10" creationId="{E6473918-8D1F-0157-13E9-056F602CACB1}"/>
          </ac:graphicFrameMkLst>
        </pc:graphicFrameChg>
      </pc:sldChg>
      <pc:sldChg chg="modSp mod">
        <pc:chgData name="Fábio Vidart" userId="dca8298e-ecf8-47d4-b4a2-6a27c72e50ef" providerId="ADAL" clId="{5ADE955B-D2C9-4C6D-820C-C83BBCA0CEA8}" dt="2026-09-16T21:10:57.809" v="5144" actId="6549"/>
        <pc:sldMkLst>
          <pc:docMk/>
          <pc:sldMk cId="0" sldId="261"/>
        </pc:sldMkLst>
        <pc:spChg chg="mod">
          <ac:chgData name="Fábio Vidart" userId="dca8298e-ecf8-47d4-b4a2-6a27c72e50ef" providerId="ADAL" clId="{5ADE955B-D2C9-4C6D-820C-C83BBCA0CEA8}" dt="2026-09-16T11:10:13.582" v="5031" actId="404"/>
          <ac:spMkLst>
            <pc:docMk/>
            <pc:sldMk cId="0" sldId="261"/>
            <ac:spMk id="22" creationId="{00000000-0000-0000-0000-000000000000}"/>
          </ac:spMkLst>
        </pc:spChg>
        <pc:spChg chg="mod">
          <ac:chgData name="Fábio Vidart" userId="dca8298e-ecf8-47d4-b4a2-6a27c72e50ef" providerId="ADAL" clId="{5ADE955B-D2C9-4C6D-820C-C83BBCA0CEA8}" dt="2026-09-16T21:10:57.809" v="5144" actId="6549"/>
          <ac:spMkLst>
            <pc:docMk/>
            <pc:sldMk cId="0" sldId="261"/>
            <ac:spMk id="24" creationId="{00000000-0000-0000-0000-000000000000}"/>
          </ac:spMkLst>
        </pc:spChg>
        <pc:spChg chg="mod">
          <ac:chgData name="Fábio Vidart" userId="dca8298e-ecf8-47d4-b4a2-6a27c72e50ef" providerId="ADAL" clId="{5ADE955B-D2C9-4C6D-820C-C83BBCA0CEA8}" dt="2026-09-16T11:10:26.254" v="5033" actId="404"/>
          <ac:spMkLst>
            <pc:docMk/>
            <pc:sldMk cId="0" sldId="261"/>
            <ac:spMk id="40" creationId="{20E57E0C-F8C1-C794-D853-2FA416FAE00F}"/>
          </ac:spMkLst>
        </pc:spChg>
      </pc:sldChg>
      <pc:sldChg chg="addSp modSp mod">
        <pc:chgData name="Fábio Vidart" userId="dca8298e-ecf8-47d4-b4a2-6a27c72e50ef" providerId="ADAL" clId="{5ADE955B-D2C9-4C6D-820C-C83BBCA0CEA8}" dt="2026-09-24T15:48:05.891" v="5190" actId="20577"/>
        <pc:sldMkLst>
          <pc:docMk/>
          <pc:sldMk cId="0" sldId="264"/>
        </pc:sldMkLst>
        <pc:spChg chg="mod">
          <ac:chgData name="Fábio Vidart" userId="dca8298e-ecf8-47d4-b4a2-6a27c72e50ef" providerId="ADAL" clId="{5ADE955B-D2C9-4C6D-820C-C83BBCA0CEA8}" dt="2026-09-14T16:16:52.234" v="3336" actId="20577"/>
          <ac:spMkLst>
            <pc:docMk/>
            <pc:sldMk cId="0" sldId="264"/>
            <ac:spMk id="6" creationId="{00000000-0000-0000-0000-000000000000}"/>
          </ac:spMkLst>
        </pc:spChg>
        <pc:spChg chg="mod">
          <ac:chgData name="Fábio Vidart" userId="dca8298e-ecf8-47d4-b4a2-6a27c72e50ef" providerId="ADAL" clId="{5ADE955B-D2C9-4C6D-820C-C83BBCA0CEA8}" dt="2026-09-14T16:16:47.522" v="3334" actId="20577"/>
          <ac:spMkLst>
            <pc:docMk/>
            <pc:sldMk cId="0" sldId="264"/>
            <ac:spMk id="9" creationId="{00000000-0000-0000-0000-000000000000}"/>
          </ac:spMkLst>
        </pc:spChg>
        <pc:spChg chg="mod">
          <ac:chgData name="Fábio Vidart" userId="dca8298e-ecf8-47d4-b4a2-6a27c72e50ef" providerId="ADAL" clId="{5ADE955B-D2C9-4C6D-820C-C83BBCA0CEA8}" dt="2026-09-14T16:16:55.861" v="3337" actId="20577"/>
          <ac:spMkLst>
            <pc:docMk/>
            <pc:sldMk cId="0" sldId="264"/>
            <ac:spMk id="35" creationId="{A3DB876F-B92B-471B-C8FF-F3776B57F94E}"/>
          </ac:spMkLst>
        </pc:spChg>
        <pc:graphicFrameChg chg="add mod">
          <ac:chgData name="Fábio Vidart" userId="dca8298e-ecf8-47d4-b4a2-6a27c72e50ef" providerId="ADAL" clId="{5ADE955B-D2C9-4C6D-820C-C83BBCA0CEA8}" dt="2026-09-15T18:40:07.979" v="3631" actId="404"/>
          <ac:graphicFrameMkLst>
            <pc:docMk/>
            <pc:sldMk cId="0" sldId="264"/>
            <ac:graphicFrameMk id="5" creationId="{CF9A7A19-D372-4B13-A072-85FFDA7F2AEB}"/>
          </ac:graphicFrameMkLst>
        </pc:graphicFrameChg>
        <pc:graphicFrameChg chg="mod">
          <ac:chgData name="Fábio Vidart" userId="dca8298e-ecf8-47d4-b4a2-6a27c72e50ef" providerId="ADAL" clId="{5ADE955B-D2C9-4C6D-820C-C83BBCA0CEA8}" dt="2026-09-15T18:39:50.901" v="3620"/>
          <ac:graphicFrameMkLst>
            <pc:docMk/>
            <pc:sldMk cId="0" sldId="264"/>
            <ac:graphicFrameMk id="16" creationId="{659AC373-228C-0E69-E193-BEA1C9092C43}"/>
          </ac:graphicFrameMkLst>
        </pc:graphicFrameChg>
        <pc:graphicFrameChg chg="mod">
          <ac:chgData name="Fábio Vidart" userId="dca8298e-ecf8-47d4-b4a2-6a27c72e50ef" providerId="ADAL" clId="{5ADE955B-D2C9-4C6D-820C-C83BBCA0CEA8}" dt="2026-09-24T15:48:05.891" v="5190" actId="20577"/>
          <ac:graphicFrameMkLst>
            <pc:docMk/>
            <pc:sldMk cId="0" sldId="264"/>
            <ac:graphicFrameMk id="33" creationId="{7C6BDD33-66AC-416C-AFE2-D010F3E39CED}"/>
          </ac:graphicFrameMkLst>
        </pc:graphicFrameChg>
      </pc:sldChg>
      <pc:sldChg chg="addSp modSp mod">
        <pc:chgData name="Fábio Vidart" userId="dca8298e-ecf8-47d4-b4a2-6a27c72e50ef" providerId="ADAL" clId="{5ADE955B-D2C9-4C6D-820C-C83BBCA0CEA8}" dt="2026-09-16T19:22:04.334" v="5127" actId="20577"/>
        <pc:sldMkLst>
          <pc:docMk/>
          <pc:sldMk cId="0" sldId="265"/>
        </pc:sldMkLst>
        <pc:spChg chg="add mod">
          <ac:chgData name="Fábio Vidart" userId="dca8298e-ecf8-47d4-b4a2-6a27c72e50ef" providerId="ADAL" clId="{5ADE955B-D2C9-4C6D-820C-C83BBCA0CEA8}" dt="2026-09-16T19:22:04.334" v="5127" actId="20577"/>
          <ac:spMkLst>
            <pc:docMk/>
            <pc:sldMk cId="0" sldId="265"/>
            <ac:spMk id="6" creationId="{4985DC11-4802-429A-BB94-76F88832976C}"/>
          </ac:spMkLst>
        </pc:spChg>
        <pc:spChg chg="add mod">
          <ac:chgData name="Fábio Vidart" userId="dca8298e-ecf8-47d4-b4a2-6a27c72e50ef" providerId="ADAL" clId="{5ADE955B-D2C9-4C6D-820C-C83BBCA0CEA8}" dt="2026-09-16T19:21:53.661" v="5125" actId="1035"/>
          <ac:spMkLst>
            <pc:docMk/>
            <pc:sldMk cId="0" sldId="265"/>
            <ac:spMk id="8" creationId="{05FAF77E-9A51-88B8-24A4-30FF3A5C59C3}"/>
          </ac:spMkLst>
        </pc:spChg>
        <pc:spChg chg="mod">
          <ac:chgData name="Fábio Vidart" userId="dca8298e-ecf8-47d4-b4a2-6a27c72e50ef" providerId="ADAL" clId="{5ADE955B-D2C9-4C6D-820C-C83BBCA0CEA8}" dt="2026-09-16T19:15:50.301" v="5050" actId="20577"/>
          <ac:spMkLst>
            <pc:docMk/>
            <pc:sldMk cId="0" sldId="265"/>
            <ac:spMk id="44" creationId="{00000000-0000-0000-0000-000000000000}"/>
          </ac:spMkLst>
        </pc:spChg>
        <pc:graphicFrameChg chg="mod modGraphic">
          <ac:chgData name="Fábio Vidart" userId="dca8298e-ecf8-47d4-b4a2-6a27c72e50ef" providerId="ADAL" clId="{5ADE955B-D2C9-4C6D-820C-C83BBCA0CEA8}" dt="2026-09-15T21:27:45.836" v="4799" actId="1035"/>
          <ac:graphicFrameMkLst>
            <pc:docMk/>
            <pc:sldMk cId="0" sldId="265"/>
            <ac:graphicFrameMk id="47" creationId="{3138E084-B381-B7E5-1072-9CC52CEED81E}"/>
          </ac:graphicFrameMkLst>
        </pc:graphicFrameChg>
        <pc:picChg chg="add mod">
          <ac:chgData name="Fábio Vidart" userId="dca8298e-ecf8-47d4-b4a2-6a27c72e50ef" providerId="ADAL" clId="{5ADE955B-D2C9-4C6D-820C-C83BBCA0CEA8}" dt="2026-09-16T19:20:58.537" v="5086" actId="1076"/>
          <ac:picMkLst>
            <pc:docMk/>
            <pc:sldMk cId="0" sldId="265"/>
            <ac:picMk id="4" creationId="{F255DE0D-1078-185E-CC17-D7AC67303355}"/>
          </ac:picMkLst>
        </pc:picChg>
      </pc:sldChg>
      <pc:sldChg chg="modSp mod">
        <pc:chgData name="Fábio Vidart" userId="dca8298e-ecf8-47d4-b4a2-6a27c72e50ef" providerId="ADAL" clId="{5ADE955B-D2C9-4C6D-820C-C83BBCA0CEA8}" dt="2026-09-16T18:44:17.200" v="5036" actId="14734"/>
        <pc:sldMkLst>
          <pc:docMk/>
          <pc:sldMk cId="0" sldId="266"/>
        </pc:sldMkLst>
        <pc:spChg chg="mod">
          <ac:chgData name="Fábio Vidart" userId="dca8298e-ecf8-47d4-b4a2-6a27c72e50ef" providerId="ADAL" clId="{5ADE955B-D2C9-4C6D-820C-C83BBCA0CEA8}" dt="2026-09-15T18:59:08.420" v="3632" actId="20577"/>
          <ac:spMkLst>
            <pc:docMk/>
            <pc:sldMk cId="0" sldId="266"/>
            <ac:spMk id="55" creationId="{15410F9B-609B-671F-58C9-EB0E666A3ED5}"/>
          </ac:spMkLst>
        </pc:spChg>
        <pc:spChg chg="mod">
          <ac:chgData name="Fábio Vidart" userId="dca8298e-ecf8-47d4-b4a2-6a27c72e50ef" providerId="ADAL" clId="{5ADE955B-D2C9-4C6D-820C-C83BBCA0CEA8}" dt="2026-09-15T19:03:26.366" v="3633" actId="20577"/>
          <ac:spMkLst>
            <pc:docMk/>
            <pc:sldMk cId="0" sldId="266"/>
            <ac:spMk id="63" creationId="{82AA4448-4406-17BB-D152-9D3B3BF8A443}"/>
          </ac:spMkLst>
        </pc:spChg>
        <pc:graphicFrameChg chg="mod modGraphic">
          <ac:chgData name="Fábio Vidart" userId="dca8298e-ecf8-47d4-b4a2-6a27c72e50ef" providerId="ADAL" clId="{5ADE955B-D2C9-4C6D-820C-C83BBCA0CEA8}" dt="2026-09-16T18:44:17.200" v="5036" actId="14734"/>
          <ac:graphicFrameMkLst>
            <pc:docMk/>
            <pc:sldMk cId="0" sldId="266"/>
            <ac:graphicFrameMk id="75" creationId="{03BA5884-7F54-D428-05C2-714CA105AC30}"/>
          </ac:graphicFrameMkLst>
        </pc:graphicFrameChg>
      </pc:sldChg>
      <pc:sldChg chg="delSp mod">
        <pc:chgData name="Fábio Vidart" userId="dca8298e-ecf8-47d4-b4a2-6a27c72e50ef" providerId="ADAL" clId="{5ADE955B-D2C9-4C6D-820C-C83BBCA0CEA8}" dt="2026-09-15T21:20:07.250" v="4683" actId="478"/>
        <pc:sldMkLst>
          <pc:docMk/>
          <pc:sldMk cId="0" sldId="267"/>
        </pc:sldMkLst>
      </pc:sldChg>
      <pc:sldChg chg="modSp mod">
        <pc:chgData name="Fábio Vidart" userId="dca8298e-ecf8-47d4-b4a2-6a27c72e50ef" providerId="ADAL" clId="{5ADE955B-D2C9-4C6D-820C-C83BBCA0CEA8}" dt="2026-09-16T19:17:05.818" v="5079" actId="1036"/>
        <pc:sldMkLst>
          <pc:docMk/>
          <pc:sldMk cId="2832670910" sldId="269"/>
        </pc:sldMkLst>
        <pc:spChg chg="mod">
          <ac:chgData name="Fábio Vidart" userId="dca8298e-ecf8-47d4-b4a2-6a27c72e50ef" providerId="ADAL" clId="{5ADE955B-D2C9-4C6D-820C-C83BBCA0CEA8}" dt="2026-09-16T19:17:05.818" v="5079" actId="1036"/>
          <ac:spMkLst>
            <pc:docMk/>
            <pc:sldMk cId="2832670910" sldId="269"/>
            <ac:spMk id="7" creationId="{87D86D00-E97B-D8B9-C3A2-9E67DDF1912C}"/>
          </ac:spMkLst>
        </pc:spChg>
        <pc:spChg chg="mod">
          <ac:chgData name="Fábio Vidart" userId="dca8298e-ecf8-47d4-b4a2-6a27c72e50ef" providerId="ADAL" clId="{5ADE955B-D2C9-4C6D-820C-C83BBCA0CEA8}" dt="2026-09-16T19:17:00.027" v="5078" actId="120"/>
          <ac:spMkLst>
            <pc:docMk/>
            <pc:sldMk cId="2832670910" sldId="269"/>
            <ac:spMk id="44" creationId="{2EC6CA18-EBB1-DEBD-2983-2B2B19871F91}"/>
          </ac:spMkLst>
        </pc:spChg>
        <pc:graphicFrameChg chg="mod modGraphic">
          <ac:chgData name="Fábio Vidart" userId="dca8298e-ecf8-47d4-b4a2-6a27c72e50ef" providerId="ADAL" clId="{5ADE955B-D2C9-4C6D-820C-C83BBCA0CEA8}" dt="2026-09-14T20:13:09.677" v="3550" actId="255"/>
          <ac:graphicFrameMkLst>
            <pc:docMk/>
            <pc:sldMk cId="2832670910" sldId="269"/>
            <ac:graphicFrameMk id="47" creationId="{110ECEA0-5A76-8FC6-DC4E-DB4CB5E76C7A}"/>
          </ac:graphicFrameMkLst>
        </pc:graphicFrameChg>
      </pc:sldChg>
      <pc:sldChg chg="addSp modSp mod">
        <pc:chgData name="Fábio Vidart" userId="dca8298e-ecf8-47d4-b4a2-6a27c72e50ef" providerId="ADAL" clId="{5ADE955B-D2C9-4C6D-820C-C83BBCA0CEA8}" dt="2026-09-15T19:32:16.353" v="4157" actId="20577"/>
        <pc:sldMkLst>
          <pc:docMk/>
          <pc:sldMk cId="2239950473" sldId="270"/>
        </pc:sldMkLst>
        <pc:spChg chg="mod">
          <ac:chgData name="Fábio Vidart" userId="dca8298e-ecf8-47d4-b4a2-6a27c72e50ef" providerId="ADAL" clId="{5ADE955B-D2C9-4C6D-820C-C83BBCA0CEA8}" dt="2026-09-15T19:31:37.051" v="4135" actId="1038"/>
          <ac:spMkLst>
            <pc:docMk/>
            <pc:sldMk cId="2239950473" sldId="270"/>
            <ac:spMk id="2" creationId="{7043A971-D781-82B0-7F50-6671A2F0EA00}"/>
          </ac:spMkLst>
        </pc:spChg>
        <pc:spChg chg="mod">
          <ac:chgData name="Fábio Vidart" userId="dca8298e-ecf8-47d4-b4a2-6a27c72e50ef" providerId="ADAL" clId="{5ADE955B-D2C9-4C6D-820C-C83BBCA0CEA8}" dt="2026-09-15T19:32:08.996" v="4156" actId="1035"/>
          <ac:spMkLst>
            <pc:docMk/>
            <pc:sldMk cId="2239950473" sldId="270"/>
            <ac:spMk id="4" creationId="{D04174B7-0E85-FA13-CA7E-532066B24011}"/>
          </ac:spMkLst>
        </pc:spChg>
        <pc:spChg chg="mod">
          <ac:chgData name="Fábio Vidart" userId="dca8298e-ecf8-47d4-b4a2-6a27c72e50ef" providerId="ADAL" clId="{5ADE955B-D2C9-4C6D-820C-C83BBCA0CEA8}" dt="2026-09-15T19:32:16.353" v="4157" actId="20577"/>
          <ac:spMkLst>
            <pc:docMk/>
            <pc:sldMk cId="2239950473" sldId="270"/>
            <ac:spMk id="8" creationId="{E4D2449F-15F6-508E-82F8-2E4578AC8330}"/>
          </ac:spMkLst>
        </pc:spChg>
        <pc:spChg chg="add mod">
          <ac:chgData name="Fábio Vidart" userId="dca8298e-ecf8-47d4-b4a2-6a27c72e50ef" providerId="ADAL" clId="{5ADE955B-D2C9-4C6D-820C-C83BBCA0CEA8}" dt="2026-09-15T19:30:25.731" v="4097" actId="1076"/>
          <ac:spMkLst>
            <pc:docMk/>
            <pc:sldMk cId="2239950473" sldId="270"/>
            <ac:spMk id="9" creationId="{DEA74B65-044E-39ED-8804-59454C936101}"/>
          </ac:spMkLst>
        </pc:spChg>
        <pc:spChg chg="mod">
          <ac:chgData name="Fábio Vidart" userId="dca8298e-ecf8-47d4-b4a2-6a27c72e50ef" providerId="ADAL" clId="{5ADE955B-D2C9-4C6D-820C-C83BBCA0CEA8}" dt="2026-09-15T19:30:35.099" v="4098" actId="21"/>
          <ac:spMkLst>
            <pc:docMk/>
            <pc:sldMk cId="2239950473" sldId="270"/>
            <ac:spMk id="10" creationId="{6C38E8A7-A2FF-44BA-DECE-84B7A2217343}"/>
          </ac:spMkLst>
        </pc:spChg>
        <pc:spChg chg="add mod">
          <ac:chgData name="Fábio Vidart" userId="dca8298e-ecf8-47d4-b4a2-6a27c72e50ef" providerId="ADAL" clId="{5ADE955B-D2C9-4C6D-820C-C83BBCA0CEA8}" dt="2026-09-15T19:31:11.688" v="4110" actId="20577"/>
          <ac:spMkLst>
            <pc:docMk/>
            <pc:sldMk cId="2239950473" sldId="270"/>
            <ac:spMk id="13" creationId="{40594DD8-1D9D-CCB4-759C-A94F24D93C87}"/>
          </ac:spMkLst>
        </pc:spChg>
        <pc:spChg chg="mod">
          <ac:chgData name="Fábio Vidart" userId="dca8298e-ecf8-47d4-b4a2-6a27c72e50ef" providerId="ADAL" clId="{5ADE955B-D2C9-4C6D-820C-C83BBCA0CEA8}" dt="2026-09-15T19:31:59.322" v="4153" actId="1038"/>
          <ac:spMkLst>
            <pc:docMk/>
            <pc:sldMk cId="2239950473" sldId="270"/>
            <ac:spMk id="55" creationId="{A1EB607B-715B-7865-D730-14051BEEB091}"/>
          </ac:spMkLst>
        </pc:spChg>
        <pc:spChg chg="mod">
          <ac:chgData name="Fábio Vidart" userId="dca8298e-ecf8-47d4-b4a2-6a27c72e50ef" providerId="ADAL" clId="{5ADE955B-D2C9-4C6D-820C-C83BBCA0CEA8}" dt="2026-09-15T19:31:59.322" v="4153" actId="1038"/>
          <ac:spMkLst>
            <pc:docMk/>
            <pc:sldMk cId="2239950473" sldId="270"/>
            <ac:spMk id="57" creationId="{7C17DE8F-787D-2249-435D-014DE1529BA9}"/>
          </ac:spMkLst>
        </pc:spChg>
        <pc:spChg chg="mod">
          <ac:chgData name="Fábio Vidart" userId="dca8298e-ecf8-47d4-b4a2-6a27c72e50ef" providerId="ADAL" clId="{5ADE955B-D2C9-4C6D-820C-C83BBCA0CEA8}" dt="2026-09-15T19:31:24.750" v="4121" actId="1038"/>
          <ac:spMkLst>
            <pc:docMk/>
            <pc:sldMk cId="2239950473" sldId="270"/>
            <ac:spMk id="63" creationId="{3BB3F79B-F498-BAF4-06B0-5450A59EBF21}"/>
          </ac:spMkLst>
        </pc:spChg>
        <pc:spChg chg="mod">
          <ac:chgData name="Fábio Vidart" userId="dca8298e-ecf8-47d4-b4a2-6a27c72e50ef" providerId="ADAL" clId="{5ADE955B-D2C9-4C6D-820C-C83BBCA0CEA8}" dt="2026-09-15T19:31:24.750" v="4121" actId="1038"/>
          <ac:spMkLst>
            <pc:docMk/>
            <pc:sldMk cId="2239950473" sldId="270"/>
            <ac:spMk id="65" creationId="{0A4CC207-81FF-55AC-59F9-08E14475B438}"/>
          </ac:spMkLst>
        </pc:spChg>
        <pc:graphicFrameChg chg="mod modGraphic">
          <ac:chgData name="Fábio Vidart" userId="dca8298e-ecf8-47d4-b4a2-6a27c72e50ef" providerId="ADAL" clId="{5ADE955B-D2C9-4C6D-820C-C83BBCA0CEA8}" dt="2026-09-15T19:27:05.989" v="4057" actId="20577"/>
          <ac:graphicFrameMkLst>
            <pc:docMk/>
            <pc:sldMk cId="2239950473" sldId="270"/>
            <ac:graphicFrameMk id="75" creationId="{37D79888-9064-CF9F-80B9-D69E7E44C867}"/>
          </ac:graphicFrameMkLst>
        </pc:graphicFrameChg>
        <pc:picChg chg="add mod">
          <ac:chgData name="Fábio Vidart" userId="dca8298e-ecf8-47d4-b4a2-6a27c72e50ef" providerId="ADAL" clId="{5ADE955B-D2C9-4C6D-820C-C83BBCA0CEA8}" dt="2026-09-15T19:29:56.198" v="4095" actId="1076"/>
          <ac:picMkLst>
            <pc:docMk/>
            <pc:sldMk cId="2239950473" sldId="270"/>
            <ac:picMk id="5" creationId="{2AC53081-17B5-8768-3CEB-1E3AED3D6809}"/>
          </ac:picMkLst>
        </pc:picChg>
        <pc:picChg chg="mod">
          <ac:chgData name="Fábio Vidart" userId="dca8298e-ecf8-47d4-b4a2-6a27c72e50ef" providerId="ADAL" clId="{5ADE955B-D2C9-4C6D-820C-C83BBCA0CEA8}" dt="2026-09-15T19:31:24.750" v="4121" actId="1038"/>
          <ac:picMkLst>
            <pc:docMk/>
            <pc:sldMk cId="2239950473" sldId="270"/>
            <ac:picMk id="6" creationId="{2E5DCA81-B890-6FCD-82F8-25E9DAE1D4F2}"/>
          </ac:picMkLst>
        </pc:picChg>
        <pc:picChg chg="mod">
          <ac:chgData name="Fábio Vidart" userId="dca8298e-ecf8-47d4-b4a2-6a27c72e50ef" providerId="ADAL" clId="{5ADE955B-D2C9-4C6D-820C-C83BBCA0CEA8}" dt="2026-09-15T19:29:43.733" v="4091" actId="1037"/>
          <ac:picMkLst>
            <pc:docMk/>
            <pc:sldMk cId="2239950473" sldId="270"/>
            <ac:picMk id="12" creationId="{3FE7E06A-EBA1-2E76-BA05-BD560D4A2C8F}"/>
          </ac:picMkLst>
        </pc:picChg>
      </pc:sld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<Relationship Id="rId3" Type="http://schemas.openxmlformats.org/officeDocument/2006/relationships/oleObject" Target="https://lighthouseitbr-my.sharepoint.com/personal/fabio_vidart_lighthouseit_com_br/Documents/Documents/Salon%20Line/STATUS%20REPORT%20QUINZENAL/Dados%20-%20Indicadores%20Salon.xlsx" TargetMode="External"/></Relationships>
</file>

<file path=ppt/charts/_rels/chart2.xml.rels><?xml version='1.0' encoding='UTF-8' standalone='yes'?>
<Relationships xmlns="http://schemas.openxmlformats.org/package/2006/relationships"><Relationship Id="rId1" Type="http://schemas.microsoft.com/office/2011/relationships/chartStyle" Target="style2.xml"/><Relationship Id="rId2" Type="http://schemas.microsoft.com/office/2011/relationships/chartColorStyle" Target="colors2.xml"/><Relationship Id="rId3" Type="http://schemas.openxmlformats.org/officeDocument/2006/relationships/oleObject" Target="https://lighthouseitbr-my.sharepoint.com/personal/fabio_vidart_lighthouseit_com_br/Documents/Documents/Salon%20Line/STATUS%20REPORT%20QUINZENAL/Dados%20-%20Indicadores%20Salon.xlsx" TargetMode="External"/></Relationships>
</file>

<file path=ppt/charts/_rels/chart3.xml.rels><?xml version='1.0' encoding='UTF-8' standalone='yes'?>
<Relationships xmlns="http://schemas.openxmlformats.org/package/2006/relationships"><Relationship Id="rId1" Type="http://schemas.microsoft.com/office/2011/relationships/chartStyle" Target="style3.xml"/><Relationship Id="rId2" Type="http://schemas.microsoft.com/office/2011/relationships/chartColorStyle" Target="colors3.xml"/><Relationship Id="rId3" Type="http://schemas.openxmlformats.org/officeDocument/2006/relationships/oleObject" Target="https://lighthouseitbr-my.sharepoint.com/personal/fabio_vidart_lighthouseit_com_br/Documents/Documents/Salon%20Line/STATUS%20REPORT%20QUINZENAL/Dados%20-%20Indicadores%20Salon.xlsx" TargetMode="External"/></Relationships>
</file>

<file path=ppt/charts/_rels/chart4.xml.rels><?xml version='1.0' encoding='UTF-8' standalone='yes'?>
<Relationships xmlns="http://schemas.openxmlformats.org/package/2006/relationships"><Relationship Id="rId1" Type="http://schemas.microsoft.com/office/2011/relationships/chartStyle" Target="style4.xml"/><Relationship Id="rId2" Type="http://schemas.microsoft.com/office/2011/relationships/chartColorStyle" Target="colors4.xml"/><Relationship Id="rId3" Type="http://schemas.openxmlformats.org/officeDocument/2006/relationships/oleObject" Target="https://lighthouseitbr-my.sharepoint.com/personal/fabio_vidart_lighthouseit_com_br/Documents/Documents/Salon%20Line/STATUS%20REPORT%20QUINZENAL/Dados%20-%20Indicadores%20Salon.xlsx" TargetMode="Externa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spPr>
            <a:ln w="28575" cap="rnd">
              <a:solidFill>
                <a:schemeClr val="tx1"/>
              </a:solidFill>
              <a:round/>
            </a:ln>
            <a:effectLst/>
          </c:spPr>
          <c:marker>
            <c:symbol val="diamond"/>
            <c:size val="11"/>
            <c:spPr>
              <a:solidFill>
                <a:schemeClr val="tx1"/>
              </a:solidFill>
              <a:ln w="9525" cmpd="sng">
                <a:noFill/>
                <a:bevel/>
                <a:headEnd type="diamond"/>
              </a:ln>
              <a:effectLst/>
            </c:spPr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6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pt-BR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DADOS!$A$5:$A$10</c:f>
              <c:numCache>
                <c:formatCode>mmm\-yy</c:formatCode>
                <c:ptCount val="6"/>
                <c:pt idx="0">
                  <c:v>46113</c:v>
                </c:pt>
                <c:pt idx="1">
                  <c:v>46143</c:v>
                </c:pt>
                <c:pt idx="2">
                  <c:v>46174</c:v>
                </c:pt>
                <c:pt idx="3">
                  <c:v>46204</c:v>
                </c:pt>
                <c:pt idx="4">
                  <c:v>46235</c:v>
                </c:pt>
                <c:pt idx="5">
                  <c:v>46266</c:v>
                </c:pt>
              </c:numCache>
            </c:numRef>
          </c:cat>
          <c:val>
            <c:numRef>
              <c:f>DADOS!$B$5:$B$10</c:f>
              <c:numCache>
                <c:formatCode>General</c:formatCode>
                <c:ptCount val="6"/>
                <c:pt idx="0">
                  <c:v>100</c:v>
                </c:pt>
                <c:pt idx="1">
                  <c:v>100</c:v>
                </c:pt>
                <c:pt idx="2">
                  <c:v>100</c:v>
                </c:pt>
                <c:pt idx="3">
                  <c:v>99.4</c:v>
                </c:pt>
                <c:pt idx="4">
                  <c:v>100</c:v>
                </c:pt>
                <c:pt idx="5">
                  <c:v>100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D8A-436B-98CB-81678323DAF9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630323519"/>
        <c:axId val="530775919"/>
      </c:lineChart>
      <c:dateAx>
        <c:axId val="630323519"/>
        <c:scaling>
          <c:orientation val="minMax"/>
        </c:scaling>
        <c:delete val="0"/>
        <c:axPos val="b"/>
        <c:numFmt formatCode="mmm\-yy" sourceLinked="1"/>
        <c:majorTickMark val="out"/>
        <c:minorTickMark val="none"/>
        <c:tickLblPos val="nextTo"/>
        <c:spPr>
          <a:noFill/>
          <a:ln w="9525" cap="flat" cmpd="sng" algn="ctr">
            <a:noFill/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6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pt-BR"/>
          </a:p>
        </c:txPr>
        <c:crossAx val="530775919"/>
        <c:crosses val="autoZero"/>
        <c:auto val="1"/>
        <c:lblOffset val="100"/>
        <c:baseTimeUnit val="months"/>
      </c:dateAx>
      <c:valAx>
        <c:axId val="530775919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630323519"/>
        <c:crosses val="autoZero"/>
        <c:crossBetween val="between"/>
      </c:valAx>
      <c:spPr>
        <a:noFill/>
        <a:ln>
          <a:noFill/>
        </a:ln>
        <a:effectLst>
          <a:softEdge rad="127000"/>
        </a:effectLst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1600"/>
      </a:pPr>
      <a:endParaRPr lang="pt-BR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 algn="ctr" rtl="0">
              <a:defRPr lang="en-US" sz="1440" b="0" i="0" u="none" strike="noStrike" kern="1200" cap="all" spc="132" baseline="0" dirty="0" err="1" smtClean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</a:defRPr>
            </a:pPr>
            <a:r>
              <a:rPr lang="en-US" sz="1440" b="0" i="0" u="none" strike="noStrike" kern="1200" cap="all" spc="132" baseline="0" dirty="0" err="1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</a:rPr>
              <a:t>Composição das entregas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 algn="ctr" rtl="0">
            <a:defRPr lang="en-US" sz="1440" b="0" i="0" u="none" strike="noStrike" kern="1200" cap="all" spc="132" baseline="0" dirty="0" err="1" smtClean="0">
              <a:solidFill>
                <a:srgbClr val="FFFFFF"/>
              </a:solidFill>
              <a:latin typeface="General Sans 2 Medium"/>
              <a:ea typeface="General Sans 2 Medium"/>
              <a:cs typeface="General Sans 2 Medium"/>
            </a:defRPr>
          </a:pPr>
          <a:endParaRPr lang="pt-BR"/>
        </a:p>
      </c:txPr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DADOS!$B$23:$B$24</c:f>
              <c:strCache>
                <c:ptCount val="2"/>
                <c:pt idx="0">
                  <c:v>ENTREGAS POR TIPO</c:v>
                </c:pt>
                <c:pt idx="1">
                  <c:v>QUANTIDADE</c:v>
                </c:pt>
              </c:strCache>
            </c:strRef>
          </c:tx>
          <c:spPr>
            <a:gradFill flip="none" rotWithShape="1">
              <a:gsLst>
                <a:gs pos="0">
                  <a:schemeClr val="accent1"/>
                </a:gs>
                <a:gs pos="75000">
                  <a:schemeClr val="accent1">
                    <a:lumMod val="60000"/>
                    <a:lumOff val="40000"/>
                  </a:schemeClr>
                </a:gs>
                <a:gs pos="51000">
                  <a:schemeClr val="accent1">
                    <a:alpha val="75000"/>
                  </a:schemeClr>
                </a:gs>
                <a:gs pos="100000">
                  <a:schemeClr val="accent1">
                    <a:lumMod val="20000"/>
                    <a:lumOff val="80000"/>
                    <a:alpha val="15000"/>
                  </a:schemeClr>
                </a:gs>
              </a:gsLst>
              <a:lin ang="10800000" scaled="1"/>
              <a:tileRect/>
            </a:gra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89A3-4C21-8171-65E645839621}"/>
              </c:ext>
            </c:extLst>
          </c:dPt>
          <c:dPt>
            <c:idx val="1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3-89A3-4C21-8171-65E645839621}"/>
              </c:ext>
            </c:extLst>
          </c:dPt>
          <c:dPt>
            <c:idx val="2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5-89A3-4C21-8171-65E645839621}"/>
              </c:ext>
            </c:extLst>
          </c:dPt>
          <c:dLbls>
            <c:dLbl>
              <c:idx val="0"/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89A3-4C21-8171-65E645839621}"/>
                </c:ext>
              </c:extLst>
            </c:dLbl>
            <c:dLbl>
              <c:idx val="1"/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89A3-4C21-8171-65E645839621}"/>
                </c:ext>
              </c:extLst>
            </c:dLbl>
            <c:dLbl>
              <c:idx val="2"/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89A3-4C21-8171-65E645839621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0">
                <a:spAutoFit/>
              </a:bodyPr>
              <a:lstStyle/>
              <a:p>
                <a:pPr algn="ctr">
                  <a:defRPr lang="en-US" sz="1200" b="0" i="0" u="none" strike="noStrike" kern="1200" spc="132" baseline="0">
                    <a:solidFill>
                      <a:srgbClr val="FFFFFF"/>
                    </a:solidFill>
                    <a:latin typeface="General Sans 2 Medium"/>
                    <a:ea typeface="General Sans 2 Medium"/>
                    <a:cs typeface="General Sans 2 Medium"/>
                  </a:defRPr>
                </a:pPr>
                <a:endParaRPr lang="pt-BR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eparator>
</c:separator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DADOS!$A$25:$A$27</c:f>
              <c:strCache>
                <c:ptCount val="3"/>
                <c:pt idx="0">
                  <c:v>BUG</c:v>
                </c:pt>
                <c:pt idx="1">
                  <c:v>MELHORIA</c:v>
                </c:pt>
                <c:pt idx="2">
                  <c:v>USER STORY</c:v>
                </c:pt>
              </c:strCache>
            </c:strRef>
          </c:cat>
          <c:val>
            <c:numRef>
              <c:f>DADOS!$B$25:$B$27</c:f>
              <c:numCache>
                <c:formatCode>General</c:formatCode>
                <c:ptCount val="3"/>
                <c:pt idx="0">
                  <c:v>2</c:v>
                </c:pt>
                <c:pt idx="1">
                  <c:v>7</c:v>
                </c:pt>
                <c:pt idx="2">
                  <c:v>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89A3-4C21-8171-65E64583962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26"/>
        <c:overlap val="-58"/>
        <c:axId val="1423374767"/>
        <c:axId val="439216623"/>
      </c:barChart>
      <c:valAx>
        <c:axId val="439216623"/>
        <c:scaling>
          <c:orientation val="minMax"/>
          <c:max val="10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 algn="ctr">
              <a:defRPr lang="en-US" sz="1200" b="0" i="0" u="none" strike="noStrike" kern="1200" spc="132" baseline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</a:defRPr>
            </a:pPr>
            <a:endParaRPr lang="pt-BR"/>
          </a:p>
        </c:txPr>
        <c:crossAx val="1423374767"/>
        <c:crosses val="autoZero"/>
        <c:crossBetween val="between"/>
      </c:valAx>
      <c:catAx>
        <c:axId val="1423374767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19050" cap="flat" cmpd="sng" algn="ctr">
            <a:solidFill>
              <a:schemeClr val="tx1">
                <a:lumMod val="15000"/>
                <a:lumOff val="85000"/>
              </a:schemeClr>
            </a:solidFill>
            <a:round/>
            <a:headEnd type="none" w="sm" len="sm"/>
            <a:tailEnd type="none" w="sm" len="sm"/>
          </a:ln>
          <a:effectLst/>
        </c:spPr>
        <c:txPr>
          <a:bodyPr rot="-60000000" spcFirstLastPara="1" vertOverflow="ellipsis" vert="horz" wrap="square" anchor="ctr" anchorCtr="1"/>
          <a:lstStyle/>
          <a:p>
            <a:pPr algn="ctr">
              <a:defRPr lang="en-US" sz="1200" b="0" i="0" u="none" strike="noStrike" kern="1200" spc="132" baseline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</a:defRPr>
            </a:pPr>
            <a:endParaRPr lang="pt-BR"/>
          </a:p>
        </c:txPr>
        <c:crossAx val="439216623"/>
        <c:crosses val="autoZero"/>
        <c:auto val="1"/>
        <c:lblAlgn val="ctr"/>
        <c:lblOffset val="100"/>
        <c:noMultiLvlLbl val="0"/>
      </c:cat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pt-BR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lang="en-US" sz="1440" b="0" i="0" u="none" strike="noStrike" kern="1200" cap="all" spc="132" baseline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</a:defRPr>
            </a:pPr>
            <a:r>
              <a:rPr lang="pt-BR" dirty="0"/>
              <a:t>Entregas</a:t>
            </a:r>
            <a:r>
              <a:rPr lang="pt-BR" baseline="0" dirty="0"/>
              <a:t> </a:t>
            </a:r>
            <a:r>
              <a:rPr lang="pt-BR" baseline="0"/>
              <a:t>por responsável</a:t>
            </a:r>
            <a:endParaRPr lang="pt-BR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lang="en-US" sz="1440" b="0" i="0" u="none" strike="noStrike" kern="1200" cap="all" spc="132" baseline="0">
              <a:solidFill>
                <a:srgbClr val="FFFFFF"/>
              </a:solidFill>
              <a:latin typeface="General Sans 2 Medium"/>
              <a:ea typeface="General Sans 2 Medium"/>
              <a:cs typeface="General Sans 2 Medium"/>
            </a:defRPr>
          </a:pPr>
          <a:endParaRPr lang="pt-BR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DADOS!$B$17</c:f>
              <c:strCache>
                <c:ptCount val="1"/>
                <c:pt idx="0">
                  <c:v>set/26</c:v>
                </c:pt>
              </c:strCache>
            </c:strRef>
          </c:tx>
          <c:spPr>
            <a:gradFill flip="none" rotWithShape="1">
              <a:gsLst>
                <a:gs pos="0">
                  <a:schemeClr val="accent1"/>
                </a:gs>
                <a:gs pos="75000">
                  <a:schemeClr val="accent1">
                    <a:lumMod val="60000"/>
                    <a:lumOff val="40000"/>
                  </a:schemeClr>
                </a:gs>
                <a:gs pos="51000">
                  <a:schemeClr val="accent1">
                    <a:alpha val="75000"/>
                  </a:schemeClr>
                </a:gs>
                <a:gs pos="100000">
                  <a:schemeClr val="accent1">
                    <a:lumMod val="20000"/>
                    <a:lumOff val="80000"/>
                    <a:alpha val="15000"/>
                  </a:schemeClr>
                </a:gs>
              </a:gsLst>
              <a:lin ang="10800000" scaled="1"/>
              <a:tileRect/>
            </a:gra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lang="en-US" sz="1200" b="0" i="0" u="none" strike="noStrike" kern="1200" spc="132" baseline="0">
                    <a:solidFill>
                      <a:srgbClr val="FFFFFF"/>
                    </a:solidFill>
                    <a:latin typeface="General Sans 2 Medium"/>
                    <a:ea typeface="General Sans 2 Medium"/>
                    <a:cs typeface="General Sans 2 Medium"/>
                  </a:defRPr>
                </a:pPr>
                <a:endParaRPr lang="pt-BR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DADOS!$A$18:$A$19</c:f>
              <c:strCache>
                <c:ptCount val="2"/>
                <c:pt idx="0">
                  <c:v>Ewerton Bezerra</c:v>
                </c:pt>
                <c:pt idx="1">
                  <c:v>Regis Ropke</c:v>
                </c:pt>
              </c:strCache>
            </c:strRef>
          </c:cat>
          <c:val>
            <c:numRef>
              <c:f>DADOS!$B$18:$B$19</c:f>
              <c:numCache>
                <c:formatCode>General</c:formatCode>
                <c:ptCount val="2"/>
                <c:pt idx="0">
                  <c:v>6</c:v>
                </c:pt>
                <c:pt idx="1">
                  <c:v>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0F5-48D7-958B-05538F1CD6A9}"/>
            </c:ext>
          </c:extLst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326"/>
        <c:axId val="1817787152"/>
        <c:axId val="530910799"/>
      </c:barChart>
      <c:catAx>
        <c:axId val="181778715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19050" cap="flat" cmpd="sng" algn="ctr">
            <a:solidFill>
              <a:schemeClr val="tx2">
                <a:lumMod val="90000"/>
                <a:lumOff val="10000"/>
              </a:schemeClr>
            </a:solidFill>
            <a:round/>
            <a:headEnd type="none" w="sm" len="sm"/>
            <a:tailEnd type="none" w="sm" len="sm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1200" b="0" i="0" u="none" strike="noStrike" kern="1200" spc="132" baseline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</a:defRPr>
            </a:pPr>
            <a:endParaRPr lang="pt-BR"/>
          </a:p>
        </c:txPr>
        <c:crossAx val="530910799"/>
        <c:crosses val="autoZero"/>
        <c:auto val="1"/>
        <c:lblAlgn val="ctr"/>
        <c:lblOffset val="100"/>
        <c:noMultiLvlLbl val="0"/>
      </c:catAx>
      <c:valAx>
        <c:axId val="530910799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1200" b="0" i="0" u="none" strike="noStrike" kern="1200" spc="132" baseline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</a:defRPr>
            </a:pPr>
            <a:endParaRPr lang="pt-BR"/>
          </a:p>
        </c:txPr>
        <c:crossAx val="1817787152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 algn="ctr">
        <a:defRPr lang="en-US" sz="1200" b="0" i="0" u="none" strike="noStrike" kern="1200" spc="132" baseline="0">
          <a:solidFill>
            <a:srgbClr val="FFFFFF"/>
          </a:solidFill>
          <a:latin typeface="General Sans 2 Medium"/>
          <a:ea typeface="General Sans 2 Medium"/>
          <a:cs typeface="General Sans 2 Medium"/>
        </a:defRPr>
      </a:pPr>
      <a:endParaRPr lang="pt-BR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 algn="ctr" rtl="0">
              <a:defRPr lang="en-US" sz="1440" b="0" i="0" u="none" strike="noStrike" kern="1200" cap="all" spc="132" baseline="0" dirty="0" smtClean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</a:defRPr>
            </a:pPr>
            <a:r>
              <a:rPr lang="en-US" sz="1440" b="0" i="0" u="none" strike="noStrike" kern="1200" cap="all" spc="132" baseline="0" dirty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</a:rPr>
              <a:t>HISTÓRICO DE ENTREGAS</a:t>
            </a:r>
          </a:p>
          <a:p>
            <a:pPr algn="ctr" rtl="0">
              <a:defRPr sz="1440" cap="all" spc="132" dirty="0" smtClean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</a:defRPr>
            </a:pPr>
            <a:r>
              <a:rPr lang="en-US" sz="900" b="0" i="0" u="none" strike="noStrike" kern="1200" cap="all" spc="132" baseline="0" dirty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</a:rPr>
              <a:t>ÚLTIMOS MESES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 algn="ctr" rtl="0">
            <a:defRPr lang="en-US" sz="1440" b="0" i="0" u="none" strike="noStrike" kern="1200" cap="all" spc="132" baseline="0" dirty="0" smtClean="0">
              <a:solidFill>
                <a:srgbClr val="FFFFFF"/>
              </a:solidFill>
              <a:latin typeface="General Sans 2 Medium"/>
              <a:ea typeface="General Sans 2 Medium"/>
              <a:cs typeface="General Sans 2 Medium"/>
            </a:defRPr>
          </a:pPr>
          <a:endParaRPr lang="pt-BR"/>
        </a:p>
      </c:txPr>
    </c:title>
    <c:autoTitleDeleted val="0"/>
    <c:plotArea>
      <c:layout/>
      <c:areaChart>
        <c:grouping val="stacked"/>
        <c:varyColors val="0"/>
        <c:ser>
          <c:idx val="0"/>
          <c:order val="0"/>
          <c:tx>
            <c:strRef>
              <c:f>DADOS!$B$70</c:f>
              <c:strCache>
                <c:ptCount val="1"/>
                <c:pt idx="0">
                  <c:v>Entregas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t" anchorCtr="1">
                <a:spAutoFit/>
              </a:bodyPr>
              <a:lstStyle/>
              <a:p>
                <a:pPr>
                  <a:defRPr lang="en-US" sz="1197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pt-BR"/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DADOS!$A$71:$A$73</c:f>
              <c:numCache>
                <c:formatCode>mmm\-yy</c:formatCode>
                <c:ptCount val="3"/>
                <c:pt idx="0">
                  <c:v>46204</c:v>
                </c:pt>
                <c:pt idx="1">
                  <c:v>46235</c:v>
                </c:pt>
                <c:pt idx="2">
                  <c:v>46266</c:v>
                </c:pt>
              </c:numCache>
            </c:numRef>
          </c:cat>
          <c:val>
            <c:numRef>
              <c:f>DADOS!$B$71:$B$73</c:f>
              <c:numCache>
                <c:formatCode>General</c:formatCode>
                <c:ptCount val="3"/>
                <c:pt idx="0">
                  <c:v>11</c:v>
                </c:pt>
                <c:pt idx="1">
                  <c:v>18</c:v>
                </c:pt>
                <c:pt idx="2">
                  <c:v>12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430-4F20-B0FA-85370CAB3D67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axId val="20578432"/>
        <c:axId val="1618745072"/>
      </c:areaChart>
      <c:dateAx>
        <c:axId val="20578432"/>
        <c:scaling>
          <c:orientation val="minMax"/>
        </c:scaling>
        <c:delete val="0"/>
        <c:axPos val="b"/>
        <c:numFmt formatCode="mmm\-yy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1197" b="0" i="0" u="none" strike="noStrike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endParaRPr lang="pt-BR"/>
          </a:p>
        </c:txPr>
        <c:crossAx val="1618745072"/>
        <c:crosses val="autoZero"/>
        <c:auto val="1"/>
        <c:lblOffset val="100"/>
        <c:baseTimeUnit val="months"/>
      </c:dateAx>
      <c:valAx>
        <c:axId val="161874507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1197" b="0" i="0" u="none" strike="noStrike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endParaRPr lang="pt-BR"/>
          </a:p>
        </c:txPr>
        <c:crossAx val="20578432"/>
        <c:crosses val="autoZero"/>
        <c:crossBetween val="midCat"/>
        <c:majorUnit val="1"/>
      </c:valAx>
      <c:spPr>
        <a:noFill/>
        <a:ln>
          <a:noFill/>
        </a:ln>
        <a:effectLst/>
      </c:spPr>
    </c:plotArea>
    <c:plotVisOnly val="1"/>
    <c:dispBlanksAs val="zero"/>
    <c:showDLblsOverMax val="0"/>
  </c:chart>
  <c:spPr>
    <a:noFill/>
    <a:ln>
      <a:noFill/>
    </a:ln>
    <a:effectLst/>
  </c:spPr>
  <c:txPr>
    <a:bodyPr/>
    <a:lstStyle/>
    <a:p>
      <a:pPr>
        <a:defRPr lang="en-US" sz="1197" b="0" i="0" u="none" strike="noStrike" kern="1200" baseline="0">
          <a:solidFill>
            <a:schemeClr val="bg1"/>
          </a:solidFill>
          <a:latin typeface="+mn-lt"/>
          <a:ea typeface="+mn-ea"/>
          <a:cs typeface="+mn-cs"/>
        </a:defRPr>
      </a:pPr>
      <a:endParaRPr lang="pt-BR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23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197" kern="1200" cap="all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19050" cap="flat" cmpd="sng" algn="ctr">
        <a:solidFill>
          <a:schemeClr val="tx1">
            <a:lumMod val="15000"/>
            <a:lumOff val="85000"/>
          </a:schemeClr>
        </a:solidFill>
        <a:round/>
        <a:headEnd type="none" w="sm" len="sm"/>
        <a:tailEnd type="none" w="sm" len="sm"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dk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bg1"/>
    </cs:fontRef>
    <cs:spPr>
      <a:solidFill>
        <a:schemeClr val="tx1">
          <a:lumMod val="50000"/>
          <a:lumOff val="50000"/>
        </a:schemeClr>
      </a:solidFill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dk1"/>
    </cs:fontRef>
    <cs:spPr>
      <a:gradFill flip="none" rotWithShape="1">
        <a:gsLst>
          <a:gs pos="0">
            <a:schemeClr val="phClr"/>
          </a:gs>
          <a:gs pos="75000">
            <a:schemeClr val="phClr">
              <a:lumMod val="60000"/>
              <a:lumOff val="40000"/>
            </a:schemeClr>
          </a:gs>
          <a:gs pos="51000">
            <a:schemeClr val="phClr">
              <a:alpha val="75000"/>
            </a:schemeClr>
          </a:gs>
          <a:gs pos="100000">
            <a:schemeClr val="phClr">
              <a:lumMod val="20000"/>
              <a:lumOff val="80000"/>
              <a:alpha val="15000"/>
            </a:schemeClr>
          </a:gs>
        </a:gsLst>
        <a:lin ang="10800000" scaled="1"/>
        <a:tileRect/>
      </a:gradFill>
    </cs:spPr>
  </cs:dataPoint>
  <cs:dataPoint3D>
    <cs:lnRef idx="0"/>
    <cs:fillRef idx="0">
      <cs:styleClr val="auto"/>
    </cs:fillRef>
    <cs:effectRef idx="0"/>
    <cs:fontRef idx="minor">
      <a:schemeClr val="dk1"/>
    </cs:fontRef>
    <cs:spPr>
      <a:gradFill flip="none" rotWithShape="1">
        <a:gsLst>
          <a:gs pos="0">
            <a:schemeClr val="phClr"/>
          </a:gs>
          <a:gs pos="75000">
            <a:schemeClr val="phClr">
              <a:lumMod val="60000"/>
              <a:lumOff val="40000"/>
            </a:schemeClr>
          </a:gs>
          <a:gs pos="51000">
            <a:schemeClr val="phClr">
              <a:alpha val="75000"/>
            </a:schemeClr>
          </a:gs>
          <a:gs pos="100000">
            <a:schemeClr val="phClr">
              <a:lumMod val="20000"/>
              <a:lumOff val="80000"/>
              <a:alpha val="15000"/>
            </a:schemeClr>
          </a:gs>
        </a:gsLst>
        <a:lin ang="10800000" scaled="1"/>
        <a:tileRect/>
      </a:gradFill>
    </cs:spPr>
  </cs:dataPoint3D>
  <cs:dataPointLine>
    <cs:lnRef idx="0">
      <cs:styleClr val="auto"/>
    </cs:lnRef>
    <cs:fillRef idx="0"/>
    <cs:effectRef idx="0"/>
    <cs:fontRef idx="minor">
      <a:schemeClr val="dk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0">
      <cs:styleClr val="auto"/>
    </cs:fillRef>
    <cs:effectRef idx="0"/>
    <cs:fontRef idx="minor">
      <a:schemeClr val="dk1"/>
    </cs:fontRef>
    <cs:spPr>
      <a:gradFill>
        <a:gsLst>
          <a:gs pos="0">
            <a:schemeClr val="phClr"/>
          </a:gs>
          <a:gs pos="46000">
            <a:schemeClr val="phClr"/>
          </a:gs>
          <a:gs pos="100000">
            <a:schemeClr val="phClr">
              <a:lumMod val="20000"/>
              <a:lumOff val="80000"/>
              <a:alpha val="0"/>
            </a:schemeClr>
          </a:gs>
        </a:gsLst>
        <a:path path="circle">
          <a:fillToRect l="50000" t="-80000" r="50000" b="180000"/>
        </a:path>
      </a:gradFill>
      <a:ln w="9525" cap="flat" cmpd="sng" algn="ctr">
        <a:solidFill>
          <a:schemeClr val="phClr">
            <a:shade val="95000"/>
          </a:schemeClr>
        </a:solidFill>
        <a:round/>
      </a:ln>
    </cs:spPr>
  </cs:dataPointMarker>
  <cs:dataPointMarkerLayout symbol="circle" size="6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75000"/>
          <a:lumOff val="2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dropLine>
  <cs:errorBar>
    <cs:lnRef idx="0"/>
    <cs:fillRef idx="0"/>
    <cs:effectRef idx="0"/>
    <cs:fontRef idx="minor">
      <a:schemeClr val="dk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dk1"/>
    </cs:fontRef>
  </cs:floor>
  <cs:gridlineMajor>
    <cs:lnRef idx="0"/>
    <cs:fillRef idx="0"/>
    <cs:effectRef idx="0"/>
    <cs:fontRef idx="minor">
      <a:schemeClr val="dk1"/>
    </cs:fontRef>
    <cs:spPr>
      <a:ln w="9525" cap="flat" cmpd="sng" algn="ctr">
        <a:gradFill>
          <a:gsLst>
            <a:gs pos="99000">
              <a:schemeClr val="tx1">
                <a:lumMod val="25000"/>
                <a:lumOff val="75000"/>
              </a:schemeClr>
            </a:gs>
            <a:gs pos="0">
              <a:schemeClr val="tx1">
                <a:lumMod val="15000"/>
                <a:lumOff val="85000"/>
              </a:schemeClr>
            </a:gs>
          </a:gsLst>
          <a:lin ang="5400000" scaled="0"/>
        </a:gradFill>
        <a:round/>
      </a:ln>
    </cs:spPr>
  </cs:gridlineMajor>
  <cs:gridlineMinor>
    <cs:lnRef idx="0"/>
    <cs:fillRef idx="0"/>
    <cs:effectRef idx="0"/>
    <cs:fontRef idx="minor">
      <a:schemeClr val="dk1"/>
    </cs:fontRef>
    <cs:spPr>
      <a:ln w="9525" cap="flat" cmpd="sng" algn="ctr">
        <a:gradFill>
          <a:gsLst>
            <a:gs pos="100000">
              <a:schemeClr val="tx1">
                <a:lumMod val="15000"/>
                <a:lumOff val="85000"/>
              </a:schemeClr>
            </a:gs>
            <a:gs pos="0">
              <a:schemeClr val="tx1">
                <a:lumMod val="5000"/>
                <a:lumOff val="95000"/>
              </a:schemeClr>
            </a:gs>
          </a:gsLst>
          <a:lin ang="5400000" scaled="0"/>
        </a:gradFill>
        <a:round/>
      </a:ln>
    </cs:spPr>
  </cs:gridlineMinor>
  <cs:hiLo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50000"/>
            <a:lumOff val="50000"/>
          </a:schemeClr>
        </a:solidFill>
      </a:ln>
    </cs:spPr>
  </cs:hiLoLine>
  <cs:leader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dk1"/>
    </cs:fontRef>
  </cs:plotArea>
  <cs:plotArea3D mods="allowNoFillOverride allowNoLineOverride">
    <cs:lnRef idx="0"/>
    <cs:fillRef idx="0"/>
    <cs:effectRef idx="0"/>
    <cs:fontRef idx="minor">
      <a:schemeClr val="dk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  <a:headEnd type="none" w="sm" len="sm"/>
        <a:tailEnd type="none" w="sm" len="sm"/>
      </a:ln>
    </cs:spPr>
    <cs:defRPr sz="1197" kern="1200"/>
  </cs:seriesAxis>
  <cs:series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2200" b="1" kern="1200" cap="all" spc="50" baseline="0"/>
  </cs:title>
  <cs:trendlin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65000"/>
            <a:lumOff val="3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dk1"/>
    </cs:fontRef>
  </cs:wall>
</cs:chartStyle>
</file>

<file path=ppt/charts/style3.xml><?xml version="1.0" encoding="utf-8"?>
<cs:chartStyle xmlns:cs="http://schemas.microsoft.com/office/drawing/2012/chartStyle" xmlns:a="http://schemas.openxmlformats.org/drawingml/2006/main" id="223">
  <cs:axisTitle>
    <cs:lnRef idx="0"/>
    <cs:fillRef idx="0"/>
    <cs:effectRef idx="0"/>
    <cs:fontRef idx="minor">
      <a:schemeClr val="tx1">
        <a:lumMod val="65000"/>
        <a:lumOff val="35000"/>
      </a:schemeClr>
    </cs:fontRef>
    <cs:defRPr sz="900" kern="1200" cap="all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19050" cap="flat" cmpd="sng" algn="ctr">
        <a:solidFill>
          <a:schemeClr val="tx1">
            <a:lumMod val="15000"/>
            <a:lumOff val="85000"/>
          </a:schemeClr>
        </a:solidFill>
        <a:round/>
        <a:headEnd type="none" w="sm" len="sm"/>
        <a:tailEnd type="none" w="sm" len="sm"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dk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bg1"/>
    </cs:fontRef>
    <cs:spPr>
      <a:solidFill>
        <a:schemeClr val="tx1">
          <a:lumMod val="50000"/>
          <a:lumOff val="50000"/>
        </a:schemeClr>
      </a:solidFill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dk1"/>
    </cs:fontRef>
    <cs:spPr>
      <a:gradFill flip="none" rotWithShape="1">
        <a:gsLst>
          <a:gs pos="0">
            <a:schemeClr val="phClr"/>
          </a:gs>
          <a:gs pos="75000">
            <a:schemeClr val="phClr">
              <a:lumMod val="60000"/>
              <a:lumOff val="40000"/>
            </a:schemeClr>
          </a:gs>
          <a:gs pos="51000">
            <a:schemeClr val="phClr">
              <a:alpha val="75000"/>
            </a:schemeClr>
          </a:gs>
          <a:gs pos="100000">
            <a:schemeClr val="phClr">
              <a:lumMod val="20000"/>
              <a:lumOff val="80000"/>
              <a:alpha val="15000"/>
            </a:schemeClr>
          </a:gs>
        </a:gsLst>
        <a:lin ang="10800000" scaled="1"/>
        <a:tileRect/>
      </a:gradFill>
    </cs:spPr>
  </cs:dataPoint>
  <cs:dataPoint3D>
    <cs:lnRef idx="0"/>
    <cs:fillRef idx="0">
      <cs:styleClr val="auto"/>
    </cs:fillRef>
    <cs:effectRef idx="0"/>
    <cs:fontRef idx="minor">
      <a:schemeClr val="dk1"/>
    </cs:fontRef>
    <cs:spPr>
      <a:gradFill flip="none" rotWithShape="1">
        <a:gsLst>
          <a:gs pos="0">
            <a:schemeClr val="phClr"/>
          </a:gs>
          <a:gs pos="75000">
            <a:schemeClr val="phClr">
              <a:lumMod val="60000"/>
              <a:lumOff val="40000"/>
            </a:schemeClr>
          </a:gs>
          <a:gs pos="51000">
            <a:schemeClr val="phClr">
              <a:alpha val="75000"/>
            </a:schemeClr>
          </a:gs>
          <a:gs pos="100000">
            <a:schemeClr val="phClr">
              <a:lumMod val="20000"/>
              <a:lumOff val="80000"/>
              <a:alpha val="15000"/>
            </a:schemeClr>
          </a:gs>
        </a:gsLst>
        <a:lin ang="10800000" scaled="1"/>
        <a:tileRect/>
      </a:gradFill>
    </cs:spPr>
  </cs:dataPoint3D>
  <cs:dataPointLine>
    <cs:lnRef idx="0">
      <cs:styleClr val="auto"/>
    </cs:lnRef>
    <cs:fillRef idx="0"/>
    <cs:effectRef idx="0"/>
    <cs:fontRef idx="minor">
      <a:schemeClr val="dk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0">
      <cs:styleClr val="auto"/>
    </cs:fillRef>
    <cs:effectRef idx="0"/>
    <cs:fontRef idx="minor">
      <a:schemeClr val="dk1"/>
    </cs:fontRef>
    <cs:spPr>
      <a:gradFill>
        <a:gsLst>
          <a:gs pos="0">
            <a:schemeClr val="phClr"/>
          </a:gs>
          <a:gs pos="46000">
            <a:schemeClr val="phClr"/>
          </a:gs>
          <a:gs pos="100000">
            <a:schemeClr val="phClr">
              <a:lumMod val="20000"/>
              <a:lumOff val="80000"/>
              <a:alpha val="0"/>
            </a:schemeClr>
          </a:gs>
        </a:gsLst>
        <a:path path="circle">
          <a:fillToRect l="50000" t="-80000" r="50000" b="180000"/>
        </a:path>
      </a:gradFill>
      <a:ln w="9525" cap="flat" cmpd="sng" algn="ctr">
        <a:solidFill>
          <a:schemeClr val="phClr">
            <a:shade val="95000"/>
          </a:schemeClr>
        </a:solidFill>
        <a:round/>
      </a:ln>
    </cs:spPr>
  </cs:dataPointMarker>
  <cs:dataPointMarkerLayout symbol="circle" size="6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75000"/>
          <a:lumOff val="2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dropLine>
  <cs:errorBar>
    <cs:lnRef idx="0"/>
    <cs:fillRef idx="0"/>
    <cs:effectRef idx="0"/>
    <cs:fontRef idx="minor">
      <a:schemeClr val="dk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dk1"/>
    </cs:fontRef>
  </cs:floor>
  <cs:gridlineMajor>
    <cs:lnRef idx="0"/>
    <cs:fillRef idx="0"/>
    <cs:effectRef idx="0"/>
    <cs:fontRef idx="minor">
      <a:schemeClr val="dk1"/>
    </cs:fontRef>
    <cs:spPr>
      <a:ln w="9525" cap="flat" cmpd="sng" algn="ctr">
        <a:gradFill>
          <a:gsLst>
            <a:gs pos="99000">
              <a:schemeClr val="tx1">
                <a:lumMod val="25000"/>
                <a:lumOff val="75000"/>
              </a:schemeClr>
            </a:gs>
            <a:gs pos="0">
              <a:schemeClr val="tx1">
                <a:lumMod val="15000"/>
                <a:lumOff val="85000"/>
              </a:schemeClr>
            </a:gs>
          </a:gsLst>
          <a:lin ang="5400000" scaled="0"/>
        </a:gradFill>
        <a:round/>
      </a:ln>
    </cs:spPr>
  </cs:gridlineMajor>
  <cs:gridlineMinor>
    <cs:lnRef idx="0"/>
    <cs:fillRef idx="0"/>
    <cs:effectRef idx="0"/>
    <cs:fontRef idx="minor">
      <a:schemeClr val="dk1"/>
    </cs:fontRef>
    <cs:spPr>
      <a:ln w="9525" cap="flat" cmpd="sng" algn="ctr">
        <a:gradFill>
          <a:gsLst>
            <a:gs pos="100000">
              <a:schemeClr val="tx1">
                <a:lumMod val="15000"/>
                <a:lumOff val="85000"/>
              </a:schemeClr>
            </a:gs>
            <a:gs pos="0">
              <a:schemeClr val="tx1">
                <a:lumMod val="5000"/>
                <a:lumOff val="95000"/>
              </a:schemeClr>
            </a:gs>
          </a:gsLst>
          <a:lin ang="5400000" scaled="0"/>
        </a:gradFill>
        <a:round/>
      </a:ln>
    </cs:spPr>
  </cs:gridlineMinor>
  <cs:hiLo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50000"/>
            <a:lumOff val="50000"/>
          </a:schemeClr>
        </a:solidFill>
      </a:ln>
    </cs:spPr>
  </cs:hiLoLine>
  <cs:leader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dk1"/>
    </cs:fontRef>
  </cs:plotArea>
  <cs:plotArea3D mods="allowNoFillOverride allowNoLineOverride">
    <cs:lnRef idx="0"/>
    <cs:fillRef idx="0"/>
    <cs:effectRef idx="0"/>
    <cs:fontRef idx="minor">
      <a:schemeClr val="dk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  <a:headEnd type="none" w="sm" len="sm"/>
        <a:tailEnd type="none" w="sm" len="sm"/>
      </a:ln>
    </cs:spPr>
    <cs:defRPr sz="900" kern="1200"/>
  </cs:seriesAxis>
  <cs:series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00" b="1" kern="1200" cap="all" spc="50" baseline="0"/>
  </cs:title>
  <cs:trendlin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65000"/>
            <a:lumOff val="3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dk1"/>
    </cs:fontRef>
  </cs:wall>
</cs:chartStyle>
</file>

<file path=ppt/charts/style4.xml><?xml version="1.0" encoding="utf-8"?>
<cs:chartStyle xmlns:cs="http://schemas.microsoft.com/office/drawing/2012/chartStyle" xmlns:a="http://schemas.openxmlformats.org/drawingml/2006/main" id="27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9/24/2026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microsoft.com/office/2007/relationships/media" Target="../media/media1.mp4"/><Relationship Id="rId2" Type="http://schemas.openxmlformats.org/officeDocument/2006/relationships/video" Target="../media/media1.mp4"/><Relationship Id="rId3" Type="http://schemas.openxmlformats.org/officeDocument/2006/relationships/slideLayout" Target="../slideLayouts/slideLayout7.xml"/><Relationship Id="rId4" Type="http://schemas.openxmlformats.org/officeDocument/2006/relationships/image" Target="../media/image1.jpeg"/><Relationship Id="rId5" Type="http://schemas.openxmlformats.org/officeDocument/2006/relationships/image" Target="../media/image2.png"/><Relationship Id="rId6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eg"/><Relationship Id="rId3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eg"/><Relationship Id="rId3" Type="http://schemas.openxmlformats.org/officeDocument/2006/relationships/image" Target="../media/image7.png"/><Relationship Id="rId4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eg"/><Relationship Id="rId3" Type="http://schemas.openxmlformats.org/officeDocument/2006/relationships/image" Target="../media/image9.png"/><Relationship Id="rId4" Type="http://schemas.openxmlformats.org/officeDocument/2006/relationships/image" Target="../media/image10.svg"/><Relationship Id="rId5" Type="http://schemas.openxmlformats.org/officeDocument/2006/relationships/image" Target="../media/image11.svg"/><Relationship Id="rId6" Type="http://schemas.openxmlformats.org/officeDocument/2006/relationships/chart" Target="../charts/chart2.xml"/><Relationship Id="rId7" Type="http://schemas.openxmlformats.org/officeDocument/2006/relationships/chart" Target="../charts/chart3.xml"/><Relationship Id="rId8" Type="http://schemas.openxmlformats.org/officeDocument/2006/relationships/image" Target="../media/image12.svg"/><Relationship Id="rId9" Type="http://schemas.openxmlformats.org/officeDocument/2006/relationships/slide" Target="slide19.xml"/><Relationship Id="rId10" Type="http://schemas.openxmlformats.org/officeDocument/2006/relationships/image" Target="../media/image13.svg"/><Relationship Id="rId11" Type="http://schemas.openxmlformats.org/officeDocument/2006/relationships/chart" Target="../charts/chart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eg"/><Relationship Id="rId3" Type="http://schemas.openxmlformats.org/officeDocument/2006/relationships/image" Target="../media/image14.sv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eg"/><Relationship Id="rId3" Type="http://schemas.openxmlformats.org/officeDocument/2006/relationships/image" Target="../media/image14.sv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eg"/><Relationship Id="rId3" Type="http://schemas.openxmlformats.org/officeDocument/2006/relationships/image" Target="../media/image14.sv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eg"/><Relationship Id="rId3" Type="http://schemas.openxmlformats.org/officeDocument/2006/relationships/image" Target="../media/image14.sv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eg"/><Relationship Id="rId3" Type="http://schemas.openxmlformats.org/officeDocument/2006/relationships/image" Target="../media/image14.sv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eg"/><Relationship Id="rId3" Type="http://schemas.openxmlformats.org/officeDocument/2006/relationships/image" Target="../media/image14.sv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eg"/><Relationship Id="rId3" Type="http://schemas.openxmlformats.org/officeDocument/2006/relationships/image" Target="../media/image14.sv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eg"/><Relationship Id="rId3" Type="http://schemas.openxmlformats.org/officeDocument/2006/relationships/image" Target="../media/image14.sv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eg"/><Relationship Id="rId3" Type="http://schemas.openxmlformats.org/officeDocument/2006/relationships/image" Target="../media/image14.sv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eg"/><Relationship Id="rId3" Type="http://schemas.openxmlformats.org/officeDocument/2006/relationships/image" Target="../media/image15.svg"/><Relationship Id="rId4" Type="http://schemas.openxmlformats.org/officeDocument/2006/relationships/image" Target="../media/image16.svg"/><Relationship Id="rId5" Type="http://schemas.openxmlformats.org/officeDocument/2006/relationships/image" Target="../media/image17.sv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eg"/><Relationship Id="rId3" Type="http://schemas.openxmlformats.org/officeDocument/2006/relationships/image" Target="../media/image18.svg"/><Relationship Id="rId4" Type="http://schemas.openxmlformats.org/officeDocument/2006/relationships/image" Target="../media/image19.sv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eg"/><Relationship Id="rId3" Type="http://schemas.openxmlformats.org/officeDocument/2006/relationships/image" Target="../media/image7.png"/></Relationships>
</file>

<file path=ppt/slides/_rels/slide17.xml.rels><?xml version='1.0' encoding='UTF-8' standalone='yes'?>
<Relationships xmlns="http://schemas.openxmlformats.org/package/2006/relationships"><Relationship Id="rId1" Type="http://schemas.microsoft.com/office/2007/relationships/media" Target="../media/media1.mp4"/><Relationship Id="rId2" Type="http://schemas.openxmlformats.org/officeDocument/2006/relationships/video" Target="../media/media1.mp4"/><Relationship Id="rId3" Type="http://schemas.openxmlformats.org/officeDocument/2006/relationships/slideLayout" Target="../slideLayouts/slideLayout7.xml"/><Relationship Id="rId4" Type="http://schemas.openxmlformats.org/officeDocument/2006/relationships/image" Target="../media/image1.jpeg"/><Relationship Id="rId5" Type="http://schemas.openxmlformats.org/officeDocument/2006/relationships/image" Target="../media/image20.png"/><Relationship Id="rId6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microsoft.com/office/2007/relationships/media" Target="../media/media1.mp4"/><Relationship Id="rId2" Type="http://schemas.openxmlformats.org/officeDocument/2006/relationships/video" Target="../media/media1.mp4"/><Relationship Id="rId3" Type="http://schemas.openxmlformats.org/officeDocument/2006/relationships/slideLayout" Target="../slideLayouts/slideLayout7.xml"/><Relationship Id="rId4" Type="http://schemas.openxmlformats.org/officeDocument/2006/relationships/image" Target="../media/image1.jpeg"/><Relationship Id="rId5" Type="http://schemas.openxmlformats.org/officeDocument/2006/relationships/image" Target="../media/image20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eg"/><Relationship Id="rId3" Type="http://schemas.openxmlformats.org/officeDocument/2006/relationships/slide" Target="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rcRect/>
          <a:stretch>
            <a:fillRect/>
          </a:stretch>
        </p:blipFill>
        <p:spPr>
          <a:xfrm>
            <a:off x="0" y="-17633"/>
            <a:ext cx="18288000" cy="10287000"/>
          </a:xfrm>
          <a:prstGeom prst="rect">
            <a:avLst/>
          </a:prstGeom>
        </p:spPr>
      </p:pic>
      <p:sp>
        <p:nvSpPr>
          <p:cNvPr id="7" name="Freeform 7"/>
          <p:cNvSpPr/>
          <p:nvPr/>
        </p:nvSpPr>
        <p:spPr>
          <a:xfrm>
            <a:off x="13303567" y="8318345"/>
            <a:ext cx="1736950" cy="918630"/>
          </a:xfrm>
          <a:custGeom>
            <a:avLst/>
            <a:gdLst/>
            <a:ahLst/>
            <a:cxnLst/>
            <a:rect l="l" t="t" r="r" b="b"/>
            <a:pathLst>
              <a:path w="1736950" h="918630">
                <a:moveTo>
                  <a:pt x="0" y="0"/>
                </a:moveTo>
                <a:lnTo>
                  <a:pt x="1736949" y="0"/>
                </a:lnTo>
                <a:lnTo>
                  <a:pt x="1736949" y="918629"/>
                </a:lnTo>
                <a:lnTo>
                  <a:pt x="0" y="91862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8" name="TextBox 8"/>
          <p:cNvSpPr txBox="1"/>
          <p:nvPr/>
        </p:nvSpPr>
        <p:spPr>
          <a:xfrm>
            <a:off x="1028700" y="5908696"/>
            <a:ext cx="11182811" cy="19204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16054"/>
              </a:lnSpc>
            </a:pPr>
            <a:r>
              <a:rPr lang="en-US" sz="11450" b="1" spc="-584" dirty="0">
                <a:solidFill>
                  <a:srgbClr val="FFFFFF"/>
                </a:solidFill>
                <a:latin typeface="General Sans 1 Medium"/>
                <a:sym typeface="General Sans 1 Medium"/>
              </a:rPr>
              <a:t>Salon Line</a:t>
            </a:r>
            <a:endParaRPr lang="pt-BR" dirty="0"/>
          </a:p>
        </p:txBody>
      </p:sp>
      <p:sp>
        <p:nvSpPr>
          <p:cNvPr id="9" name="TextBox 9"/>
          <p:cNvSpPr txBox="1"/>
          <p:nvPr/>
        </p:nvSpPr>
        <p:spPr>
          <a:xfrm>
            <a:off x="15300188" y="8322147"/>
            <a:ext cx="2275673" cy="9361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64"/>
              </a:lnSpc>
            </a:pPr>
            <a:r>
              <a:rPr lang="en-US" sz="1759" b="1">
                <a:solidFill>
                  <a:srgbClr val="FFFFFF"/>
                </a:solidFill>
                <a:latin typeface="General Sans 1 Medium"/>
                <a:ea typeface="General Sans 1 Medium"/>
                <a:cs typeface="General Sans 1 Medium"/>
                <a:sym typeface="General Sans 1 Medium"/>
              </a:rPr>
              <a:t>Consultoria ​</a:t>
            </a:r>
          </a:p>
          <a:p>
            <a:pPr algn="l">
              <a:lnSpc>
                <a:spcPts val="1864"/>
              </a:lnSpc>
            </a:pPr>
            <a:r>
              <a:rPr lang="en-US" sz="1759" b="1">
                <a:solidFill>
                  <a:srgbClr val="FFFFFF"/>
                </a:solidFill>
                <a:latin typeface="General Sans 1 Medium"/>
                <a:ea typeface="General Sans 1 Medium"/>
                <a:cs typeface="General Sans 1 Medium"/>
                <a:sym typeface="General Sans 1 Medium"/>
              </a:rPr>
              <a:t>e desenvolvimento </a:t>
            </a:r>
          </a:p>
          <a:p>
            <a:pPr algn="l">
              <a:lnSpc>
                <a:spcPts val="1864"/>
              </a:lnSpc>
            </a:pPr>
            <a:r>
              <a:rPr lang="en-US" sz="1759" b="1">
                <a:solidFill>
                  <a:srgbClr val="FFFFFF"/>
                </a:solidFill>
                <a:latin typeface="General Sans 1 Medium"/>
                <a:ea typeface="General Sans 1 Medium"/>
                <a:cs typeface="General Sans 1 Medium"/>
                <a:sym typeface="General Sans 1 Medium"/>
              </a:rPr>
              <a:t>de software para seu </a:t>
            </a:r>
          </a:p>
          <a:p>
            <a:pPr algn="l">
              <a:lnSpc>
                <a:spcPts val="1864"/>
              </a:lnSpc>
            </a:pPr>
            <a:r>
              <a:rPr lang="en-US" sz="1759" b="1">
                <a:solidFill>
                  <a:srgbClr val="FFFFFF"/>
                </a:solidFill>
                <a:latin typeface="General Sans 1 Medium"/>
                <a:ea typeface="General Sans 1 Medium"/>
                <a:cs typeface="General Sans 1 Medium"/>
                <a:sym typeface="General Sans 1 Medium"/>
              </a:rPr>
              <a:t>sucesso digital.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028700" y="5690359"/>
            <a:ext cx="7505700" cy="40498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3422"/>
              </a:lnSpc>
            </a:pPr>
            <a:r>
              <a:rPr lang="en-US" sz="2400" b="1" dirty="0">
                <a:solidFill>
                  <a:srgbClr val="FFFFFF"/>
                </a:solidFill>
                <a:latin typeface="General Sans 1 Medium"/>
                <a:sym typeface="General Sans 1 Medium"/>
              </a:rPr>
              <a:t>Status Report Mensal – </a:t>
            </a:r>
            <a:r>
              <a:rPr lang="en-US" sz="2400" b="1" dirty="0" err="1">
                <a:solidFill>
                  <a:srgbClr val="FFFFFF"/>
                </a:solidFill>
                <a:latin typeface="General Sans 1 Medium"/>
                <a:sym typeface="General Sans 1 Medium"/>
              </a:rPr>
              <a:t>Sustentação</a:t>
            </a:r>
            <a:r>
              <a:rPr lang="en-US" sz="2400" b="1" dirty="0">
                <a:solidFill>
                  <a:srgbClr val="FFFFFF"/>
                </a:solidFill>
                <a:latin typeface="General Sans 1 Medium"/>
                <a:sym typeface="General Sans 1 Medium"/>
              </a:rPr>
              <a:t> E-commerce</a:t>
            </a:r>
            <a:endParaRPr lang="pt-BR" dirty="0"/>
          </a:p>
        </p:txBody>
      </p:sp>
      <p:sp>
        <p:nvSpPr>
          <p:cNvPr id="12" name="TextBox 12"/>
          <p:cNvSpPr txBox="1"/>
          <p:nvPr/>
        </p:nvSpPr>
        <p:spPr>
          <a:xfrm>
            <a:off x="1028700" y="7981093"/>
            <a:ext cx="8487516" cy="5239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403"/>
              </a:lnSpc>
            </a:pPr>
            <a:r>
              <a:rPr lang="en-US" sz="3100" dirty="0">
                <a:solidFill>
                  <a:srgbClr val="FFFFFF"/>
                </a:solidFill>
                <a:latin typeface="General Sans 1 Light"/>
                <a:sym typeface="General Sans 1 Light"/>
              </a:rPr>
              <a:t>Setembro/2026</a:t>
            </a:r>
            <a:endParaRPr lang="pt-BR" dirty="0"/>
          </a:p>
        </p:txBody>
      </p:sp>
      <p:pic>
        <p:nvPicPr>
          <p:cNvPr id="3" name="Imagem 2" descr="Minha Loja SalonLine">
            <a:extLst>
              <a:ext uri="{FF2B5EF4-FFF2-40B4-BE49-F238E27FC236}">
                <a16:creationId xmlns:a16="http://schemas.microsoft.com/office/drawing/2014/main" id="{0C23BAF6-4BAA-B286-2FBC-2D04EC63E13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278143" y="6761722"/>
            <a:ext cx="3943057" cy="1429777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0">
                <p:cTn id="2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79616" y="-3202125"/>
            <a:ext cx="28155366" cy="16459560"/>
          </a:xfrm>
          <a:custGeom>
            <a:avLst/>
            <a:gdLst/>
            <a:ahLst/>
            <a:cxnLst/>
            <a:rect l="l" t="t" r="r" b="b"/>
            <a:pathLst>
              <a:path w="28155366" h="16459560">
                <a:moveTo>
                  <a:pt x="0" y="0"/>
                </a:moveTo>
                <a:lnTo>
                  <a:pt x="28155366" y="0"/>
                </a:lnTo>
                <a:lnTo>
                  <a:pt x="28155366" y="16459559"/>
                </a:lnTo>
                <a:lnTo>
                  <a:pt x="0" y="1645955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1317" b="-1317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3" name="Freeform 3"/>
          <p:cNvSpPr/>
          <p:nvPr/>
        </p:nvSpPr>
        <p:spPr>
          <a:xfrm rot="-10800000">
            <a:off x="-5801" y="-1125"/>
            <a:ext cx="18293801" cy="6292691"/>
          </a:xfrm>
          <a:custGeom>
            <a:avLst/>
            <a:gdLst/>
            <a:ahLst/>
            <a:cxnLst/>
            <a:rect l="l" t="t" r="r" b="b"/>
            <a:pathLst>
              <a:path w="18293801" h="6292691">
                <a:moveTo>
                  <a:pt x="0" y="0"/>
                </a:moveTo>
                <a:lnTo>
                  <a:pt x="18293801" y="0"/>
                </a:lnTo>
                <a:lnTo>
                  <a:pt x="18293801" y="6292691"/>
                </a:lnTo>
                <a:lnTo>
                  <a:pt x="0" y="6292691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54000"/>
            </a:blip>
            <a:stretch>
              <a:fillRect t="-30745" b="-17792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4" name="Freeform 4"/>
          <p:cNvSpPr/>
          <p:nvPr/>
        </p:nvSpPr>
        <p:spPr>
          <a:xfrm>
            <a:off x="0" y="2959892"/>
            <a:ext cx="18293801" cy="7625751"/>
          </a:xfrm>
          <a:custGeom>
            <a:avLst/>
            <a:gdLst/>
            <a:ahLst/>
            <a:cxnLst/>
            <a:rect l="l" t="t" r="r" b="b"/>
            <a:pathLst>
              <a:path w="18293801" h="7625751">
                <a:moveTo>
                  <a:pt x="0" y="0"/>
                </a:moveTo>
                <a:lnTo>
                  <a:pt x="18293801" y="0"/>
                </a:lnTo>
                <a:lnTo>
                  <a:pt x="18293801" y="7625751"/>
                </a:lnTo>
                <a:lnTo>
                  <a:pt x="0" y="7625751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58000"/>
            </a:blip>
            <a:stretch>
              <a:fillRect t="-15244" b="-7326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5" name="TextBox 5"/>
          <p:cNvSpPr txBox="1"/>
          <p:nvPr/>
        </p:nvSpPr>
        <p:spPr>
          <a:xfrm>
            <a:off x="1185034" y="4687802"/>
            <a:ext cx="3569749" cy="11559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367"/>
              </a:lnSpc>
            </a:pPr>
            <a:endParaRPr dirty="0"/>
          </a:p>
          <a:p>
            <a:pPr algn="l">
              <a:lnSpc>
                <a:spcPts val="4367"/>
              </a:lnSpc>
            </a:pPr>
            <a:r>
              <a:rPr lang="en-US" sz="4043" b="1" spc="-202" dirty="0" err="1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Indicadores</a:t>
            </a:r>
            <a:endParaRPr lang="en-US" sz="4043" b="1" spc="-202" dirty="0">
              <a:solidFill>
                <a:srgbClr val="E2D8D0"/>
              </a:solidFill>
              <a:latin typeface="General Sans 1 Semi-Bold"/>
              <a:ea typeface="General Sans 1 Semi-Bold"/>
              <a:cs typeface="General Sans 1 Semi-Bold"/>
              <a:sym typeface="General Sans 1 Semi-Bold"/>
            </a:endParaRPr>
          </a:p>
        </p:txBody>
      </p:sp>
      <p:sp>
        <p:nvSpPr>
          <p:cNvPr id="6" name="TextBox 6"/>
          <p:cNvSpPr txBox="1"/>
          <p:nvPr/>
        </p:nvSpPr>
        <p:spPr>
          <a:xfrm>
            <a:off x="1028700" y="6113546"/>
            <a:ext cx="3823791" cy="12015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74079" lvl="1" indent="-187039" algn="l">
              <a:lnSpc>
                <a:spcPts val="2425"/>
              </a:lnSpc>
              <a:buFont typeface="Arial"/>
              <a:buChar char="•"/>
            </a:pPr>
            <a:r>
              <a:rPr lang="en-US" sz="1732" dirty="0" err="1">
                <a:solidFill>
                  <a:srgbClr val="FFFFFF"/>
                </a:solidFill>
                <a:latin typeface="General Sans 2 Light"/>
                <a:ea typeface="General Sans 2 Light"/>
                <a:cs typeface="General Sans 2 Light"/>
                <a:sym typeface="General Sans 2 Light"/>
              </a:rPr>
              <a:t>Indicador</a:t>
            </a:r>
            <a:r>
              <a:rPr lang="en-US" sz="1732" dirty="0">
                <a:solidFill>
                  <a:srgbClr val="FFFFFF"/>
                </a:solidFill>
                <a:latin typeface="General Sans 2 Light"/>
                <a:ea typeface="General Sans 2 Light"/>
                <a:cs typeface="General Sans 2 Light"/>
                <a:sym typeface="General Sans 2 Light"/>
              </a:rPr>
              <a:t> de </a:t>
            </a:r>
            <a:r>
              <a:rPr lang="en-US" sz="1732" dirty="0" err="1">
                <a:solidFill>
                  <a:srgbClr val="FFFFFF"/>
                </a:solidFill>
                <a:latin typeface="General Sans 2 Light"/>
                <a:ea typeface="General Sans 2 Light"/>
                <a:cs typeface="General Sans 2 Light"/>
                <a:sym typeface="General Sans 2 Light"/>
              </a:rPr>
              <a:t>Disponibilidade</a:t>
            </a:r>
            <a:endParaRPr lang="en-US" sz="1732" dirty="0">
              <a:solidFill>
                <a:srgbClr val="FFFFFF"/>
              </a:solidFill>
              <a:latin typeface="General Sans 2 Light"/>
              <a:ea typeface="General Sans 2 Light"/>
              <a:cs typeface="General Sans 2 Light"/>
              <a:sym typeface="General Sans 2 Light"/>
            </a:endParaRPr>
          </a:p>
          <a:p>
            <a:pPr marL="374079" lvl="1" indent="-187039" algn="l">
              <a:lnSpc>
                <a:spcPts val="2425"/>
              </a:lnSpc>
              <a:buFont typeface="Arial"/>
              <a:buChar char="•"/>
            </a:pPr>
            <a:r>
              <a:rPr lang="en-US" sz="1732" dirty="0" err="1">
                <a:solidFill>
                  <a:srgbClr val="FFFFFF"/>
                </a:solidFill>
                <a:latin typeface="General Sans 2 Light"/>
                <a:ea typeface="General Sans 2 Light"/>
                <a:cs typeface="General Sans 2 Light"/>
                <a:sym typeface="General Sans 2 Light"/>
              </a:rPr>
              <a:t>Indicadores</a:t>
            </a:r>
            <a:r>
              <a:rPr lang="en-US" sz="1732" dirty="0">
                <a:solidFill>
                  <a:srgbClr val="FFFFFF"/>
                </a:solidFill>
                <a:latin typeface="General Sans 2 Light"/>
                <a:ea typeface="General Sans 2 Light"/>
                <a:cs typeface="General Sans 2 Light"/>
                <a:sym typeface="General Sans 2 Light"/>
              </a:rPr>
              <a:t> – Squad OCC</a:t>
            </a:r>
          </a:p>
          <a:p>
            <a:pPr marL="374079" lvl="1" indent="-187039" algn="l">
              <a:lnSpc>
                <a:spcPts val="2425"/>
              </a:lnSpc>
              <a:buFont typeface="Arial"/>
              <a:buChar char="•"/>
            </a:pPr>
            <a:r>
              <a:rPr lang="en-US" sz="1732" dirty="0">
                <a:solidFill>
                  <a:srgbClr val="FFFFFF"/>
                </a:solidFill>
                <a:latin typeface="General Sans 2 Light"/>
                <a:ea typeface="General Sans 2 Light"/>
                <a:cs typeface="General Sans 2 Light"/>
                <a:sym typeface="General Sans 2 Light"/>
              </a:rPr>
              <a:t>Backlog </a:t>
            </a:r>
            <a:r>
              <a:rPr lang="en-US" sz="1732" dirty="0" err="1">
                <a:solidFill>
                  <a:srgbClr val="FFFFFF"/>
                </a:solidFill>
                <a:latin typeface="General Sans 2 Light"/>
                <a:ea typeface="General Sans 2 Light"/>
                <a:cs typeface="General Sans 2 Light"/>
                <a:sym typeface="General Sans 2 Light"/>
              </a:rPr>
              <a:t>Atual</a:t>
            </a:r>
            <a:endParaRPr lang="en-US" sz="1732" dirty="0">
              <a:solidFill>
                <a:srgbClr val="FFFFFF"/>
              </a:solidFill>
              <a:latin typeface="General Sans 2 Light"/>
              <a:ea typeface="General Sans 2 Light"/>
              <a:cs typeface="General Sans 2 Light"/>
              <a:sym typeface="General Sans 2 Light"/>
            </a:endParaRPr>
          </a:p>
          <a:p>
            <a:pPr algn="l">
              <a:lnSpc>
                <a:spcPts val="2425"/>
              </a:lnSpc>
            </a:pPr>
            <a:endParaRPr lang="en-US" sz="1732" dirty="0">
              <a:solidFill>
                <a:srgbClr val="FFFFFF"/>
              </a:solidFill>
              <a:latin typeface="General Sans 2 Light"/>
              <a:ea typeface="General Sans 2 Light"/>
              <a:cs typeface="General Sans 2 Light"/>
              <a:sym typeface="General Sans 2 Light"/>
            </a:endParaRPr>
          </a:p>
        </p:txBody>
      </p:sp>
      <p:sp>
        <p:nvSpPr>
          <p:cNvPr id="7" name="TextBox 7"/>
          <p:cNvSpPr txBox="1"/>
          <p:nvPr/>
        </p:nvSpPr>
        <p:spPr>
          <a:xfrm>
            <a:off x="5471314" y="5279510"/>
            <a:ext cx="3569749" cy="5642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367"/>
              </a:lnSpc>
            </a:pPr>
            <a:r>
              <a:rPr lang="en-US" sz="4043" b="1" spc="-202" dirty="0" err="1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Gestão</a:t>
            </a:r>
            <a:endParaRPr lang="en-US" sz="4043" b="1" spc="-202" dirty="0">
              <a:solidFill>
                <a:srgbClr val="E2D8D0"/>
              </a:solidFill>
              <a:latin typeface="General Sans 1 Semi-Bold"/>
              <a:ea typeface="General Sans 1 Semi-Bold"/>
              <a:cs typeface="General Sans 1 Semi-Bold"/>
              <a:sym typeface="General Sans 1 Semi-Bold"/>
            </a:endParaRPr>
          </a:p>
        </p:txBody>
      </p:sp>
      <p:sp>
        <p:nvSpPr>
          <p:cNvPr id="8" name="TextBox 8"/>
          <p:cNvSpPr txBox="1"/>
          <p:nvPr/>
        </p:nvSpPr>
        <p:spPr>
          <a:xfrm>
            <a:off x="10049567" y="4687802"/>
            <a:ext cx="4392605" cy="112851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367"/>
              </a:lnSpc>
            </a:pPr>
            <a:endParaRPr dirty="0"/>
          </a:p>
          <a:p>
            <a:pPr algn="l">
              <a:lnSpc>
                <a:spcPts val="4367"/>
              </a:lnSpc>
            </a:pPr>
            <a:r>
              <a:rPr lang="en-US" sz="4043" b="1" spc="-202" dirty="0" err="1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Resumo</a:t>
            </a:r>
            <a:r>
              <a:rPr lang="en-US" sz="4043" b="1" spc="-202" dirty="0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 </a:t>
            </a:r>
            <a:r>
              <a:rPr lang="en-US" sz="4043" b="1" spc="-202" dirty="0" err="1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Executivo</a:t>
            </a:r>
            <a:endParaRPr lang="en-US" sz="4043" b="1" spc="-202" dirty="0">
              <a:solidFill>
                <a:srgbClr val="E2D8D0"/>
              </a:solidFill>
              <a:latin typeface="General Sans 1 Semi-Bold"/>
              <a:ea typeface="General Sans 1 Semi-Bold"/>
              <a:cs typeface="General Sans 1 Semi-Bold"/>
              <a:sym typeface="General Sans 1 Semi-Bold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5344294" y="6113546"/>
            <a:ext cx="3823791" cy="9123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74079" lvl="1" indent="-187039" algn="l">
              <a:lnSpc>
                <a:spcPts val="2425"/>
              </a:lnSpc>
              <a:buFont typeface="Arial"/>
              <a:buChar char="•"/>
            </a:pPr>
            <a:r>
              <a:rPr lang="en-US" sz="1732" dirty="0" err="1">
                <a:solidFill>
                  <a:srgbClr val="FFFFFF"/>
                </a:solidFill>
                <a:latin typeface="General Sans 2 Light"/>
                <a:ea typeface="General Sans 2 Light"/>
                <a:cs typeface="General Sans 2 Light"/>
                <a:sym typeface="General Sans 2 Light"/>
              </a:rPr>
              <a:t>Acompanhamento</a:t>
            </a:r>
            <a:r>
              <a:rPr lang="en-US" sz="1732" dirty="0">
                <a:solidFill>
                  <a:srgbClr val="FFFFFF"/>
                </a:solidFill>
                <a:latin typeface="General Sans 2 Light"/>
                <a:ea typeface="General Sans 2 Light"/>
                <a:cs typeface="General Sans 2 Light"/>
                <a:sym typeface="General Sans 2 Light"/>
              </a:rPr>
              <a:t> de Deploys</a:t>
            </a:r>
          </a:p>
          <a:p>
            <a:pPr marL="374079" lvl="1" indent="-187039" algn="l">
              <a:lnSpc>
                <a:spcPts val="2425"/>
              </a:lnSpc>
              <a:buFont typeface="Arial"/>
              <a:buChar char="•"/>
            </a:pPr>
            <a:r>
              <a:rPr lang="en-US" sz="1732" dirty="0" err="1">
                <a:solidFill>
                  <a:srgbClr val="FFFFFF"/>
                </a:solidFill>
                <a:latin typeface="General Sans 2 Light"/>
                <a:ea typeface="General Sans 2 Light"/>
                <a:cs typeface="General Sans 2 Light"/>
                <a:sym typeface="General Sans 2 Light"/>
              </a:rPr>
              <a:t>Acompanhamento</a:t>
            </a:r>
            <a:r>
              <a:rPr lang="en-US" sz="1732" dirty="0">
                <a:solidFill>
                  <a:srgbClr val="FFFFFF"/>
                </a:solidFill>
                <a:latin typeface="General Sans 2 Light"/>
                <a:ea typeface="General Sans 2 Light"/>
                <a:cs typeface="General Sans 2 Light"/>
                <a:sym typeface="General Sans 2 Light"/>
              </a:rPr>
              <a:t> de SRs</a:t>
            </a:r>
          </a:p>
          <a:p>
            <a:pPr algn="l">
              <a:lnSpc>
                <a:spcPts val="2425"/>
              </a:lnSpc>
            </a:pPr>
            <a:endParaRPr lang="en-US" sz="1732" dirty="0">
              <a:solidFill>
                <a:srgbClr val="FFFFFF"/>
              </a:solidFill>
              <a:latin typeface="General Sans 2 Light"/>
              <a:ea typeface="General Sans 2 Light"/>
              <a:cs typeface="General Sans 2 Light"/>
              <a:sym typeface="General Sans 2 Light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9893233" y="6113546"/>
            <a:ext cx="3823791" cy="8937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74079" lvl="1" indent="-187040" algn="l">
              <a:lnSpc>
                <a:spcPts val="2425"/>
              </a:lnSpc>
              <a:buFont typeface="Arial"/>
              <a:buChar char="•"/>
            </a:pPr>
            <a:r>
              <a:rPr lang="en-US" sz="1732" dirty="0">
                <a:solidFill>
                  <a:srgbClr val="FFFFFF"/>
                </a:solidFill>
                <a:latin typeface="General Sans 2 Light"/>
                <a:ea typeface="General Sans 2 Light"/>
                <a:cs typeface="General Sans 2 Light"/>
                <a:sym typeface="General Sans 2 Light"/>
              </a:rPr>
              <a:t>Pontos de </a:t>
            </a:r>
            <a:r>
              <a:rPr lang="en-US" sz="1732" dirty="0" err="1">
                <a:solidFill>
                  <a:srgbClr val="FFFFFF"/>
                </a:solidFill>
                <a:latin typeface="General Sans 2 Light"/>
                <a:ea typeface="General Sans 2 Light"/>
                <a:cs typeface="General Sans 2 Light"/>
                <a:sym typeface="General Sans 2 Light"/>
              </a:rPr>
              <a:t>Atenção</a:t>
            </a:r>
            <a:endParaRPr lang="en-US" sz="1732" dirty="0">
              <a:solidFill>
                <a:srgbClr val="FFFFFF"/>
              </a:solidFill>
              <a:latin typeface="General Sans 2 Light"/>
              <a:ea typeface="General Sans 2 Light"/>
              <a:cs typeface="General Sans 2 Light"/>
              <a:sym typeface="General Sans 2 Light"/>
            </a:endParaRPr>
          </a:p>
          <a:p>
            <a:pPr marL="374079" lvl="1" indent="-187040" algn="l">
              <a:lnSpc>
                <a:spcPts val="2425"/>
              </a:lnSpc>
              <a:buFont typeface="Arial"/>
              <a:buChar char="•"/>
            </a:pPr>
            <a:r>
              <a:rPr lang="en-US" sz="1732" dirty="0">
                <a:solidFill>
                  <a:srgbClr val="FFFFFF"/>
                </a:solidFill>
                <a:latin typeface="General Sans 2 Light"/>
                <a:ea typeface="General Sans 2 Light"/>
                <a:cs typeface="General Sans 2 Light"/>
                <a:sym typeface="General Sans 2 Light"/>
              </a:rPr>
              <a:t>Pontos </a:t>
            </a:r>
            <a:r>
              <a:rPr lang="en-US" sz="1732" dirty="0" err="1">
                <a:solidFill>
                  <a:srgbClr val="FFFFFF"/>
                </a:solidFill>
                <a:latin typeface="General Sans 2 Light"/>
                <a:ea typeface="General Sans 2 Light"/>
                <a:cs typeface="General Sans 2 Light"/>
                <a:sym typeface="General Sans 2 Light"/>
              </a:rPr>
              <a:t>Positivos</a:t>
            </a:r>
            <a:endParaRPr lang="en-US" sz="1732" dirty="0">
              <a:solidFill>
                <a:srgbClr val="FFFFFF"/>
              </a:solidFill>
              <a:latin typeface="General Sans 2 Light"/>
              <a:ea typeface="General Sans 2 Light"/>
              <a:cs typeface="General Sans 2 Light"/>
              <a:sym typeface="General Sans 2 Light"/>
            </a:endParaRPr>
          </a:p>
          <a:p>
            <a:pPr marL="374079" lvl="1" indent="-187040" algn="l">
              <a:lnSpc>
                <a:spcPts val="2425"/>
              </a:lnSpc>
              <a:buFont typeface="Arial"/>
              <a:buChar char="•"/>
            </a:pPr>
            <a:r>
              <a:rPr lang="en-US" sz="1732" dirty="0" err="1">
                <a:solidFill>
                  <a:srgbClr val="FFFFFF"/>
                </a:solidFill>
                <a:latin typeface="General Sans 2 Light"/>
                <a:ea typeface="General Sans 2 Light"/>
                <a:cs typeface="General Sans 2 Light"/>
                <a:sym typeface="General Sans 2 Light"/>
              </a:rPr>
              <a:t>Próximas</a:t>
            </a:r>
            <a:r>
              <a:rPr lang="en-US" sz="1732" dirty="0">
                <a:solidFill>
                  <a:srgbClr val="FFFFFF"/>
                </a:solidFill>
                <a:latin typeface="General Sans 2 Light"/>
                <a:ea typeface="General Sans 2 Light"/>
                <a:cs typeface="General Sans 2 Light"/>
                <a:sym typeface="General Sans 2 Light"/>
              </a:rPr>
              <a:t> </a:t>
            </a:r>
            <a:r>
              <a:rPr lang="en-US" sz="1732" dirty="0" err="1">
                <a:solidFill>
                  <a:srgbClr val="FFFFFF"/>
                </a:solidFill>
                <a:latin typeface="General Sans 2 Light"/>
                <a:ea typeface="General Sans 2 Light"/>
                <a:cs typeface="General Sans 2 Light"/>
                <a:sym typeface="General Sans 2 Light"/>
              </a:rPr>
              <a:t>Ações</a:t>
            </a:r>
            <a:endParaRPr lang="en-US" sz="1732" dirty="0">
              <a:solidFill>
                <a:srgbClr val="FFFFFF"/>
              </a:solidFill>
              <a:latin typeface="General Sans 2 Light"/>
              <a:ea typeface="General Sans 2 Light"/>
              <a:cs typeface="General Sans 2 Light"/>
              <a:sym typeface="General Sans 2 Light"/>
            </a:endParaRPr>
          </a:p>
        </p:txBody>
      </p:sp>
      <p:sp>
        <p:nvSpPr>
          <p:cNvPr id="13" name="TextBox 13"/>
          <p:cNvSpPr txBox="1"/>
          <p:nvPr/>
        </p:nvSpPr>
        <p:spPr>
          <a:xfrm>
            <a:off x="1028700" y="1771656"/>
            <a:ext cx="4680245" cy="10387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066"/>
              </a:lnSpc>
            </a:pPr>
            <a:r>
              <a:rPr lang="en-US" sz="8963" b="1" spc="-448" dirty="0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Agenda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F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134" t="-1438" r="-15287" b="-36543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3" name="Freeform 3"/>
          <p:cNvSpPr/>
          <p:nvPr/>
        </p:nvSpPr>
        <p:spPr>
          <a:xfrm>
            <a:off x="-7055354" y="2813684"/>
            <a:ext cx="18288155" cy="14946631"/>
          </a:xfrm>
          <a:custGeom>
            <a:avLst/>
            <a:gdLst/>
            <a:ahLst/>
            <a:cxnLst/>
            <a:rect l="l" t="t" r="r" b="b"/>
            <a:pathLst>
              <a:path w="18288155" h="14946631">
                <a:moveTo>
                  <a:pt x="0" y="0"/>
                </a:moveTo>
                <a:lnTo>
                  <a:pt x="18288155" y="0"/>
                </a:lnTo>
                <a:lnTo>
                  <a:pt x="18288155" y="14946632"/>
                </a:lnTo>
                <a:lnTo>
                  <a:pt x="0" y="14946632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67000"/>
            </a:blip>
            <a:stretch>
              <a:fillRect t="-11874" b="-11874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4" name="Freeform 4"/>
          <p:cNvSpPr/>
          <p:nvPr/>
        </p:nvSpPr>
        <p:spPr>
          <a:xfrm>
            <a:off x="9143923" y="-3771900"/>
            <a:ext cx="18288155" cy="14946631"/>
          </a:xfrm>
          <a:custGeom>
            <a:avLst/>
            <a:gdLst/>
            <a:ahLst/>
            <a:cxnLst/>
            <a:rect l="l" t="t" r="r" b="b"/>
            <a:pathLst>
              <a:path w="18288155" h="14946631">
                <a:moveTo>
                  <a:pt x="0" y="0"/>
                </a:moveTo>
                <a:lnTo>
                  <a:pt x="18288154" y="0"/>
                </a:lnTo>
                <a:lnTo>
                  <a:pt x="18288154" y="14946631"/>
                </a:lnTo>
                <a:lnTo>
                  <a:pt x="0" y="14946631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67000"/>
            </a:blip>
            <a:stretch>
              <a:fillRect t="-11874" b="-11874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5" name="TextBox 5"/>
          <p:cNvSpPr txBox="1"/>
          <p:nvPr/>
        </p:nvSpPr>
        <p:spPr>
          <a:xfrm>
            <a:off x="1028699" y="4716663"/>
            <a:ext cx="7163767" cy="57708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473"/>
              </a:lnSpc>
            </a:pPr>
            <a:r>
              <a:rPr lang="en-US" sz="4142" spc="-207" dirty="0" err="1">
                <a:solidFill>
                  <a:srgbClr val="282525"/>
                </a:solidFill>
                <a:latin typeface="General Sans 1 Light"/>
                <a:ea typeface="General Sans 1 Light"/>
                <a:cs typeface="General Sans 1 Light"/>
                <a:sym typeface="General Sans 1 Light"/>
              </a:rPr>
              <a:t>Disponibilidade</a:t>
            </a:r>
            <a:r>
              <a:rPr lang="en-US" sz="4142" spc="-207" dirty="0">
                <a:solidFill>
                  <a:srgbClr val="282525"/>
                </a:solidFill>
                <a:latin typeface="General Sans 1 Light"/>
                <a:ea typeface="General Sans 1 Light"/>
                <a:cs typeface="General Sans 1 Light"/>
                <a:sym typeface="General Sans 1 Light"/>
              </a:rPr>
              <a:t> do E-commerce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028700" y="2368131"/>
            <a:ext cx="6810812" cy="194925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7605"/>
              </a:lnSpc>
            </a:pPr>
            <a:r>
              <a:rPr lang="en-US" sz="7042" b="1" spc="-352" dirty="0" err="1">
                <a:solidFill>
                  <a:srgbClr val="282525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Indicador</a:t>
            </a:r>
            <a:r>
              <a:rPr lang="en-US" sz="7042" b="1" spc="-352" dirty="0">
                <a:solidFill>
                  <a:srgbClr val="282525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 de </a:t>
            </a:r>
            <a:r>
              <a:rPr lang="en-US" sz="7042" b="1" spc="-352" dirty="0" err="1">
                <a:solidFill>
                  <a:srgbClr val="282525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Disponibilidade</a:t>
            </a:r>
            <a:endParaRPr lang="en-US" sz="7042" b="1" spc="-352" dirty="0">
              <a:solidFill>
                <a:srgbClr val="282525"/>
              </a:solidFill>
              <a:latin typeface="General Sans 1 Semi-Bold"/>
              <a:ea typeface="General Sans 1 Semi-Bold"/>
              <a:cs typeface="General Sans 1 Semi-Bold"/>
              <a:sym typeface="General Sans 1 Semi-Bold"/>
            </a:endParaRPr>
          </a:p>
        </p:txBody>
      </p:sp>
      <p:grpSp>
        <p:nvGrpSpPr>
          <p:cNvPr id="7" name="Group 7"/>
          <p:cNvGrpSpPr/>
          <p:nvPr/>
        </p:nvGrpSpPr>
        <p:grpSpPr>
          <a:xfrm>
            <a:off x="8780953" y="1482292"/>
            <a:ext cx="3756414" cy="3486270"/>
            <a:chOff x="0" y="0"/>
            <a:chExt cx="989344" cy="918195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989343" cy="918195"/>
            </a:xfrm>
            <a:custGeom>
              <a:avLst/>
              <a:gdLst/>
              <a:ahLst/>
              <a:cxnLst/>
              <a:rect l="l" t="t" r="r" b="b"/>
              <a:pathLst>
                <a:path w="989343" h="918195">
                  <a:moveTo>
                    <a:pt x="41220" y="0"/>
                  </a:moveTo>
                  <a:lnTo>
                    <a:pt x="948124" y="0"/>
                  </a:lnTo>
                  <a:cubicBezTo>
                    <a:pt x="970889" y="0"/>
                    <a:pt x="989343" y="18455"/>
                    <a:pt x="989343" y="41220"/>
                  </a:cubicBezTo>
                  <a:lnTo>
                    <a:pt x="989343" y="876975"/>
                  </a:lnTo>
                  <a:cubicBezTo>
                    <a:pt x="989343" y="887907"/>
                    <a:pt x="985001" y="898391"/>
                    <a:pt x="977270" y="906122"/>
                  </a:cubicBezTo>
                  <a:cubicBezTo>
                    <a:pt x="969540" y="913852"/>
                    <a:pt x="959056" y="918195"/>
                    <a:pt x="948124" y="918195"/>
                  </a:cubicBezTo>
                  <a:lnTo>
                    <a:pt x="41220" y="918195"/>
                  </a:lnTo>
                  <a:cubicBezTo>
                    <a:pt x="18455" y="918195"/>
                    <a:pt x="0" y="899740"/>
                    <a:pt x="0" y="876975"/>
                  </a:cubicBezTo>
                  <a:lnTo>
                    <a:pt x="0" y="41220"/>
                  </a:lnTo>
                  <a:cubicBezTo>
                    <a:pt x="0" y="18455"/>
                    <a:pt x="18455" y="0"/>
                    <a:pt x="4122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282525"/>
              </a:solidFill>
              <a:prstDash val="solid"/>
              <a:miter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-38100"/>
              <a:ext cx="989344" cy="95629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2690867" y="1482292"/>
            <a:ext cx="3748450" cy="3486270"/>
            <a:chOff x="0" y="0"/>
            <a:chExt cx="987246" cy="918195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987246" cy="918195"/>
            </a:xfrm>
            <a:custGeom>
              <a:avLst/>
              <a:gdLst/>
              <a:ahLst/>
              <a:cxnLst/>
              <a:rect l="l" t="t" r="r" b="b"/>
              <a:pathLst>
                <a:path w="987246" h="918195">
                  <a:moveTo>
                    <a:pt x="41307" y="0"/>
                  </a:moveTo>
                  <a:lnTo>
                    <a:pt x="945939" y="0"/>
                  </a:lnTo>
                  <a:cubicBezTo>
                    <a:pt x="968752" y="0"/>
                    <a:pt x="987246" y="18494"/>
                    <a:pt x="987246" y="41307"/>
                  </a:cubicBezTo>
                  <a:lnTo>
                    <a:pt x="987246" y="876887"/>
                  </a:lnTo>
                  <a:cubicBezTo>
                    <a:pt x="987246" y="899701"/>
                    <a:pt x="968752" y="918195"/>
                    <a:pt x="945939" y="918195"/>
                  </a:cubicBezTo>
                  <a:lnTo>
                    <a:pt x="41307" y="918195"/>
                  </a:lnTo>
                  <a:cubicBezTo>
                    <a:pt x="18494" y="918195"/>
                    <a:pt x="0" y="899701"/>
                    <a:pt x="0" y="876887"/>
                  </a:cubicBezTo>
                  <a:lnTo>
                    <a:pt x="0" y="41307"/>
                  </a:lnTo>
                  <a:cubicBezTo>
                    <a:pt x="0" y="18494"/>
                    <a:pt x="18494" y="0"/>
                    <a:pt x="41307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282525"/>
              </a:solidFill>
              <a:prstDash val="solid"/>
              <a:miter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38100"/>
              <a:ext cx="987246" cy="95629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6" name="TextBox 16"/>
          <p:cNvSpPr txBox="1"/>
          <p:nvPr/>
        </p:nvSpPr>
        <p:spPr>
          <a:xfrm>
            <a:off x="8780953" y="2083995"/>
            <a:ext cx="3756414" cy="15727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260"/>
              </a:lnSpc>
            </a:pPr>
            <a:r>
              <a:rPr lang="en-US" sz="10478" b="1" dirty="0">
                <a:solidFill>
                  <a:srgbClr val="282525">
                    <a:alpha val="87843"/>
                  </a:srgbClr>
                </a:solidFill>
                <a:latin typeface="Inter Heavy"/>
                <a:ea typeface="Inter Heavy"/>
                <a:cs typeface="Inter Heavy"/>
                <a:sym typeface="Inter Heavy"/>
              </a:rPr>
              <a:t>100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2690867" y="2083995"/>
            <a:ext cx="3756414" cy="15727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260"/>
              </a:lnSpc>
            </a:pPr>
            <a:r>
              <a:rPr lang="en-US" sz="10478" b="1" dirty="0">
                <a:solidFill>
                  <a:srgbClr val="282525">
                    <a:alpha val="87843"/>
                  </a:srgbClr>
                </a:solidFill>
                <a:latin typeface="Inter Heavy"/>
                <a:ea typeface="Inter Heavy"/>
                <a:cs typeface="Inter Heavy"/>
                <a:sym typeface="Inter Heavy"/>
              </a:rPr>
              <a:t>100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8772989" y="4003709"/>
            <a:ext cx="3764223" cy="64177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558"/>
              </a:lnSpc>
            </a:pPr>
            <a:r>
              <a:rPr lang="en-US" sz="2132" b="1" spc="117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% META DE DISPONIBILIDADE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2682888" y="4019987"/>
            <a:ext cx="3756414" cy="64177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558"/>
              </a:lnSpc>
            </a:pPr>
            <a:r>
              <a:rPr lang="en-US" sz="2132" b="1" spc="117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% DISPONIBILIDADE DO MÊS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1028700" y="5994028"/>
            <a:ext cx="6445585" cy="196887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644"/>
              </a:lnSpc>
            </a:pPr>
            <a:r>
              <a:rPr lang="pt-BR" sz="1889" dirty="0">
                <a:solidFill>
                  <a:srgbClr val="282525"/>
                </a:solidFill>
                <a:latin typeface="General Sans 2 Light"/>
                <a:ea typeface="General Sans 2 Light"/>
                <a:cs typeface="General Sans 2 Light"/>
                <a:sym typeface="General Sans 2 Light"/>
              </a:rPr>
              <a:t>O indicador de SLA demonstra o nível de disponibilidade do e-commerce, considerando o período em que a plataforma permaneceu acessível e operando normalmente para os usuários. Seu objetivo é acompanhar a estabilidade do ambiente e apoiar ações que garantam a continuidade da operação.</a:t>
            </a:r>
            <a:endParaRPr lang="en-US" sz="1889" dirty="0">
              <a:solidFill>
                <a:srgbClr val="282525"/>
              </a:solidFill>
              <a:latin typeface="General Sans 2 Light"/>
              <a:ea typeface="General Sans 2 Light"/>
              <a:cs typeface="General Sans 2 Light"/>
              <a:sym typeface="General Sans 2 Light"/>
            </a:endParaRPr>
          </a:p>
        </p:txBody>
      </p:sp>
      <p:grpSp>
        <p:nvGrpSpPr>
          <p:cNvPr id="29" name="Group 7">
            <a:extLst>
              <a:ext uri="{FF2B5EF4-FFF2-40B4-BE49-F238E27FC236}">
                <a16:creationId xmlns:a16="http://schemas.microsoft.com/office/drawing/2014/main" id="{6C7CD4BA-CB71-3C4C-1927-262031C309AF}"/>
              </a:ext>
            </a:extLst>
          </p:cNvPr>
          <p:cNvGrpSpPr/>
          <p:nvPr/>
        </p:nvGrpSpPr>
        <p:grpSpPr>
          <a:xfrm>
            <a:off x="8780949" y="5162484"/>
            <a:ext cx="7658368" cy="2619762"/>
            <a:chOff x="0" y="0"/>
            <a:chExt cx="989344" cy="918195"/>
          </a:xfrm>
        </p:grpSpPr>
        <p:sp>
          <p:nvSpPr>
            <p:cNvPr id="30" name="Freeform 8">
              <a:extLst>
                <a:ext uri="{FF2B5EF4-FFF2-40B4-BE49-F238E27FC236}">
                  <a16:creationId xmlns:a16="http://schemas.microsoft.com/office/drawing/2014/main" id="{36F7F69C-8111-57E4-789E-E045D6DB248B}"/>
                </a:ext>
              </a:extLst>
            </p:cNvPr>
            <p:cNvSpPr/>
            <p:nvPr/>
          </p:nvSpPr>
          <p:spPr>
            <a:xfrm>
              <a:off x="0" y="0"/>
              <a:ext cx="989343" cy="918195"/>
            </a:xfrm>
            <a:custGeom>
              <a:avLst/>
              <a:gdLst/>
              <a:ahLst/>
              <a:cxnLst/>
              <a:rect l="l" t="t" r="r" b="b"/>
              <a:pathLst>
                <a:path w="989343" h="918195">
                  <a:moveTo>
                    <a:pt x="41220" y="0"/>
                  </a:moveTo>
                  <a:lnTo>
                    <a:pt x="948124" y="0"/>
                  </a:lnTo>
                  <a:cubicBezTo>
                    <a:pt x="970889" y="0"/>
                    <a:pt x="989343" y="18455"/>
                    <a:pt x="989343" y="41220"/>
                  </a:cubicBezTo>
                  <a:lnTo>
                    <a:pt x="989343" y="876975"/>
                  </a:lnTo>
                  <a:cubicBezTo>
                    <a:pt x="989343" y="887907"/>
                    <a:pt x="985001" y="898391"/>
                    <a:pt x="977270" y="906122"/>
                  </a:cubicBezTo>
                  <a:cubicBezTo>
                    <a:pt x="969540" y="913852"/>
                    <a:pt x="959056" y="918195"/>
                    <a:pt x="948124" y="918195"/>
                  </a:cubicBezTo>
                  <a:lnTo>
                    <a:pt x="41220" y="918195"/>
                  </a:lnTo>
                  <a:cubicBezTo>
                    <a:pt x="18455" y="918195"/>
                    <a:pt x="0" y="899740"/>
                    <a:pt x="0" y="876975"/>
                  </a:cubicBezTo>
                  <a:lnTo>
                    <a:pt x="0" y="41220"/>
                  </a:lnTo>
                  <a:cubicBezTo>
                    <a:pt x="0" y="18455"/>
                    <a:pt x="18455" y="0"/>
                    <a:pt x="4122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282525"/>
              </a:solidFill>
              <a:prstDash val="solid"/>
              <a:miter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31" name="TextBox 9">
              <a:extLst>
                <a:ext uri="{FF2B5EF4-FFF2-40B4-BE49-F238E27FC236}">
                  <a16:creationId xmlns:a16="http://schemas.microsoft.com/office/drawing/2014/main" id="{B48463CB-5F22-4964-3829-01D201B6E2D9}"/>
                </a:ext>
              </a:extLst>
            </p:cNvPr>
            <p:cNvSpPr txBox="1"/>
            <p:nvPr/>
          </p:nvSpPr>
          <p:spPr>
            <a:xfrm>
              <a:off x="0" y="-38100"/>
              <a:ext cx="989344" cy="95629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33" name="CaixaDeTexto 32">
            <a:extLst>
              <a:ext uri="{FF2B5EF4-FFF2-40B4-BE49-F238E27FC236}">
                <a16:creationId xmlns:a16="http://schemas.microsoft.com/office/drawing/2014/main" id="{2E3D46DA-5338-6003-2CCD-BCE747D6214D}"/>
              </a:ext>
            </a:extLst>
          </p:cNvPr>
          <p:cNvSpPr txBox="1"/>
          <p:nvPr/>
        </p:nvSpPr>
        <p:spPr>
          <a:xfrm>
            <a:off x="8780941" y="7181213"/>
            <a:ext cx="7658361" cy="4006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558"/>
              </a:lnSpc>
            </a:pPr>
            <a:r>
              <a:rPr lang="en-US" sz="2132" b="1" spc="117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ÚLTIMOS MESES</a:t>
            </a:r>
          </a:p>
        </p:txBody>
      </p:sp>
      <p:graphicFrame>
        <p:nvGraphicFramePr>
          <p:cNvPr id="10" name="Gráfico 9">
            <a:extLst>
              <a:ext uri="{FF2B5EF4-FFF2-40B4-BE49-F238E27FC236}">
                <a16:creationId xmlns:a16="http://schemas.microsoft.com/office/drawing/2014/main" id="{E6473918-8D1F-0157-13E9-056F602CACB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368960207"/>
              </p:ext>
            </p:extLst>
          </p:nvPr>
        </p:nvGraphicFramePr>
        <p:xfrm>
          <a:off x="8772989" y="5191877"/>
          <a:ext cx="7658360" cy="163988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64864" cy="10273986"/>
          </a:xfrm>
          <a:custGeom>
            <a:avLst/>
            <a:gdLst/>
            <a:ahLst/>
            <a:cxnLst/>
            <a:rect l="l" t="t" r="r" b="b"/>
            <a:pathLst>
              <a:path w="18264864" h="10273986">
                <a:moveTo>
                  <a:pt x="0" y="0"/>
                </a:moveTo>
                <a:lnTo>
                  <a:pt x="18264864" y="0"/>
                </a:lnTo>
                <a:lnTo>
                  <a:pt x="18264864" y="10273986"/>
                </a:lnTo>
                <a:lnTo>
                  <a:pt x="0" y="1027398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3" name="Freeform 3"/>
          <p:cNvSpPr/>
          <p:nvPr/>
        </p:nvSpPr>
        <p:spPr>
          <a:xfrm>
            <a:off x="21582" y="0"/>
            <a:ext cx="18244837" cy="10673230"/>
          </a:xfrm>
          <a:custGeom>
            <a:avLst/>
            <a:gdLst/>
            <a:ahLst/>
            <a:cxnLst/>
            <a:rect l="l" t="t" r="r" b="b"/>
            <a:pathLst>
              <a:path w="18244837" h="10673230">
                <a:moveTo>
                  <a:pt x="0" y="0"/>
                </a:moveTo>
                <a:lnTo>
                  <a:pt x="18244836" y="0"/>
                </a:lnTo>
                <a:lnTo>
                  <a:pt x="18244836" y="10673230"/>
                </a:lnTo>
                <a:lnTo>
                  <a:pt x="0" y="1067323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59000"/>
            </a:blip>
            <a:stretch>
              <a:fillRect/>
            </a:stretch>
          </a:blipFill>
        </p:spPr>
        <p:txBody>
          <a:bodyPr/>
          <a:lstStyle/>
          <a:p>
            <a:endParaRPr lang="pt-BR" dirty="0"/>
          </a:p>
        </p:txBody>
      </p:sp>
      <p:sp>
        <p:nvSpPr>
          <p:cNvPr id="4" name="Freeform 4"/>
          <p:cNvSpPr/>
          <p:nvPr/>
        </p:nvSpPr>
        <p:spPr>
          <a:xfrm>
            <a:off x="10966261" y="564059"/>
            <a:ext cx="4911724" cy="4242501"/>
          </a:xfrm>
          <a:custGeom>
            <a:avLst/>
            <a:gdLst/>
            <a:ahLst/>
            <a:cxnLst/>
            <a:rect l="l" t="t" r="r" b="b"/>
            <a:pathLst>
              <a:path w="4911724" h="4242501">
                <a:moveTo>
                  <a:pt x="0" y="0"/>
                </a:moveTo>
                <a:lnTo>
                  <a:pt x="4911723" y="0"/>
                </a:lnTo>
                <a:lnTo>
                  <a:pt x="4911723" y="4242501"/>
                </a:lnTo>
                <a:lnTo>
                  <a:pt x="0" y="424250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25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6" name="TextBox 6"/>
          <p:cNvSpPr txBox="1"/>
          <p:nvPr/>
        </p:nvSpPr>
        <p:spPr>
          <a:xfrm>
            <a:off x="11831900" y="2064339"/>
            <a:ext cx="2611609" cy="8895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92"/>
              </a:lnSpc>
            </a:pPr>
            <a:r>
              <a:rPr lang="en-US" sz="5976" b="1" dirty="0">
                <a:solidFill>
                  <a:srgbClr val="FFFFFF">
                    <a:alpha val="87843"/>
                  </a:srgbClr>
                </a:solidFill>
                <a:latin typeface="Inter Heavy"/>
                <a:ea typeface="Inter Heavy"/>
                <a:cs typeface="Inter Heavy"/>
                <a:sym typeface="Inter Heavy"/>
              </a:rPr>
              <a:t>12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1340209" y="2971263"/>
            <a:ext cx="3594991" cy="538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>
            <a:defPPr>
              <a:defRPr lang="en-US"/>
            </a:defPPr>
            <a:lvl1pPr algn="ctr">
              <a:lnSpc>
                <a:spcPts val="2088"/>
              </a:lnSpc>
              <a:defRPr sz="2000" b="1" spc="132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</a:defRPr>
            </a:lvl1pPr>
          </a:lstStyle>
          <a:p>
            <a:r>
              <a:rPr lang="en-US" sz="1800" b="0" dirty="0" err="1">
                <a:sym typeface="General Sans 2 Medium"/>
              </a:rPr>
              <a:t>Ítens</a:t>
            </a:r>
            <a:r>
              <a:rPr lang="en-US" sz="1800" b="0" dirty="0">
                <a:sym typeface="General Sans 2 Medium"/>
              </a:rPr>
              <a:t> de </a:t>
            </a:r>
            <a:r>
              <a:rPr lang="en-US" sz="1800" b="0" dirty="0" err="1">
                <a:sym typeface="General Sans 2 Medium"/>
              </a:rPr>
              <a:t>Trabalho</a:t>
            </a:r>
            <a:r>
              <a:rPr lang="en-US" sz="1800" b="0" dirty="0">
                <a:sym typeface="General Sans 2 Medium"/>
              </a:rPr>
              <a:t> </a:t>
            </a:r>
          </a:p>
          <a:p>
            <a:r>
              <a:rPr lang="en-US" sz="1800" b="0" dirty="0" err="1">
                <a:sym typeface="General Sans 2 Medium"/>
              </a:rPr>
              <a:t>Entregues</a:t>
            </a:r>
            <a:endParaRPr lang="en-US" sz="1800" b="0" dirty="0">
              <a:sym typeface="General Sans 2 Medium"/>
            </a:endParaRPr>
          </a:p>
        </p:txBody>
      </p:sp>
      <p:sp>
        <p:nvSpPr>
          <p:cNvPr id="8" name="Freeform 8"/>
          <p:cNvSpPr/>
          <p:nvPr/>
        </p:nvSpPr>
        <p:spPr>
          <a:xfrm>
            <a:off x="9327697" y="1028700"/>
            <a:ext cx="738653" cy="820726"/>
          </a:xfrm>
          <a:custGeom>
            <a:avLst/>
            <a:gdLst/>
            <a:ahLst/>
            <a:cxnLst/>
            <a:rect l="l" t="t" r="r" b="b"/>
            <a:pathLst>
              <a:path w="738653" h="820726">
                <a:moveTo>
                  <a:pt x="0" y="0"/>
                </a:moveTo>
                <a:lnTo>
                  <a:pt x="738653" y="0"/>
                </a:lnTo>
                <a:lnTo>
                  <a:pt x="738653" y="820726"/>
                </a:lnTo>
                <a:lnTo>
                  <a:pt x="0" y="82072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9" name="TextBox 9"/>
          <p:cNvSpPr txBox="1"/>
          <p:nvPr/>
        </p:nvSpPr>
        <p:spPr>
          <a:xfrm>
            <a:off x="8391218" y="2064339"/>
            <a:ext cx="2611609" cy="8895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92"/>
              </a:lnSpc>
            </a:pPr>
            <a:r>
              <a:rPr lang="en-US" sz="5976" b="1" dirty="0">
                <a:solidFill>
                  <a:srgbClr val="FFFFFF">
                    <a:alpha val="87843"/>
                  </a:srgbClr>
                </a:solidFill>
                <a:latin typeface="Inter Heavy"/>
                <a:ea typeface="Inter Heavy"/>
                <a:cs typeface="Inter Heavy"/>
                <a:sym typeface="Inter Heavy"/>
              </a:rPr>
              <a:t>21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8040247" y="2971263"/>
            <a:ext cx="3313553" cy="2693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88"/>
              </a:lnSpc>
            </a:pPr>
            <a:r>
              <a:rPr lang="en-US" spc="132" dirty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Dias </a:t>
            </a:r>
            <a:r>
              <a:rPr lang="en-US" spc="132" dirty="0" err="1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Úteis</a:t>
            </a:r>
            <a:endParaRPr lang="en-US" spc="132" dirty="0">
              <a:solidFill>
                <a:srgbClr val="FFFFFF"/>
              </a:solidFill>
              <a:latin typeface="General Sans 2 Medium"/>
              <a:ea typeface="General Sans 2 Medium"/>
              <a:cs typeface="General Sans 2 Medium"/>
              <a:sym typeface="General Sans 2 Medium"/>
            </a:endParaRPr>
          </a:p>
        </p:txBody>
      </p:sp>
      <p:sp>
        <p:nvSpPr>
          <p:cNvPr id="12" name="TextBox 12"/>
          <p:cNvSpPr txBox="1"/>
          <p:nvPr/>
        </p:nvSpPr>
        <p:spPr>
          <a:xfrm>
            <a:off x="1028699" y="1221550"/>
            <a:ext cx="7693307" cy="127419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11228"/>
              </a:lnSpc>
            </a:pPr>
            <a:r>
              <a:rPr lang="en-US" sz="7200" b="1" spc="-519" dirty="0" err="1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Indicadores</a:t>
            </a:r>
            <a:r>
              <a:rPr lang="en-US" sz="5400" b="1" spc="-519" dirty="0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 </a:t>
            </a:r>
          </a:p>
        </p:txBody>
      </p:sp>
      <p:graphicFrame>
        <p:nvGraphicFramePr>
          <p:cNvPr id="16" name="Gráfico 15">
            <a:extLst>
              <a:ext uri="{FF2B5EF4-FFF2-40B4-BE49-F238E27FC236}">
                <a16:creationId xmlns:a16="http://schemas.microsoft.com/office/drawing/2014/main" id="{659AC373-228C-0E69-E193-BEA1C9092C4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385943201"/>
              </p:ext>
            </p:extLst>
          </p:nvPr>
        </p:nvGraphicFramePr>
        <p:xfrm>
          <a:off x="6622596" y="4661332"/>
          <a:ext cx="5410201" cy="416643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graphicFrame>
        <p:nvGraphicFramePr>
          <p:cNvPr id="33" name="Gráfico 32">
            <a:extLst>
              <a:ext uri="{FF2B5EF4-FFF2-40B4-BE49-F238E27FC236}">
                <a16:creationId xmlns:a16="http://schemas.microsoft.com/office/drawing/2014/main" id="{7C6BDD33-66AC-416C-AFE2-D010F3E39CED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757263785"/>
              </p:ext>
            </p:extLst>
          </p:nvPr>
        </p:nvGraphicFramePr>
        <p:xfrm>
          <a:off x="1523999" y="4710862"/>
          <a:ext cx="5410201" cy="416643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sp>
        <p:nvSpPr>
          <p:cNvPr id="35" name="TextBox 6">
            <a:extLst>
              <a:ext uri="{FF2B5EF4-FFF2-40B4-BE49-F238E27FC236}">
                <a16:creationId xmlns:a16="http://schemas.microsoft.com/office/drawing/2014/main" id="{A3DB876F-B92B-471B-C8FF-F3776B57F94E}"/>
              </a:ext>
            </a:extLst>
          </p:cNvPr>
          <p:cNvSpPr txBox="1"/>
          <p:nvPr/>
        </p:nvSpPr>
        <p:spPr>
          <a:xfrm>
            <a:off x="15049199" y="2064339"/>
            <a:ext cx="2611609" cy="8895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92"/>
              </a:lnSpc>
            </a:pPr>
            <a:r>
              <a:rPr lang="en-US" sz="5976" b="1" dirty="0">
                <a:solidFill>
                  <a:srgbClr val="FFFFFF">
                    <a:alpha val="87843"/>
                  </a:srgbClr>
                </a:solidFill>
                <a:latin typeface="Inter Heavy"/>
                <a:ea typeface="Inter Heavy"/>
                <a:cs typeface="Inter Heavy"/>
                <a:sym typeface="Inter Heavy"/>
              </a:rPr>
              <a:t>16</a:t>
            </a:r>
          </a:p>
        </p:txBody>
      </p:sp>
      <p:sp>
        <p:nvSpPr>
          <p:cNvPr id="37" name="TextBox 7">
            <a:extLst>
              <a:ext uri="{FF2B5EF4-FFF2-40B4-BE49-F238E27FC236}">
                <a16:creationId xmlns:a16="http://schemas.microsoft.com/office/drawing/2014/main" id="{735AF0BB-D692-1902-7731-94A86B2F6FB5}"/>
              </a:ext>
            </a:extLst>
          </p:cNvPr>
          <p:cNvSpPr txBox="1"/>
          <p:nvPr/>
        </p:nvSpPr>
        <p:spPr>
          <a:xfrm>
            <a:off x="14557508" y="2971263"/>
            <a:ext cx="3594991" cy="7734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>
            <a:defPPr>
              <a:defRPr lang="en-US"/>
            </a:defPPr>
            <a:lvl1pPr algn="ctr">
              <a:lnSpc>
                <a:spcPts val="2088"/>
              </a:lnSpc>
              <a:defRPr sz="2000" b="1" spc="132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</a:defRPr>
            </a:lvl1pPr>
          </a:lstStyle>
          <a:p>
            <a:r>
              <a:rPr lang="en-US" sz="1800" b="0" dirty="0" err="1">
                <a:sym typeface="General Sans 2 Medium"/>
              </a:rPr>
              <a:t>Ítens</a:t>
            </a:r>
            <a:r>
              <a:rPr lang="en-US" sz="1800" b="0" dirty="0">
                <a:sym typeface="General Sans 2 Medium"/>
              </a:rPr>
              <a:t> </a:t>
            </a:r>
            <a:r>
              <a:rPr lang="en-US" sz="1800" b="0" dirty="0" err="1">
                <a:sym typeface="General Sans 2 Medium"/>
              </a:rPr>
              <a:t>Detectados</a:t>
            </a:r>
            <a:r>
              <a:rPr lang="en-US" sz="1800" b="0" dirty="0">
                <a:sym typeface="General Sans 2 Medium"/>
              </a:rPr>
              <a:t> </a:t>
            </a:r>
            <a:r>
              <a:rPr lang="en-US" sz="1800" b="0" dirty="0" err="1">
                <a:sym typeface="General Sans 2 Medium"/>
              </a:rPr>
              <a:t>internamente</a:t>
            </a:r>
            <a:br>
              <a:rPr lang="en-US" dirty="0">
                <a:sym typeface="General Sans 2 Medium"/>
              </a:rPr>
            </a:br>
            <a:r>
              <a:rPr lang="en-US" sz="1100" b="0" dirty="0">
                <a:sym typeface="General Sans 2 Medium"/>
              </a:rPr>
              <a:t>(Bugs + </a:t>
            </a:r>
            <a:r>
              <a:rPr lang="en-US" sz="1100" b="0" dirty="0" err="1">
                <a:sym typeface="General Sans 2 Medium"/>
              </a:rPr>
              <a:t>Melhorias</a:t>
            </a:r>
            <a:r>
              <a:rPr lang="en-US" sz="1100" b="0" dirty="0">
                <a:sym typeface="General Sans 2 Medium"/>
              </a:rPr>
              <a:t>)</a:t>
            </a:r>
            <a:endParaRPr lang="en-US" b="0" dirty="0">
              <a:sym typeface="General Sans 2 Medium"/>
            </a:endParaRPr>
          </a:p>
        </p:txBody>
      </p:sp>
      <p:pic>
        <p:nvPicPr>
          <p:cNvPr id="45" name="Gráfico 44" descr="Na mosca com preenchimento sólido">
            <a:extLst>
              <a:ext uri="{FF2B5EF4-FFF2-40B4-BE49-F238E27FC236}">
                <a16:creationId xmlns:a16="http://schemas.microsoft.com/office/drawing/2014/main" id="{4EA97F2C-CF12-F607-700D-26423448004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5899567" y="981863"/>
            <a:ext cx="914400" cy="914400"/>
          </a:xfrm>
          <a:prstGeom prst="rect">
            <a:avLst/>
          </a:prstGeom>
        </p:spPr>
      </p:pic>
      <p:sp>
        <p:nvSpPr>
          <p:cNvPr id="46" name="CaixaDeTexto 45">
            <a:hlinkClick r:id="rId9" action="ppaction://hlinksldjump"/>
            <a:extLst>
              <a:ext uri="{FF2B5EF4-FFF2-40B4-BE49-F238E27FC236}">
                <a16:creationId xmlns:a16="http://schemas.microsoft.com/office/drawing/2014/main" id="{320BB0C1-4874-420C-DA6A-C597D5CD5A3A}"/>
              </a:ext>
            </a:extLst>
          </p:cNvPr>
          <p:cNvSpPr txBox="1"/>
          <p:nvPr/>
        </p:nvSpPr>
        <p:spPr>
          <a:xfrm>
            <a:off x="20027" y="9410700"/>
            <a:ext cx="182448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>
                <a:solidFill>
                  <a:srgbClr val="E2D8D0"/>
                </a:solidFill>
              </a:rPr>
              <a:t>Detalhes – Itens de Trabalho Entregues</a:t>
            </a:r>
          </a:p>
        </p:txBody>
      </p:sp>
      <p:pic>
        <p:nvPicPr>
          <p:cNvPr id="50" name="Gráfico 49" descr="Bandeira de corrida com preenchimento sólido">
            <a:extLst>
              <a:ext uri="{FF2B5EF4-FFF2-40B4-BE49-F238E27FC236}">
                <a16:creationId xmlns:a16="http://schemas.microsoft.com/office/drawing/2014/main" id="{1E301AD5-75D3-6EA6-5A83-0DD0588017A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2680504" y="1028700"/>
            <a:ext cx="914400" cy="914400"/>
          </a:xfrm>
          <a:prstGeom prst="rect">
            <a:avLst/>
          </a:prstGeom>
        </p:spPr>
      </p:pic>
      <p:sp>
        <p:nvSpPr>
          <p:cNvPr id="13" name="TextBox 5">
            <a:extLst>
              <a:ext uri="{FF2B5EF4-FFF2-40B4-BE49-F238E27FC236}">
                <a16:creationId xmlns:a16="http://schemas.microsoft.com/office/drawing/2014/main" id="{EA53B2FB-1272-6730-FFA1-BAA10F289E1A}"/>
              </a:ext>
            </a:extLst>
          </p:cNvPr>
          <p:cNvSpPr txBox="1"/>
          <p:nvPr/>
        </p:nvSpPr>
        <p:spPr>
          <a:xfrm>
            <a:off x="992003" y="2495745"/>
            <a:ext cx="7163767" cy="57708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473"/>
              </a:lnSpc>
            </a:pPr>
            <a:r>
              <a:rPr lang="en-US" sz="4142" spc="-207" dirty="0">
                <a:solidFill>
                  <a:schemeClr val="bg2"/>
                </a:solidFill>
                <a:latin typeface="General Sans 1 Light"/>
                <a:ea typeface="General Sans 1 Light"/>
                <a:cs typeface="General Sans 1 Light"/>
                <a:sym typeface="General Sans 1 Light"/>
              </a:rPr>
              <a:t>Squad OCC</a:t>
            </a:r>
          </a:p>
        </p:txBody>
      </p:sp>
      <p:graphicFrame>
        <p:nvGraphicFramePr>
          <p:cNvPr id="5" name="Gráfico 4">
            <a:extLst>
              <a:ext uri="{FF2B5EF4-FFF2-40B4-BE49-F238E27FC236}">
                <a16:creationId xmlns:a16="http://schemas.microsoft.com/office/drawing/2014/main" id="{CF9A7A19-D372-4B13-A072-85FFDA7F2AEB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266330781"/>
              </p:ext>
            </p:extLst>
          </p:nvPr>
        </p:nvGraphicFramePr>
        <p:xfrm>
          <a:off x="12164695" y="4710862"/>
          <a:ext cx="5410800" cy="4165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1"/>
          </a:graphicData>
        </a:graphic>
      </p:graphicFrame>
      <p:sp>
        <p:nvSpPr>
          <p:cNvPr id="51" name="TextBox 50"/>
          <p:cNvSpPr txBox="1"/>
          <p:nvPr/>
        </p:nvSpPr>
        <p:spPr>
          <a:xfrm>
            <a:off x="12620000" y="6480000"/>
            <a:ext cx="420000" cy="2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General Sans 2 Medium"/>
              </a:rPr>
              <a:t>11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4580000" y="5520000"/>
            <a:ext cx="420000" cy="2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General Sans 2 Medium"/>
              </a:rPr>
              <a:t>18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6680000" y="6360000"/>
            <a:ext cx="420000" cy="2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General Sans 2 Medium"/>
              </a:rPr>
              <a:t>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64864" cy="10273986"/>
          </a:xfrm>
          <a:custGeom>
            <a:avLst/>
            <a:gdLst/>
            <a:ahLst/>
            <a:cxnLst/>
            <a:rect l="l" t="t" r="r" b="b"/>
            <a:pathLst>
              <a:path w="18264864" h="10273986">
                <a:moveTo>
                  <a:pt x="0" y="0"/>
                </a:moveTo>
                <a:lnTo>
                  <a:pt x="18264864" y="0"/>
                </a:lnTo>
                <a:lnTo>
                  <a:pt x="18264864" y="10273986"/>
                </a:lnTo>
                <a:lnTo>
                  <a:pt x="0" y="1027398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44" name="TextBox 44"/>
          <p:cNvSpPr txBox="1"/>
          <p:nvPr/>
        </p:nvSpPr>
        <p:spPr>
          <a:xfrm>
            <a:off x="1028700" y="866557"/>
            <a:ext cx="15984931" cy="7437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5817"/>
              </a:lnSpc>
            </a:pPr>
            <a:r>
              <a:rPr lang="en-US" sz="6463" b="1" spc="-323" dirty="0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Backlog </a:t>
            </a:r>
            <a:r>
              <a:rPr lang="en-US" sz="6463" b="1" spc="-323" dirty="0" err="1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Atual</a:t>
            </a:r>
            <a:endParaRPr lang="en-US" sz="6463" b="1" spc="-323" dirty="0">
              <a:solidFill>
                <a:srgbClr val="E2D8D0"/>
              </a:solidFill>
              <a:latin typeface="General Sans 1 Semi-Bold"/>
              <a:ea typeface="General Sans 1 Semi-Bold"/>
              <a:cs typeface="General Sans 1 Semi-Bold"/>
              <a:sym typeface="General Sans 1 Semi-Bold"/>
            </a:endParaRPr>
          </a:p>
        </p:txBody>
      </p:sp>
      <p:graphicFrame>
        <p:nvGraphicFramePr>
          <p:cNvPr id="47" name="Tabela 46">
            <a:extLst>
              <a:ext uri="{FF2B5EF4-FFF2-40B4-BE49-F238E27FC236}">
                <a16:creationId xmlns:a16="http://schemas.microsoft.com/office/drawing/2014/main" id="{3138E084-B381-B7E5-1072-9CC52CEED8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71321813"/>
              </p:ext>
            </p:extLst>
          </p:nvPr>
        </p:nvGraphicFramePr>
        <p:xfrm>
          <a:off x="1028700" y="2095500"/>
          <a:ext cx="16344900" cy="6879319"/>
        </p:xfrm>
        <a:graphic>
          <a:graphicData uri="http://schemas.openxmlformats.org/drawingml/2006/table">
            <a:tbl>
              <a:tblPr firstRow="1">
                <a:noFill/>
                <a:tableStyleId>{5C22544A-7EE6-4342-B048-85BDC9FD1C3A}</a:tableStyleId>
              </a:tblPr>
              <a:tblGrid>
                <a:gridCol w="990600">
                  <a:extLst>
                    <a:ext uri="{9D8B030D-6E8A-4147-A177-3AD203B41FA5}">
                      <a16:colId xmlns:a16="http://schemas.microsoft.com/office/drawing/2014/main" val="2790148474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3534790803"/>
                    </a:ext>
                  </a:extLst>
                </a:gridCol>
                <a:gridCol w="755299">
                  <a:extLst>
                    <a:ext uri="{9D8B030D-6E8A-4147-A177-3AD203B41FA5}">
                      <a16:colId xmlns:a16="http://schemas.microsoft.com/office/drawing/2014/main" val="3248296162"/>
                    </a:ext>
                  </a:extLst>
                </a:gridCol>
                <a:gridCol w="5010912">
                  <a:extLst>
                    <a:ext uri="{9D8B030D-6E8A-4147-A177-3AD203B41FA5}">
                      <a16:colId xmlns:a16="http://schemas.microsoft.com/office/drawing/2014/main" val="3547482831"/>
                    </a:ext>
                  </a:extLst>
                </a:gridCol>
                <a:gridCol w="1477577">
                  <a:extLst>
                    <a:ext uri="{9D8B030D-6E8A-4147-A177-3AD203B41FA5}">
                      <a16:colId xmlns:a16="http://schemas.microsoft.com/office/drawing/2014/main" val="1940100698"/>
                    </a:ext>
                  </a:extLst>
                </a:gridCol>
                <a:gridCol w="1747812">
                  <a:extLst>
                    <a:ext uri="{9D8B030D-6E8A-4147-A177-3AD203B41FA5}">
                      <a16:colId xmlns:a16="http://schemas.microsoft.com/office/drawing/2014/main" val="4162823438"/>
                    </a:ext>
                  </a:extLst>
                </a:gridCol>
                <a:gridCol w="5600700">
                  <a:extLst>
                    <a:ext uri="{9D8B030D-6E8A-4147-A177-3AD203B41FA5}">
                      <a16:colId xmlns:a16="http://schemas.microsoft.com/office/drawing/2014/main" val="374501397"/>
                    </a:ext>
                  </a:extLst>
                </a:gridCol>
              </a:tblGrid>
              <a:tr h="499319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200" b="1" kern="1200" dirty="0">
                          <a:solidFill>
                            <a:schemeClr val="dk1"/>
                          </a:solidFill>
                          <a:latin typeface="General Sans 1 Light" panose="020B0604020202020204" charset="0"/>
                          <a:ea typeface="+mn-ea"/>
                          <a:cs typeface="+mn-cs"/>
                        </a:rPr>
                        <a:t>SPRINT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200" b="1" kern="1200" dirty="0">
                          <a:solidFill>
                            <a:schemeClr val="dk1"/>
                          </a:solidFill>
                          <a:latin typeface="General Sans 1 Light" panose="020B0604020202020204" charset="0"/>
                          <a:ea typeface="+mn-ea"/>
                          <a:cs typeface="+mn-cs"/>
                        </a:rPr>
                        <a:t>ID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200" b="1" kern="1200" dirty="0">
                          <a:solidFill>
                            <a:schemeClr val="dk1"/>
                          </a:solidFill>
                          <a:latin typeface="General Sans 1 Light" panose="020B0604020202020204" charset="0"/>
                          <a:ea typeface="+mn-ea"/>
                          <a:cs typeface="+mn-cs"/>
                        </a:rPr>
                        <a:t>TIPO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200" b="1" kern="1200" dirty="0">
                          <a:solidFill>
                            <a:schemeClr val="dk1"/>
                          </a:solidFill>
                          <a:latin typeface="General Sans 1 Light" panose="020B0604020202020204" charset="0"/>
                          <a:ea typeface="+mn-ea"/>
                          <a:cs typeface="+mn-cs"/>
                        </a:rPr>
                        <a:t>TÍTULO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200" b="1" kern="1200" dirty="0">
                          <a:solidFill>
                            <a:schemeClr val="dk1"/>
                          </a:solidFill>
                          <a:latin typeface="General Sans 1 Light" panose="020B0604020202020204" charset="0"/>
                          <a:ea typeface="+mn-ea"/>
                          <a:cs typeface="+mn-cs"/>
                        </a:rPr>
                        <a:t>DATA DE ABERTURA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200" b="1" kern="1200" dirty="0">
                          <a:solidFill>
                            <a:schemeClr val="dk1"/>
                          </a:solidFill>
                          <a:latin typeface="General Sans 1 Light" panose="020B0604020202020204" charset="0"/>
                          <a:ea typeface="+mn-ea"/>
                          <a:cs typeface="+mn-cs"/>
                        </a:rPr>
                        <a:t>STATUS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200" b="1" kern="1200" dirty="0">
                          <a:solidFill>
                            <a:schemeClr val="dk1"/>
                          </a:solidFill>
                          <a:latin typeface="General Sans 1 Light" panose="020B0604020202020204" charset="0"/>
                          <a:ea typeface="+mn-ea"/>
                          <a:cs typeface="+mn-cs"/>
                        </a:rPr>
                        <a:t>OBSERVAÇÕES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52205541"/>
                  </a:ext>
                </a:extLst>
              </a:tr>
              <a:tr h="62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Sprint 77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41682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Melhoria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Algolia | Adicionar AnalyticsTags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25/09/2026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Blocked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Sem responsável atribuído. Bloqueado pela área de negócios: faltam os nomes das Analytics Tags de cada tela.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62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Sprint 77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41509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Melhoria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Integração Server to Server Rakuten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18/09/2026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Blocked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Responsável: Regis Ropke. Bloqueado pela Rakuten: o card espera credenciais da API e a resposta às dúvidas de homologação.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82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Sprint 77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41486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Melhoria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Alinhamento de Expectativa de Tráfego e Capacidade para a Black Friday 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17/09/2026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Blocked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Sem responsável atribuído. Bloqueado pela Oracle (SR 4-0003839520; histórico SR 4-0001220950): análise preventiva de capacidade para a Black Friday.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62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Sprint 77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40904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Melhoria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Novos Requisitos para Imagem dos Produtos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24/08/2026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Blocked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Sem responsável atribuído. Bloqueado pelo Google: aguardando a confirmação de quais imagens e configurações o Merchant Center exige.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62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Sprint 77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40883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Bug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Bug Relatorios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21/08/2026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Blocked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Sem responsável atribuído. Bloqueado pela Oracle (SR 4-0003585464): cobrada a causa raiz das falhas recorrentes do serviço de relatórios.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82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Sprint 1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20412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Bug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Análise: Produtos iguais não estão sendo agrupados no pedido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22/10/2024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Blocked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Responsável: marta.bispo salonline.com.br. O histórico cita a SR Oracle 3-38505981351, fora do formato 4-. O motivo vigente do bloqueio não está fechado.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62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Sprint 1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19253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Bug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Pedido com erro - OCC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20/09/2024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Blocked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Responsável: Thiago Beserra. Card sem descrição e sem comentário. Dependência e motivo do bloqueio não identificados.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82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Sprint 1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13441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Bug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Não é possivel acessar a conta de algumas clientes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10/05/2024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Blocked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Responsável: kauan.oliveira salonline.com.br. O erro deixou de reproduzir. O card permanece bloqueado até surgir um novo caso para investigar.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82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Sprint 1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12356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Bug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Pedido com amountAuthorized zerado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10/04/2024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Blocked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Responsável: marta.bispo salonline.com.br. A discussão de 2024 trata do retorno do Mercado Pago via Digibee. O bloqueio vigente não está explícito.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</a:tbl>
          </a:graphicData>
        </a:graphic>
      </p:graphicFrame>
      <p:pic>
        <p:nvPicPr>
          <p:cNvPr id="4" name="Gráfico 3" descr="Área de Transferência Toda Marcada com preenchimento sólido">
            <a:extLst>
              <a:ext uri="{FF2B5EF4-FFF2-40B4-BE49-F238E27FC236}">
                <a16:creationId xmlns:a16="http://schemas.microsoft.com/office/drawing/2014/main" id="{F255DE0D-1078-185E-CC17-D7AC6730335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374336" y="781253"/>
            <a:ext cx="914400" cy="914400"/>
          </a:xfrm>
          <a:prstGeom prst="rect">
            <a:avLst/>
          </a:prstGeom>
        </p:spPr>
      </p:pic>
      <p:sp>
        <p:nvSpPr>
          <p:cNvPr id="6" name="TextBox 6">
            <a:extLst>
              <a:ext uri="{FF2B5EF4-FFF2-40B4-BE49-F238E27FC236}">
                <a16:creationId xmlns:a16="http://schemas.microsoft.com/office/drawing/2014/main" id="{4985DC11-4802-429A-BB94-76F88832976C}"/>
              </a:ext>
            </a:extLst>
          </p:cNvPr>
          <p:cNvSpPr txBox="1"/>
          <p:nvPr/>
        </p:nvSpPr>
        <p:spPr>
          <a:xfrm>
            <a:off x="12495486" y="793679"/>
            <a:ext cx="2611609" cy="8895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92"/>
              </a:lnSpc>
            </a:pPr>
            <a:r>
              <a:rPr lang="en-US" sz="5976" b="1" dirty="0">
                <a:solidFill>
                  <a:srgbClr val="FFFFFF">
                    <a:alpha val="87843"/>
                  </a:srgbClr>
                </a:solidFill>
                <a:latin typeface="Inter Heavy"/>
                <a:ea typeface="Inter Heavy"/>
                <a:cs typeface="Inter Heavy"/>
                <a:sym typeface="Inter Heavy"/>
              </a:rPr>
              <a:t>81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5FAF77E-9A51-88B8-24A4-30FF3A5C59C3}"/>
              </a:ext>
            </a:extLst>
          </p:cNvPr>
          <p:cNvSpPr txBox="1"/>
          <p:nvPr/>
        </p:nvSpPr>
        <p:spPr>
          <a:xfrm>
            <a:off x="14401800" y="952500"/>
            <a:ext cx="1810195" cy="53860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algn="ctr">
              <a:lnSpc>
                <a:spcPts val="2088"/>
              </a:lnSpc>
              <a:defRPr sz="2000" b="1" spc="132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</a:defRPr>
            </a:lvl1pPr>
          </a:lstStyle>
          <a:p>
            <a:pPr algn="l"/>
            <a:r>
              <a:rPr lang="en-US" sz="1800" dirty="0" err="1">
                <a:sym typeface="General Sans 2 Medium"/>
              </a:rPr>
              <a:t>Ítens</a:t>
            </a:r>
            <a:r>
              <a:rPr lang="en-US" sz="1800" b="0" dirty="0">
                <a:sym typeface="General Sans 2 Medium"/>
              </a:rPr>
              <a:t> </a:t>
            </a:r>
            <a:r>
              <a:rPr lang="en-US" sz="1800" dirty="0" err="1">
                <a:sym typeface="General Sans 2 Medium"/>
              </a:rPr>
              <a:t>Pendentes</a:t>
            </a:r>
            <a:endParaRPr lang="en-US" sz="1800" dirty="0">
              <a:sym typeface="General Sans 2 Medium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2"/>
          <p:cNvSpPr/>
          <p:nvPr/>
        </p:nvSpPr>
        <p:spPr>
          <a:xfrm>
            <a:off x="0" y="0"/>
            <a:ext cx="18264864" cy="10273986"/>
          </a:xfrm>
          <a:custGeom>
            <a:avLst/>
            <a:gdLst/>
            <a:ahLst/>
            <a:cxnLst/>
            <a:rect l="l" t="t" r="r" b="b"/>
            <a:pathLst>
              <a:path w="18264864" h="10273986">
                <a:moveTo>
                  <a:pt x="0" y="0"/>
                </a:moveTo>
                <a:lnTo>
                  <a:pt x="18264864" y="0"/>
                </a:lnTo>
                <a:lnTo>
                  <a:pt x="18264864" y="10273986"/>
                </a:lnTo>
                <a:lnTo>
                  <a:pt x="0" y="1027398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44" name="TextBox 44"/>
          <p:cNvSpPr txBox="1"/>
          <p:nvPr/>
        </p:nvSpPr>
        <p:spPr>
          <a:xfrm>
            <a:off x="1028700" y="866557"/>
            <a:ext cx="15984931" cy="7437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5817"/>
              </a:lnSpc>
            </a:pPr>
            <a:r>
              <a:rPr lang="en-US" sz="6463" b="1" spc="-323" dirty="0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Backlog Atual (2/9)</a:t>
            </a:r>
            <a:r>
              <a:rPr lang="en-US" sz="6463" b="1" spc="-323" dirty="0" err="1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/>
            </a:r>
            <a:endParaRPr lang="en-US" sz="6463" b="1" spc="-323" dirty="0">
              <a:solidFill>
                <a:srgbClr val="E2D8D0"/>
              </a:solidFill>
              <a:latin typeface="General Sans 1 Semi-Bold"/>
              <a:ea typeface="General Sans 1 Semi-Bold"/>
              <a:cs typeface="General Sans 1 Semi-Bold"/>
              <a:sym typeface="General Sans 1 Semi-Bold"/>
            </a:endParaRPr>
          </a:p>
        </p:txBody>
      </p:sp>
      <p:graphicFrame>
        <p:nvGraphicFramePr>
          <p:cNvPr id="47" name="Tabela 46">
            <a:extLst>
              <a:ext uri="{FF2B5EF4-FFF2-40B4-BE49-F238E27FC236}">
                <a16:creationId xmlns:a16="http://schemas.microsoft.com/office/drawing/2014/main" id="{3138E084-B381-B7E5-1072-9CC52CEED8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71321813"/>
              </p:ext>
            </p:extLst>
          </p:nvPr>
        </p:nvGraphicFramePr>
        <p:xfrm>
          <a:off x="1028700" y="2095500"/>
          <a:ext cx="16344900" cy="7479319"/>
        </p:xfrm>
        <a:graphic>
          <a:graphicData uri="http://schemas.openxmlformats.org/drawingml/2006/table">
            <a:tbl>
              <a:tblPr firstRow="1">
                <a:noFill/>
                <a:tableStyleId>{5C22544A-7EE6-4342-B048-85BDC9FD1C3A}</a:tableStyleId>
              </a:tblPr>
              <a:tblGrid>
                <a:gridCol w="990600">
                  <a:extLst>
                    <a:ext uri="{9D8B030D-6E8A-4147-A177-3AD203B41FA5}">
                      <a16:colId xmlns:a16="http://schemas.microsoft.com/office/drawing/2014/main" val="2790148474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3534790803"/>
                    </a:ext>
                  </a:extLst>
                </a:gridCol>
                <a:gridCol w="755299">
                  <a:extLst>
                    <a:ext uri="{9D8B030D-6E8A-4147-A177-3AD203B41FA5}">
                      <a16:colId xmlns:a16="http://schemas.microsoft.com/office/drawing/2014/main" val="3248296162"/>
                    </a:ext>
                  </a:extLst>
                </a:gridCol>
                <a:gridCol w="5010912">
                  <a:extLst>
                    <a:ext uri="{9D8B030D-6E8A-4147-A177-3AD203B41FA5}">
                      <a16:colId xmlns:a16="http://schemas.microsoft.com/office/drawing/2014/main" val="3547482831"/>
                    </a:ext>
                  </a:extLst>
                </a:gridCol>
                <a:gridCol w="1477577">
                  <a:extLst>
                    <a:ext uri="{9D8B030D-6E8A-4147-A177-3AD203B41FA5}">
                      <a16:colId xmlns:a16="http://schemas.microsoft.com/office/drawing/2014/main" val="1940100698"/>
                    </a:ext>
                  </a:extLst>
                </a:gridCol>
                <a:gridCol w="1747812">
                  <a:extLst>
                    <a:ext uri="{9D8B030D-6E8A-4147-A177-3AD203B41FA5}">
                      <a16:colId xmlns:a16="http://schemas.microsoft.com/office/drawing/2014/main" val="4162823438"/>
                    </a:ext>
                  </a:extLst>
                </a:gridCol>
                <a:gridCol w="5600700">
                  <a:extLst>
                    <a:ext uri="{9D8B030D-6E8A-4147-A177-3AD203B41FA5}">
                      <a16:colId xmlns:a16="http://schemas.microsoft.com/office/drawing/2014/main" val="374501397"/>
                    </a:ext>
                  </a:extLst>
                </a:gridCol>
              </a:tblGrid>
              <a:tr h="499319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200" b="1" kern="1200" dirty="0">
                          <a:solidFill>
                            <a:schemeClr val="dk1"/>
                          </a:solidFill>
                          <a:latin typeface="General Sans 1 Light" panose="020B0604020202020204" charset="0"/>
                          <a:ea typeface="+mn-ea"/>
                          <a:cs typeface="+mn-cs"/>
                        </a:rPr>
                        <a:t>SPRINT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200" b="1" kern="1200" dirty="0">
                          <a:solidFill>
                            <a:schemeClr val="dk1"/>
                          </a:solidFill>
                          <a:latin typeface="General Sans 1 Light" panose="020B0604020202020204" charset="0"/>
                          <a:ea typeface="+mn-ea"/>
                          <a:cs typeface="+mn-cs"/>
                        </a:rPr>
                        <a:t>ID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200" b="1" kern="1200" dirty="0">
                          <a:solidFill>
                            <a:schemeClr val="dk1"/>
                          </a:solidFill>
                          <a:latin typeface="General Sans 1 Light" panose="020B0604020202020204" charset="0"/>
                          <a:ea typeface="+mn-ea"/>
                          <a:cs typeface="+mn-cs"/>
                        </a:rPr>
                        <a:t>TIPO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200" b="1" kern="1200" dirty="0">
                          <a:solidFill>
                            <a:schemeClr val="dk1"/>
                          </a:solidFill>
                          <a:latin typeface="General Sans 1 Light" panose="020B0604020202020204" charset="0"/>
                          <a:ea typeface="+mn-ea"/>
                          <a:cs typeface="+mn-cs"/>
                        </a:rPr>
                        <a:t>TÍTULO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200" b="1" kern="1200" dirty="0">
                          <a:solidFill>
                            <a:schemeClr val="dk1"/>
                          </a:solidFill>
                          <a:latin typeface="General Sans 1 Light" panose="020B0604020202020204" charset="0"/>
                          <a:ea typeface="+mn-ea"/>
                          <a:cs typeface="+mn-cs"/>
                        </a:rPr>
                        <a:t>DATA DE ABERTURA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200" b="1" kern="1200" dirty="0">
                          <a:solidFill>
                            <a:schemeClr val="dk1"/>
                          </a:solidFill>
                          <a:latin typeface="General Sans 1 Light" panose="020B0604020202020204" charset="0"/>
                          <a:ea typeface="+mn-ea"/>
                          <a:cs typeface="+mn-cs"/>
                        </a:rPr>
                        <a:t>STATUS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200" b="1" kern="1200" dirty="0">
                          <a:solidFill>
                            <a:schemeClr val="dk1"/>
                          </a:solidFill>
                          <a:latin typeface="General Sans 1 Light" panose="020B0604020202020204" charset="0"/>
                          <a:ea typeface="+mn-ea"/>
                          <a:cs typeface="+mn-cs"/>
                        </a:rPr>
                        <a:t>OBSERVAÇÕES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52205541"/>
                  </a:ext>
                </a:extLst>
              </a:tr>
              <a:tr h="82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Backlog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41484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Melhoria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[PDP] Tire suas dúvidas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17/09/2026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Blocked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Sem responsável atribuído. Bloqueado na definição com a YourViews: falta decidir se a seção Tire suas dúvidas será da ferramenta ou interna.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62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Backlog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41483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Melhoria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[PDP] Avaliações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17/09/2026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Blocked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Sem responsável atribuído. Bloqueado na definição com a YourViews: falta decidir se o front das avaliações será da ferramenta ou interno.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82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Backlog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39624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Melhoria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Inclusão de novos campos no formulário da central de atendimento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13/07/2026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Blocked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Sem responsável atribuído. Bloqueado pela Salesforce: a plataforma ainda precisa receber os novos campos do formulário da central de atendimento.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82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Backlog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37871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Melhoria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Análise de Performance do Site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22/04/2026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Blocked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Responsável: Marcus Linck. Bloqueado pela Salon Line: a lentidão foi atribuída ao peso das imagens e o plano de ação ficou com o time interno.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82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Backlog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37626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Melhoria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Inclusão de Apple Pay e Google Pay como formas de pagamento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09/04/2026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Blocked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Responsável: luana.santos salonline.com.br. Bloqueado pela área de negócios: o Mercado Pago não cobre Apple Pay nem Google Pay e o gateway ainda não foi escolhido.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62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Backlog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37408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Melhoria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Ajustar exibição de mensagem de frete grátis no cálculo de frete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02/04/2026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Blocked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Responsável: Marcus Linck. Bloqueado pela Salon Line: a prioridade foi adiada até a definição das regras de mensagem de frete grátis.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82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Backlog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37148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Melhoria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Integração App SEO + Oracle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26/03/2026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Blocked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Responsável: Ewerton Bezerra. O título cita integração com a Oracle e não há SR 4-. O comentário recente diz que os ajustes pedidos já foram feitos.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82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Backlog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37147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Melhoria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Integração "Viva Você Studio" + Ecomm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26/03/2026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Blocked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Responsável: karina.zaghetto salonline.com.br. Bloqueado pela Salon Line: faltam as URLs de TST e PRD, a escolha entre iframe e subdomínio e a correção da API exposta.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82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Backlog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37101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Melhoria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Implementação no Modal de Visualização Rápida (Quick View) – PLP Web e Mobile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25/03/2026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Blocked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Responsável: karina.zaghetto salonline.com.br. O estado segue Blocked, mas o comentário mais recente libera o Figma. O motivo atual da dependência não está explícito.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</a:tbl>
          </a:graphicData>
        </a:graphic>
      </p:graphicFrame>
      <p:pic>
        <p:nvPicPr>
          <p:cNvPr id="4" name="Gráfico 3" descr="Área de Transferência Toda Marcada com preenchimento sólido">
            <a:extLst>
              <a:ext uri="{FF2B5EF4-FFF2-40B4-BE49-F238E27FC236}">
                <a16:creationId xmlns:a16="http://schemas.microsoft.com/office/drawing/2014/main" id="{F255DE0D-1078-185E-CC17-D7AC6730335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374336" y="781253"/>
            <a:ext cx="914400" cy="914400"/>
          </a:xfrm>
          <a:prstGeom prst="rect">
            <a:avLst/>
          </a:prstGeom>
        </p:spPr>
      </p:pic>
      <p:sp>
        <p:nvSpPr>
          <p:cNvPr id="6" name="TextBox 6">
            <a:extLst>
              <a:ext uri="{FF2B5EF4-FFF2-40B4-BE49-F238E27FC236}">
                <a16:creationId xmlns:a16="http://schemas.microsoft.com/office/drawing/2014/main" id="{4985DC11-4802-429A-BB94-76F88832976C}"/>
              </a:ext>
            </a:extLst>
          </p:cNvPr>
          <p:cNvSpPr txBox="1"/>
          <p:nvPr/>
        </p:nvSpPr>
        <p:spPr>
          <a:xfrm>
            <a:off x="12495486" y="793679"/>
            <a:ext cx="2611609" cy="8895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92"/>
              </a:lnSpc>
            </a:pPr>
            <a:r>
              <a:rPr lang="en-US" sz="5976" b="1" dirty="0">
                <a:solidFill>
                  <a:srgbClr val="FFFFFF">
                    <a:alpha val="87843"/>
                  </a:srgbClr>
                </a:solidFill>
                <a:latin typeface="Inter Heavy"/>
                <a:ea typeface="Inter Heavy"/>
                <a:cs typeface="Inter Heavy"/>
                <a:sym typeface="Inter Heavy"/>
              </a:rPr>
              <a:t>81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5FAF77E-9A51-88B8-24A4-30FF3A5C59C3}"/>
              </a:ext>
            </a:extLst>
          </p:cNvPr>
          <p:cNvSpPr txBox="1"/>
          <p:nvPr/>
        </p:nvSpPr>
        <p:spPr>
          <a:xfrm>
            <a:off x="14401800" y="952500"/>
            <a:ext cx="1810195" cy="53860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algn="ctr">
              <a:lnSpc>
                <a:spcPts val="2088"/>
              </a:lnSpc>
              <a:defRPr sz="2000" b="1" spc="132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</a:defRPr>
            </a:lvl1pPr>
          </a:lstStyle>
          <a:p>
            <a:pPr algn="l"/>
            <a:r>
              <a:rPr lang="en-US" sz="1800" dirty="0" err="1">
                <a:sym typeface="General Sans 2 Medium"/>
              </a:rPr>
              <a:t>Ítens</a:t>
            </a:r>
            <a:r>
              <a:rPr lang="en-US" sz="1800" b="0" dirty="0">
                <a:sym typeface="General Sans 2 Medium"/>
              </a:rPr>
              <a:t> </a:t>
            </a:r>
            <a:r>
              <a:rPr lang="en-US" sz="1800" dirty="0" err="1">
                <a:sym typeface="General Sans 2 Medium"/>
              </a:rPr>
              <a:t>Pendentes</a:t>
            </a:r>
            <a:endParaRPr lang="en-US" sz="1800" dirty="0">
              <a:sym typeface="General Sans 2 Medium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2"/>
          <p:cNvSpPr/>
          <p:nvPr/>
        </p:nvSpPr>
        <p:spPr>
          <a:xfrm>
            <a:off x="0" y="0"/>
            <a:ext cx="18264864" cy="10273986"/>
          </a:xfrm>
          <a:custGeom>
            <a:avLst/>
            <a:gdLst/>
            <a:ahLst/>
            <a:cxnLst/>
            <a:rect l="l" t="t" r="r" b="b"/>
            <a:pathLst>
              <a:path w="18264864" h="10273986">
                <a:moveTo>
                  <a:pt x="0" y="0"/>
                </a:moveTo>
                <a:lnTo>
                  <a:pt x="18264864" y="0"/>
                </a:lnTo>
                <a:lnTo>
                  <a:pt x="18264864" y="10273986"/>
                </a:lnTo>
                <a:lnTo>
                  <a:pt x="0" y="1027398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44" name="TextBox 44"/>
          <p:cNvSpPr txBox="1"/>
          <p:nvPr/>
        </p:nvSpPr>
        <p:spPr>
          <a:xfrm>
            <a:off x="1028700" y="866557"/>
            <a:ext cx="15984931" cy="7437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5817"/>
              </a:lnSpc>
            </a:pPr>
            <a:r>
              <a:rPr lang="en-US" sz="6463" b="1" spc="-323" dirty="0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Backlog Atual (3/9)</a:t>
            </a:r>
            <a:r>
              <a:rPr lang="en-US" sz="6463" b="1" spc="-323" dirty="0" err="1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/>
            </a:r>
            <a:endParaRPr lang="en-US" sz="6463" b="1" spc="-323" dirty="0">
              <a:solidFill>
                <a:srgbClr val="E2D8D0"/>
              </a:solidFill>
              <a:latin typeface="General Sans 1 Semi-Bold"/>
              <a:ea typeface="General Sans 1 Semi-Bold"/>
              <a:cs typeface="General Sans 1 Semi-Bold"/>
              <a:sym typeface="General Sans 1 Semi-Bold"/>
            </a:endParaRPr>
          </a:p>
        </p:txBody>
      </p:sp>
      <p:graphicFrame>
        <p:nvGraphicFramePr>
          <p:cNvPr id="47" name="Tabela 46">
            <a:extLst>
              <a:ext uri="{FF2B5EF4-FFF2-40B4-BE49-F238E27FC236}">
                <a16:creationId xmlns:a16="http://schemas.microsoft.com/office/drawing/2014/main" id="{3138E084-B381-B7E5-1072-9CC52CEED8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71321813"/>
              </p:ext>
            </p:extLst>
          </p:nvPr>
        </p:nvGraphicFramePr>
        <p:xfrm>
          <a:off x="1028700" y="2095500"/>
          <a:ext cx="16344900" cy="7099319"/>
        </p:xfrm>
        <a:graphic>
          <a:graphicData uri="http://schemas.openxmlformats.org/drawingml/2006/table">
            <a:tbl>
              <a:tblPr firstRow="1">
                <a:noFill/>
                <a:tableStyleId>{5C22544A-7EE6-4342-B048-85BDC9FD1C3A}</a:tableStyleId>
              </a:tblPr>
              <a:tblGrid>
                <a:gridCol w="990600">
                  <a:extLst>
                    <a:ext uri="{9D8B030D-6E8A-4147-A177-3AD203B41FA5}">
                      <a16:colId xmlns:a16="http://schemas.microsoft.com/office/drawing/2014/main" val="2790148474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3534790803"/>
                    </a:ext>
                  </a:extLst>
                </a:gridCol>
                <a:gridCol w="755299">
                  <a:extLst>
                    <a:ext uri="{9D8B030D-6E8A-4147-A177-3AD203B41FA5}">
                      <a16:colId xmlns:a16="http://schemas.microsoft.com/office/drawing/2014/main" val="3248296162"/>
                    </a:ext>
                  </a:extLst>
                </a:gridCol>
                <a:gridCol w="5010912">
                  <a:extLst>
                    <a:ext uri="{9D8B030D-6E8A-4147-A177-3AD203B41FA5}">
                      <a16:colId xmlns:a16="http://schemas.microsoft.com/office/drawing/2014/main" val="3547482831"/>
                    </a:ext>
                  </a:extLst>
                </a:gridCol>
                <a:gridCol w="1477577">
                  <a:extLst>
                    <a:ext uri="{9D8B030D-6E8A-4147-A177-3AD203B41FA5}">
                      <a16:colId xmlns:a16="http://schemas.microsoft.com/office/drawing/2014/main" val="1940100698"/>
                    </a:ext>
                  </a:extLst>
                </a:gridCol>
                <a:gridCol w="1747812">
                  <a:extLst>
                    <a:ext uri="{9D8B030D-6E8A-4147-A177-3AD203B41FA5}">
                      <a16:colId xmlns:a16="http://schemas.microsoft.com/office/drawing/2014/main" val="4162823438"/>
                    </a:ext>
                  </a:extLst>
                </a:gridCol>
                <a:gridCol w="5600700">
                  <a:extLst>
                    <a:ext uri="{9D8B030D-6E8A-4147-A177-3AD203B41FA5}">
                      <a16:colId xmlns:a16="http://schemas.microsoft.com/office/drawing/2014/main" val="374501397"/>
                    </a:ext>
                  </a:extLst>
                </a:gridCol>
              </a:tblGrid>
              <a:tr h="499319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200" b="1" kern="1200" dirty="0">
                          <a:solidFill>
                            <a:schemeClr val="dk1"/>
                          </a:solidFill>
                          <a:latin typeface="General Sans 1 Light" panose="020B0604020202020204" charset="0"/>
                          <a:ea typeface="+mn-ea"/>
                          <a:cs typeface="+mn-cs"/>
                        </a:rPr>
                        <a:t>SPRINT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200" b="1" kern="1200" dirty="0">
                          <a:solidFill>
                            <a:schemeClr val="dk1"/>
                          </a:solidFill>
                          <a:latin typeface="General Sans 1 Light" panose="020B0604020202020204" charset="0"/>
                          <a:ea typeface="+mn-ea"/>
                          <a:cs typeface="+mn-cs"/>
                        </a:rPr>
                        <a:t>ID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200" b="1" kern="1200" dirty="0">
                          <a:solidFill>
                            <a:schemeClr val="dk1"/>
                          </a:solidFill>
                          <a:latin typeface="General Sans 1 Light" panose="020B0604020202020204" charset="0"/>
                          <a:ea typeface="+mn-ea"/>
                          <a:cs typeface="+mn-cs"/>
                        </a:rPr>
                        <a:t>TIPO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200" b="1" kern="1200" dirty="0">
                          <a:solidFill>
                            <a:schemeClr val="dk1"/>
                          </a:solidFill>
                          <a:latin typeface="General Sans 1 Light" panose="020B0604020202020204" charset="0"/>
                          <a:ea typeface="+mn-ea"/>
                          <a:cs typeface="+mn-cs"/>
                        </a:rPr>
                        <a:t>TÍTULO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200" b="1" kern="1200" dirty="0">
                          <a:solidFill>
                            <a:schemeClr val="dk1"/>
                          </a:solidFill>
                          <a:latin typeface="General Sans 1 Light" panose="020B0604020202020204" charset="0"/>
                          <a:ea typeface="+mn-ea"/>
                          <a:cs typeface="+mn-cs"/>
                        </a:rPr>
                        <a:t>DATA DE ABERTURA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200" b="1" kern="1200" dirty="0">
                          <a:solidFill>
                            <a:schemeClr val="dk1"/>
                          </a:solidFill>
                          <a:latin typeface="General Sans 1 Light" panose="020B0604020202020204" charset="0"/>
                          <a:ea typeface="+mn-ea"/>
                          <a:cs typeface="+mn-cs"/>
                        </a:rPr>
                        <a:t>STATUS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200" b="1" kern="1200" dirty="0">
                          <a:solidFill>
                            <a:schemeClr val="dk1"/>
                          </a:solidFill>
                          <a:latin typeface="General Sans 1 Light" panose="020B0604020202020204" charset="0"/>
                          <a:ea typeface="+mn-ea"/>
                          <a:cs typeface="+mn-cs"/>
                        </a:rPr>
                        <a:t>OBSERVAÇÕES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52205541"/>
                  </a:ext>
                </a:extLst>
              </a:tr>
              <a:tr h="62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Backlog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10644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Bug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Boleto Pago Após o Vencimento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07/02/2024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Blocked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Sem responsável atribuído. Card sem descrição e sem comentário. Dependência e motivo do bloqueio não identificados.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62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Backlog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10100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Bug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Indexação não está sendo refletida no Front - Categorias não são atualizadas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19/01/2024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Blocked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Sem responsável atribuído. Bloqueio sem dono nem motivo vigente. O último comentário é de janeiro de 2024.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82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Backlog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9260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Bug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Request para Cotação de Frete com divergências - PESO INCORRETO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12/12/2023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Blocked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Responsável: Lucas Borges. Mantido bloqueado para preservar as evidências de peso incorreto na cotação, no aguardo de nova ocorrência.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62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Sprint 77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41756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Melhoria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Algolia | Criar replicas de ordenação e filtros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01/10/2026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Active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Responsável: Ewerton Bezerra. Em desenvolvimento: réplicas de ordenação por preço e mais vendidos e índice de filtros na Algolia.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62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Sprint 77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41681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Melhoria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Algolia | Adicionar a Algolia nas páginas de categoria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25/09/2026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Active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Sem responsável atribuído. Em desenvolvimento: consulta de produtos das páginas de categoria pela Algolia.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62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Sprint 77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41479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Melhoria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[PDP] Hero da PDP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17/09/2026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Active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Responsável: Regis Ropke. Hero da página de produto em desenvolvimento. O botão de compartilhar ainda aguarda o Figma.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62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Sprint 77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40929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Melhoria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Desenvolvimento do novo layout da Página de Produto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25/08/2026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Active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Responsável: Regis Ropke. Novo layout da página de produto em desenvolvimento, com dúvidas de Figma mobile ainda abertas.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82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Backlog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23616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Bug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Problema/Cronograma-Capilar exibindo imagens quebradas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09/01/2025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Active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Responsável: Gianluca Ferreira. Imagens quebradas no Cronograma Capilar. O último comentário, de janeiro de 2025, pede validação em produção.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62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Backlog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10004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Bug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Produtos sendo exibidos como "Grátis" no carrinho incorretamente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17/01/2024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Active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Responsável: Gianluca Ferreira. Bug antigo ainda em desenvolvimento, sem descrição nem comentário recente no card.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62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Backlog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9669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Bug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Valor TOTAL de pedido parcelado COM Juros está sendo exibido com soma incorreta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04/01/2024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Active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Responsável: Gianluca Ferreira. Bug antigo ainda em desenvolvimento, sem descrição nem comentário recente no card.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</a:tbl>
          </a:graphicData>
        </a:graphic>
      </p:graphicFrame>
      <p:pic>
        <p:nvPicPr>
          <p:cNvPr id="4" name="Gráfico 3" descr="Área de Transferência Toda Marcada com preenchimento sólido">
            <a:extLst>
              <a:ext uri="{FF2B5EF4-FFF2-40B4-BE49-F238E27FC236}">
                <a16:creationId xmlns:a16="http://schemas.microsoft.com/office/drawing/2014/main" id="{F255DE0D-1078-185E-CC17-D7AC6730335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374336" y="781253"/>
            <a:ext cx="914400" cy="914400"/>
          </a:xfrm>
          <a:prstGeom prst="rect">
            <a:avLst/>
          </a:prstGeom>
        </p:spPr>
      </p:pic>
      <p:sp>
        <p:nvSpPr>
          <p:cNvPr id="6" name="TextBox 6">
            <a:extLst>
              <a:ext uri="{FF2B5EF4-FFF2-40B4-BE49-F238E27FC236}">
                <a16:creationId xmlns:a16="http://schemas.microsoft.com/office/drawing/2014/main" id="{4985DC11-4802-429A-BB94-76F88832976C}"/>
              </a:ext>
            </a:extLst>
          </p:cNvPr>
          <p:cNvSpPr txBox="1"/>
          <p:nvPr/>
        </p:nvSpPr>
        <p:spPr>
          <a:xfrm>
            <a:off x="12495486" y="793679"/>
            <a:ext cx="2611609" cy="8895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92"/>
              </a:lnSpc>
            </a:pPr>
            <a:r>
              <a:rPr lang="en-US" sz="5976" b="1" dirty="0">
                <a:solidFill>
                  <a:srgbClr val="FFFFFF">
                    <a:alpha val="87843"/>
                  </a:srgbClr>
                </a:solidFill>
                <a:latin typeface="Inter Heavy"/>
                <a:ea typeface="Inter Heavy"/>
                <a:cs typeface="Inter Heavy"/>
                <a:sym typeface="Inter Heavy"/>
              </a:rPr>
              <a:t>81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5FAF77E-9A51-88B8-24A4-30FF3A5C59C3}"/>
              </a:ext>
            </a:extLst>
          </p:cNvPr>
          <p:cNvSpPr txBox="1"/>
          <p:nvPr/>
        </p:nvSpPr>
        <p:spPr>
          <a:xfrm>
            <a:off x="14401800" y="952500"/>
            <a:ext cx="1810195" cy="53860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algn="ctr">
              <a:lnSpc>
                <a:spcPts val="2088"/>
              </a:lnSpc>
              <a:defRPr sz="2000" b="1" spc="132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</a:defRPr>
            </a:lvl1pPr>
          </a:lstStyle>
          <a:p>
            <a:pPr algn="l"/>
            <a:r>
              <a:rPr lang="en-US" sz="1800" dirty="0" err="1">
                <a:sym typeface="General Sans 2 Medium"/>
              </a:rPr>
              <a:t>Ítens</a:t>
            </a:r>
            <a:r>
              <a:rPr lang="en-US" sz="1800" b="0" dirty="0">
                <a:sym typeface="General Sans 2 Medium"/>
              </a:rPr>
              <a:t> </a:t>
            </a:r>
            <a:r>
              <a:rPr lang="en-US" sz="1800" dirty="0" err="1">
                <a:sym typeface="General Sans 2 Medium"/>
              </a:rPr>
              <a:t>Pendentes</a:t>
            </a:r>
            <a:endParaRPr lang="en-US" sz="1800" dirty="0">
              <a:sym typeface="General Sans 2 Medium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2"/>
          <p:cNvSpPr/>
          <p:nvPr/>
        </p:nvSpPr>
        <p:spPr>
          <a:xfrm>
            <a:off x="0" y="0"/>
            <a:ext cx="18264864" cy="10273986"/>
          </a:xfrm>
          <a:custGeom>
            <a:avLst/>
            <a:gdLst/>
            <a:ahLst/>
            <a:cxnLst/>
            <a:rect l="l" t="t" r="r" b="b"/>
            <a:pathLst>
              <a:path w="18264864" h="10273986">
                <a:moveTo>
                  <a:pt x="0" y="0"/>
                </a:moveTo>
                <a:lnTo>
                  <a:pt x="18264864" y="0"/>
                </a:lnTo>
                <a:lnTo>
                  <a:pt x="18264864" y="10273986"/>
                </a:lnTo>
                <a:lnTo>
                  <a:pt x="0" y="1027398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44" name="TextBox 44"/>
          <p:cNvSpPr txBox="1"/>
          <p:nvPr/>
        </p:nvSpPr>
        <p:spPr>
          <a:xfrm>
            <a:off x="1028700" y="866557"/>
            <a:ext cx="15984931" cy="7437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5817"/>
              </a:lnSpc>
            </a:pPr>
            <a:r>
              <a:rPr lang="en-US" sz="6463" b="1" spc="-323" dirty="0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Backlog Atual (4/9)</a:t>
            </a:r>
            <a:r>
              <a:rPr lang="en-US" sz="6463" b="1" spc="-323" dirty="0" err="1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/>
            </a:r>
            <a:endParaRPr lang="en-US" sz="6463" b="1" spc="-323" dirty="0">
              <a:solidFill>
                <a:srgbClr val="E2D8D0"/>
              </a:solidFill>
              <a:latin typeface="General Sans 1 Semi-Bold"/>
              <a:ea typeface="General Sans 1 Semi-Bold"/>
              <a:cs typeface="General Sans 1 Semi-Bold"/>
              <a:sym typeface="General Sans 1 Semi-Bold"/>
            </a:endParaRPr>
          </a:p>
        </p:txBody>
      </p:sp>
      <p:graphicFrame>
        <p:nvGraphicFramePr>
          <p:cNvPr id="47" name="Tabela 46">
            <a:extLst>
              <a:ext uri="{FF2B5EF4-FFF2-40B4-BE49-F238E27FC236}">
                <a16:creationId xmlns:a16="http://schemas.microsoft.com/office/drawing/2014/main" id="{3138E084-B381-B7E5-1072-9CC52CEED8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71321813"/>
              </p:ext>
            </p:extLst>
          </p:nvPr>
        </p:nvGraphicFramePr>
        <p:xfrm>
          <a:off x="1028700" y="2095500"/>
          <a:ext cx="16344900" cy="7319319"/>
        </p:xfrm>
        <a:graphic>
          <a:graphicData uri="http://schemas.openxmlformats.org/drawingml/2006/table">
            <a:tbl>
              <a:tblPr firstRow="1">
                <a:noFill/>
                <a:tableStyleId>{5C22544A-7EE6-4342-B048-85BDC9FD1C3A}</a:tableStyleId>
              </a:tblPr>
              <a:tblGrid>
                <a:gridCol w="990600">
                  <a:extLst>
                    <a:ext uri="{9D8B030D-6E8A-4147-A177-3AD203B41FA5}">
                      <a16:colId xmlns:a16="http://schemas.microsoft.com/office/drawing/2014/main" val="2790148474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3534790803"/>
                    </a:ext>
                  </a:extLst>
                </a:gridCol>
                <a:gridCol w="755299">
                  <a:extLst>
                    <a:ext uri="{9D8B030D-6E8A-4147-A177-3AD203B41FA5}">
                      <a16:colId xmlns:a16="http://schemas.microsoft.com/office/drawing/2014/main" val="3248296162"/>
                    </a:ext>
                  </a:extLst>
                </a:gridCol>
                <a:gridCol w="5010912">
                  <a:extLst>
                    <a:ext uri="{9D8B030D-6E8A-4147-A177-3AD203B41FA5}">
                      <a16:colId xmlns:a16="http://schemas.microsoft.com/office/drawing/2014/main" val="3547482831"/>
                    </a:ext>
                  </a:extLst>
                </a:gridCol>
                <a:gridCol w="1477577">
                  <a:extLst>
                    <a:ext uri="{9D8B030D-6E8A-4147-A177-3AD203B41FA5}">
                      <a16:colId xmlns:a16="http://schemas.microsoft.com/office/drawing/2014/main" val="1940100698"/>
                    </a:ext>
                  </a:extLst>
                </a:gridCol>
                <a:gridCol w="1747812">
                  <a:extLst>
                    <a:ext uri="{9D8B030D-6E8A-4147-A177-3AD203B41FA5}">
                      <a16:colId xmlns:a16="http://schemas.microsoft.com/office/drawing/2014/main" val="4162823438"/>
                    </a:ext>
                  </a:extLst>
                </a:gridCol>
                <a:gridCol w="5600700">
                  <a:extLst>
                    <a:ext uri="{9D8B030D-6E8A-4147-A177-3AD203B41FA5}">
                      <a16:colId xmlns:a16="http://schemas.microsoft.com/office/drawing/2014/main" val="374501397"/>
                    </a:ext>
                  </a:extLst>
                </a:gridCol>
              </a:tblGrid>
              <a:tr h="499319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200" b="1" kern="1200" dirty="0">
                          <a:solidFill>
                            <a:schemeClr val="dk1"/>
                          </a:solidFill>
                          <a:latin typeface="General Sans 1 Light" panose="020B0604020202020204" charset="0"/>
                          <a:ea typeface="+mn-ea"/>
                          <a:cs typeface="+mn-cs"/>
                        </a:rPr>
                        <a:t>SPRINT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200" b="1" kern="1200" dirty="0">
                          <a:solidFill>
                            <a:schemeClr val="dk1"/>
                          </a:solidFill>
                          <a:latin typeface="General Sans 1 Light" panose="020B0604020202020204" charset="0"/>
                          <a:ea typeface="+mn-ea"/>
                          <a:cs typeface="+mn-cs"/>
                        </a:rPr>
                        <a:t>ID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200" b="1" kern="1200" dirty="0">
                          <a:solidFill>
                            <a:schemeClr val="dk1"/>
                          </a:solidFill>
                          <a:latin typeface="General Sans 1 Light" panose="020B0604020202020204" charset="0"/>
                          <a:ea typeface="+mn-ea"/>
                          <a:cs typeface="+mn-cs"/>
                        </a:rPr>
                        <a:t>TIPO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200" b="1" kern="1200" dirty="0">
                          <a:solidFill>
                            <a:schemeClr val="dk1"/>
                          </a:solidFill>
                          <a:latin typeface="General Sans 1 Light" panose="020B0604020202020204" charset="0"/>
                          <a:ea typeface="+mn-ea"/>
                          <a:cs typeface="+mn-cs"/>
                        </a:rPr>
                        <a:t>TÍTULO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200" b="1" kern="1200" dirty="0">
                          <a:solidFill>
                            <a:schemeClr val="dk1"/>
                          </a:solidFill>
                          <a:latin typeface="General Sans 1 Light" panose="020B0604020202020204" charset="0"/>
                          <a:ea typeface="+mn-ea"/>
                          <a:cs typeface="+mn-cs"/>
                        </a:rPr>
                        <a:t>DATA DE ABERTURA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200" b="1" kern="1200" dirty="0">
                          <a:solidFill>
                            <a:schemeClr val="dk1"/>
                          </a:solidFill>
                          <a:latin typeface="General Sans 1 Light" panose="020B0604020202020204" charset="0"/>
                          <a:ea typeface="+mn-ea"/>
                          <a:cs typeface="+mn-cs"/>
                        </a:rPr>
                        <a:t>STATUS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200" b="1" kern="1200" dirty="0">
                          <a:solidFill>
                            <a:schemeClr val="dk1"/>
                          </a:solidFill>
                          <a:latin typeface="General Sans 1 Light" panose="020B0604020202020204" charset="0"/>
                          <a:ea typeface="+mn-ea"/>
                          <a:cs typeface="+mn-cs"/>
                        </a:rPr>
                        <a:t>OBSERVAÇÕES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52205541"/>
                  </a:ext>
                </a:extLst>
              </a:tr>
              <a:tr h="62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Sprint 77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41820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Melhoria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Algolia | Implementar atualizações incrementais do catálogo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02/10/2026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In Test Light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Sem responsável atribuído. Em teste LH: atualização incremental do catálogo, com rotina a cada cinco minutos.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62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Sprint 77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41786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Melhoria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Algolia | Adaptar FrontEnd da busca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01/10/2026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In Test Light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Responsável: Julio Lima. Em teste LH: autocomplete da busca no padrão recomendado pela Algolia.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62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Sprint 77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41677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Melhoria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Algolia | Implementar Recent Searches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25/09/2026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In Test Light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Sem responsável atribuído. Em teste LH: buscas recentes salvas no navegador e reaproveitadas no autocomplete.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62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Sprint 77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41676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Melhoria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Algolia | Implementar userToken nos eventos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25/09/2026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In Test Light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Sem responsável atribuído. Em teste LH: identificador de usuário nos eventos e nas consultas da Algolia.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62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Sprint 77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41516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Melhoria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Algolia | Eventos &amp; Analitycs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18/09/2026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In Test Light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Sem responsável atribuído. Em teste LH: eventos de visualização, clique e conversão da Algolia.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62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Sprint 77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41515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Melhoria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Algolia | Indexação / Backend (Integração de Catálogo)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18/09/2026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In Test Light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Responsável: Julio Lima. Em teste LH: indexação do catálogo Oracle na Algolia.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62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Sprint 77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41485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Melhoria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[PDP] Monte sua Rotina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17/09/2026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In Test Light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Sem responsável atribuído. Em teste LH: widget Monte sua Rotina, com destaque do produto que o cliente está vendo.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62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Sprint 77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41482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Melhoria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[PDP] Ritual em {x} passos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17/09/2026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In Test Light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Sem responsável atribuído. Em teste LH: ritual em passos, exibido somente quando o produto tem o conteúdo preenchido.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62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Sprint 77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41481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Melhoria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[PDP] Informações do Produto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17/09/2026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In Test Light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Sem responsável atribuído. Em teste LH: informações do produto, incluindo a seção Dica de Ouro.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62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Sprint 77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41480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Melhoria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[PDP] Trust Bar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17/09/2026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In Test Light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Sem responsável atribuído. Em teste LH: faixa de benefícios da nova página de produto.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62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Sprint 77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41513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Melhoria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Algolia | Spike Técnico: Viabilidade de Instalação (widgets/showcase/js)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18/09/2026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In Test Customer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Sem responsável atribuído. Em teste com o cliente: estudo de viabilidade do InstantSearch da Algolia, já disponível em TST.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</a:tbl>
          </a:graphicData>
        </a:graphic>
      </p:graphicFrame>
      <p:pic>
        <p:nvPicPr>
          <p:cNvPr id="4" name="Gráfico 3" descr="Área de Transferência Toda Marcada com preenchimento sólido">
            <a:extLst>
              <a:ext uri="{FF2B5EF4-FFF2-40B4-BE49-F238E27FC236}">
                <a16:creationId xmlns:a16="http://schemas.microsoft.com/office/drawing/2014/main" id="{F255DE0D-1078-185E-CC17-D7AC6730335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374336" y="781253"/>
            <a:ext cx="914400" cy="914400"/>
          </a:xfrm>
          <a:prstGeom prst="rect">
            <a:avLst/>
          </a:prstGeom>
        </p:spPr>
      </p:pic>
      <p:sp>
        <p:nvSpPr>
          <p:cNvPr id="6" name="TextBox 6">
            <a:extLst>
              <a:ext uri="{FF2B5EF4-FFF2-40B4-BE49-F238E27FC236}">
                <a16:creationId xmlns:a16="http://schemas.microsoft.com/office/drawing/2014/main" id="{4985DC11-4802-429A-BB94-76F88832976C}"/>
              </a:ext>
            </a:extLst>
          </p:cNvPr>
          <p:cNvSpPr txBox="1"/>
          <p:nvPr/>
        </p:nvSpPr>
        <p:spPr>
          <a:xfrm>
            <a:off x="12495486" y="793679"/>
            <a:ext cx="2611609" cy="8895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92"/>
              </a:lnSpc>
            </a:pPr>
            <a:r>
              <a:rPr lang="en-US" sz="5976" b="1" dirty="0">
                <a:solidFill>
                  <a:srgbClr val="FFFFFF">
                    <a:alpha val="87843"/>
                  </a:srgbClr>
                </a:solidFill>
                <a:latin typeface="Inter Heavy"/>
                <a:ea typeface="Inter Heavy"/>
                <a:cs typeface="Inter Heavy"/>
                <a:sym typeface="Inter Heavy"/>
              </a:rPr>
              <a:t>81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5FAF77E-9A51-88B8-24A4-30FF3A5C59C3}"/>
              </a:ext>
            </a:extLst>
          </p:cNvPr>
          <p:cNvSpPr txBox="1"/>
          <p:nvPr/>
        </p:nvSpPr>
        <p:spPr>
          <a:xfrm>
            <a:off x="14401800" y="952500"/>
            <a:ext cx="1810195" cy="53860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algn="ctr">
              <a:lnSpc>
                <a:spcPts val="2088"/>
              </a:lnSpc>
              <a:defRPr sz="2000" b="1" spc="132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</a:defRPr>
            </a:lvl1pPr>
          </a:lstStyle>
          <a:p>
            <a:pPr algn="l"/>
            <a:r>
              <a:rPr lang="en-US" sz="1800" dirty="0" err="1">
                <a:sym typeface="General Sans 2 Medium"/>
              </a:rPr>
              <a:t>Ítens</a:t>
            </a:r>
            <a:r>
              <a:rPr lang="en-US" sz="1800" b="0" dirty="0">
                <a:sym typeface="General Sans 2 Medium"/>
              </a:rPr>
              <a:t> </a:t>
            </a:r>
            <a:r>
              <a:rPr lang="en-US" sz="1800" dirty="0" err="1">
                <a:sym typeface="General Sans 2 Medium"/>
              </a:rPr>
              <a:t>Pendentes</a:t>
            </a:r>
            <a:endParaRPr lang="en-US" sz="1800" dirty="0">
              <a:sym typeface="General Sans 2 Medium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2"/>
          <p:cNvSpPr/>
          <p:nvPr/>
        </p:nvSpPr>
        <p:spPr>
          <a:xfrm>
            <a:off x="0" y="0"/>
            <a:ext cx="18264864" cy="10273986"/>
          </a:xfrm>
          <a:custGeom>
            <a:avLst/>
            <a:gdLst/>
            <a:ahLst/>
            <a:cxnLst/>
            <a:rect l="l" t="t" r="r" b="b"/>
            <a:pathLst>
              <a:path w="18264864" h="10273986">
                <a:moveTo>
                  <a:pt x="0" y="0"/>
                </a:moveTo>
                <a:lnTo>
                  <a:pt x="18264864" y="0"/>
                </a:lnTo>
                <a:lnTo>
                  <a:pt x="18264864" y="10273986"/>
                </a:lnTo>
                <a:lnTo>
                  <a:pt x="0" y="1027398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44" name="TextBox 44"/>
          <p:cNvSpPr txBox="1"/>
          <p:nvPr/>
        </p:nvSpPr>
        <p:spPr>
          <a:xfrm>
            <a:off x="1028700" y="866557"/>
            <a:ext cx="15984931" cy="7437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5817"/>
              </a:lnSpc>
            </a:pPr>
            <a:r>
              <a:rPr lang="en-US" sz="6463" b="1" spc="-323" dirty="0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Backlog Atual (5/9)</a:t>
            </a:r>
            <a:r>
              <a:rPr lang="en-US" sz="6463" b="1" spc="-323" dirty="0" err="1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/>
            </a:r>
            <a:endParaRPr lang="en-US" sz="6463" b="1" spc="-323" dirty="0">
              <a:solidFill>
                <a:srgbClr val="E2D8D0"/>
              </a:solidFill>
              <a:latin typeface="General Sans 1 Semi-Bold"/>
              <a:ea typeface="General Sans 1 Semi-Bold"/>
              <a:cs typeface="General Sans 1 Semi-Bold"/>
              <a:sym typeface="General Sans 1 Semi-Bold"/>
            </a:endParaRPr>
          </a:p>
        </p:txBody>
      </p:sp>
      <p:graphicFrame>
        <p:nvGraphicFramePr>
          <p:cNvPr id="47" name="Tabela 46">
            <a:extLst>
              <a:ext uri="{FF2B5EF4-FFF2-40B4-BE49-F238E27FC236}">
                <a16:creationId xmlns:a16="http://schemas.microsoft.com/office/drawing/2014/main" id="{3138E084-B381-B7E5-1072-9CC52CEED8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71321813"/>
              </p:ext>
            </p:extLst>
          </p:nvPr>
        </p:nvGraphicFramePr>
        <p:xfrm>
          <a:off x="1028700" y="2095500"/>
          <a:ext cx="16344900" cy="7519319"/>
        </p:xfrm>
        <a:graphic>
          <a:graphicData uri="http://schemas.openxmlformats.org/drawingml/2006/table">
            <a:tbl>
              <a:tblPr firstRow="1">
                <a:noFill/>
                <a:tableStyleId>{5C22544A-7EE6-4342-B048-85BDC9FD1C3A}</a:tableStyleId>
              </a:tblPr>
              <a:tblGrid>
                <a:gridCol w="990600">
                  <a:extLst>
                    <a:ext uri="{9D8B030D-6E8A-4147-A177-3AD203B41FA5}">
                      <a16:colId xmlns:a16="http://schemas.microsoft.com/office/drawing/2014/main" val="2790148474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3534790803"/>
                    </a:ext>
                  </a:extLst>
                </a:gridCol>
                <a:gridCol w="755299">
                  <a:extLst>
                    <a:ext uri="{9D8B030D-6E8A-4147-A177-3AD203B41FA5}">
                      <a16:colId xmlns:a16="http://schemas.microsoft.com/office/drawing/2014/main" val="3248296162"/>
                    </a:ext>
                  </a:extLst>
                </a:gridCol>
                <a:gridCol w="5010912">
                  <a:extLst>
                    <a:ext uri="{9D8B030D-6E8A-4147-A177-3AD203B41FA5}">
                      <a16:colId xmlns:a16="http://schemas.microsoft.com/office/drawing/2014/main" val="3547482831"/>
                    </a:ext>
                  </a:extLst>
                </a:gridCol>
                <a:gridCol w="1477577">
                  <a:extLst>
                    <a:ext uri="{9D8B030D-6E8A-4147-A177-3AD203B41FA5}">
                      <a16:colId xmlns:a16="http://schemas.microsoft.com/office/drawing/2014/main" val="1940100698"/>
                    </a:ext>
                  </a:extLst>
                </a:gridCol>
                <a:gridCol w="1747812">
                  <a:extLst>
                    <a:ext uri="{9D8B030D-6E8A-4147-A177-3AD203B41FA5}">
                      <a16:colId xmlns:a16="http://schemas.microsoft.com/office/drawing/2014/main" val="4162823438"/>
                    </a:ext>
                  </a:extLst>
                </a:gridCol>
                <a:gridCol w="5600700">
                  <a:extLst>
                    <a:ext uri="{9D8B030D-6E8A-4147-A177-3AD203B41FA5}">
                      <a16:colId xmlns:a16="http://schemas.microsoft.com/office/drawing/2014/main" val="374501397"/>
                    </a:ext>
                  </a:extLst>
                </a:gridCol>
              </a:tblGrid>
              <a:tr h="499319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200" b="1" kern="1200" dirty="0">
                          <a:solidFill>
                            <a:schemeClr val="dk1"/>
                          </a:solidFill>
                          <a:latin typeface="General Sans 1 Light" panose="020B0604020202020204" charset="0"/>
                          <a:ea typeface="+mn-ea"/>
                          <a:cs typeface="+mn-cs"/>
                        </a:rPr>
                        <a:t>SPRINT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200" b="1" kern="1200" dirty="0">
                          <a:solidFill>
                            <a:schemeClr val="dk1"/>
                          </a:solidFill>
                          <a:latin typeface="General Sans 1 Light" panose="020B0604020202020204" charset="0"/>
                          <a:ea typeface="+mn-ea"/>
                          <a:cs typeface="+mn-cs"/>
                        </a:rPr>
                        <a:t>ID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200" b="1" kern="1200" dirty="0">
                          <a:solidFill>
                            <a:schemeClr val="dk1"/>
                          </a:solidFill>
                          <a:latin typeface="General Sans 1 Light" panose="020B0604020202020204" charset="0"/>
                          <a:ea typeface="+mn-ea"/>
                          <a:cs typeface="+mn-cs"/>
                        </a:rPr>
                        <a:t>TIPO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200" b="1" kern="1200" dirty="0">
                          <a:solidFill>
                            <a:schemeClr val="dk1"/>
                          </a:solidFill>
                          <a:latin typeface="General Sans 1 Light" panose="020B0604020202020204" charset="0"/>
                          <a:ea typeface="+mn-ea"/>
                          <a:cs typeface="+mn-cs"/>
                        </a:rPr>
                        <a:t>TÍTULO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200" b="1" kern="1200" dirty="0">
                          <a:solidFill>
                            <a:schemeClr val="dk1"/>
                          </a:solidFill>
                          <a:latin typeface="General Sans 1 Light" panose="020B0604020202020204" charset="0"/>
                          <a:ea typeface="+mn-ea"/>
                          <a:cs typeface="+mn-cs"/>
                        </a:rPr>
                        <a:t>DATA DE ABERTURA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200" b="1" kern="1200" dirty="0">
                          <a:solidFill>
                            <a:schemeClr val="dk1"/>
                          </a:solidFill>
                          <a:latin typeface="General Sans 1 Light" panose="020B0604020202020204" charset="0"/>
                          <a:ea typeface="+mn-ea"/>
                          <a:cs typeface="+mn-cs"/>
                        </a:rPr>
                        <a:t>STATUS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200" b="1" kern="1200" dirty="0">
                          <a:solidFill>
                            <a:schemeClr val="dk1"/>
                          </a:solidFill>
                          <a:latin typeface="General Sans 1 Light" panose="020B0604020202020204" charset="0"/>
                          <a:ea typeface="+mn-ea"/>
                          <a:cs typeface="+mn-cs"/>
                        </a:rPr>
                        <a:t>OBSERVAÇÕES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52205541"/>
                  </a:ext>
                </a:extLst>
              </a:tr>
              <a:tr h="62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Sprint 77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41726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Melhoria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[Projeto CDP] Abandono Checkout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29/09/2026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Ready PRD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Responsável: Fábio Vidart. Pronto para produção: campos de abandono de checkout validados em TST.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62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Sprint 77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40639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Melhoria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Permitir vídeo ou GIF na PDP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12/08/2026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Ready PRD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Responsável: daniela.damasceno salonline.com.br. Pronto para produção: exibição de vídeo ou GIF na galeria da página de produto.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62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Sprint 77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41853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Melhoria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Adicinar a marca Trata no menu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05/10/2026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Validation PRD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Responsável: daniela.damasceno salonline.com.br. Em validação de produção: inclusão da marca Trata no menu do site.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62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Sprint 77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41755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Bug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Preço zerado em produtos após retorno null no endpoint listProducts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30/09/2026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Validation PRD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Sem responsável atribuído. Em validação de produção. SR Oracle 4-0003936169 aberta para o preço zerado após retorno nulo de produtos.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82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Sprint 73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39603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Melhoria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[Análise &amp; Ajuste] array dataLayer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10/07/2026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Validation PRD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Sem responsável atribuído. Em validação de produção: preço com desconto no dataLayer. A Salon indicou que a prova só ocorre em produção.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62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Sprint 47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28070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Bug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Erros retornados pela SSE Smart Checkout ao finalizar pedidos pelo App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11/06/2025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Validation PRD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Sem responsável atribuído. Em validação de produção. O histórico cita as SRs Oracle 4-0000687590 e 4-0000873061 na SSE de checkout do app.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62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Sprint 29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20387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Melhoria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Implementação cód. LP Galeria feed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21/10/2024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Validation PRD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Responsável: kauan.oliveira salonline.com.br. Em validação de produção desde 2024: código da landing de galeria no feed.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62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Sprint 1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13160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Bug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Divergência Pedido x Payload -Site Pedido 570495481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02/05/2024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Validation PRD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Responsável: Gianluca Ferreira. Em validação de produção desde 2024, depois de uma correção pontual de item que o pedido não agrupou.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62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Sprint 77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41401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Bug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Erro ao fechar pedido / Recalculo dos descontos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14/09/2026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Monitoring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Responsável: luana.santos salonline.com.br. Em monitoramento do recálculo de descontos ao fechar o pedido.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62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Sprint 77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40912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Bug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Pedidos falhando na Integração - Erro "VL_DESC_INC_UNIT nao poder ser menor que 0"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24/08/2026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Monitoring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Responsável: luana.santos salonline.com.br. Em monitoramento do erro de desconto negativo na integração do pedido.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62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Sprint 77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40351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Bug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Pedidos com o erro "Valor de Meio incorreto para PED_CLIENTE"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03/08/2026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Monitoring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Responsável: luana.santos salonline.com.br. Em monitoramento do erro de valor de meio na integração do pedido.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</a:tbl>
          </a:graphicData>
        </a:graphic>
      </p:graphicFrame>
      <p:pic>
        <p:nvPicPr>
          <p:cNvPr id="4" name="Gráfico 3" descr="Área de Transferência Toda Marcada com preenchimento sólido">
            <a:extLst>
              <a:ext uri="{FF2B5EF4-FFF2-40B4-BE49-F238E27FC236}">
                <a16:creationId xmlns:a16="http://schemas.microsoft.com/office/drawing/2014/main" id="{F255DE0D-1078-185E-CC17-D7AC6730335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374336" y="781253"/>
            <a:ext cx="914400" cy="914400"/>
          </a:xfrm>
          <a:prstGeom prst="rect">
            <a:avLst/>
          </a:prstGeom>
        </p:spPr>
      </p:pic>
      <p:sp>
        <p:nvSpPr>
          <p:cNvPr id="6" name="TextBox 6">
            <a:extLst>
              <a:ext uri="{FF2B5EF4-FFF2-40B4-BE49-F238E27FC236}">
                <a16:creationId xmlns:a16="http://schemas.microsoft.com/office/drawing/2014/main" id="{4985DC11-4802-429A-BB94-76F88832976C}"/>
              </a:ext>
            </a:extLst>
          </p:cNvPr>
          <p:cNvSpPr txBox="1"/>
          <p:nvPr/>
        </p:nvSpPr>
        <p:spPr>
          <a:xfrm>
            <a:off x="12495486" y="793679"/>
            <a:ext cx="2611609" cy="8895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92"/>
              </a:lnSpc>
            </a:pPr>
            <a:r>
              <a:rPr lang="en-US" sz="5976" b="1" dirty="0">
                <a:solidFill>
                  <a:srgbClr val="FFFFFF">
                    <a:alpha val="87843"/>
                  </a:srgbClr>
                </a:solidFill>
                <a:latin typeface="Inter Heavy"/>
                <a:ea typeface="Inter Heavy"/>
                <a:cs typeface="Inter Heavy"/>
                <a:sym typeface="Inter Heavy"/>
              </a:rPr>
              <a:t>81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5FAF77E-9A51-88B8-24A4-30FF3A5C59C3}"/>
              </a:ext>
            </a:extLst>
          </p:cNvPr>
          <p:cNvSpPr txBox="1"/>
          <p:nvPr/>
        </p:nvSpPr>
        <p:spPr>
          <a:xfrm>
            <a:off x="14401800" y="952500"/>
            <a:ext cx="1810195" cy="53860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algn="ctr">
              <a:lnSpc>
                <a:spcPts val="2088"/>
              </a:lnSpc>
              <a:defRPr sz="2000" b="1" spc="132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</a:defRPr>
            </a:lvl1pPr>
          </a:lstStyle>
          <a:p>
            <a:pPr algn="l"/>
            <a:r>
              <a:rPr lang="en-US" sz="1800" dirty="0" err="1">
                <a:sym typeface="General Sans 2 Medium"/>
              </a:rPr>
              <a:t>Ítens</a:t>
            </a:r>
            <a:r>
              <a:rPr lang="en-US" sz="1800" b="0" dirty="0">
                <a:sym typeface="General Sans 2 Medium"/>
              </a:rPr>
              <a:t> </a:t>
            </a:r>
            <a:r>
              <a:rPr lang="en-US" sz="1800" dirty="0" err="1">
                <a:sym typeface="General Sans 2 Medium"/>
              </a:rPr>
              <a:t>Pendentes</a:t>
            </a:r>
            <a:endParaRPr lang="en-US" sz="1800" dirty="0">
              <a:sym typeface="General Sans 2 Medium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2"/>
          <p:cNvSpPr/>
          <p:nvPr/>
        </p:nvSpPr>
        <p:spPr>
          <a:xfrm>
            <a:off x="0" y="0"/>
            <a:ext cx="18264864" cy="10273986"/>
          </a:xfrm>
          <a:custGeom>
            <a:avLst/>
            <a:gdLst/>
            <a:ahLst/>
            <a:cxnLst/>
            <a:rect l="l" t="t" r="r" b="b"/>
            <a:pathLst>
              <a:path w="18264864" h="10273986">
                <a:moveTo>
                  <a:pt x="0" y="0"/>
                </a:moveTo>
                <a:lnTo>
                  <a:pt x="18264864" y="0"/>
                </a:lnTo>
                <a:lnTo>
                  <a:pt x="18264864" y="10273986"/>
                </a:lnTo>
                <a:lnTo>
                  <a:pt x="0" y="1027398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44" name="TextBox 44"/>
          <p:cNvSpPr txBox="1"/>
          <p:nvPr/>
        </p:nvSpPr>
        <p:spPr>
          <a:xfrm>
            <a:off x="1028700" y="866557"/>
            <a:ext cx="15984931" cy="7437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5817"/>
              </a:lnSpc>
            </a:pPr>
            <a:r>
              <a:rPr lang="en-US" sz="6463" b="1" spc="-323" dirty="0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Backlog Atual (6/9)</a:t>
            </a:r>
            <a:r>
              <a:rPr lang="en-US" sz="6463" b="1" spc="-323" dirty="0" err="1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/>
            </a:r>
            <a:endParaRPr lang="en-US" sz="6463" b="1" spc="-323" dirty="0">
              <a:solidFill>
                <a:srgbClr val="E2D8D0"/>
              </a:solidFill>
              <a:latin typeface="General Sans 1 Semi-Bold"/>
              <a:ea typeface="General Sans 1 Semi-Bold"/>
              <a:cs typeface="General Sans 1 Semi-Bold"/>
              <a:sym typeface="General Sans 1 Semi-Bold"/>
            </a:endParaRPr>
          </a:p>
        </p:txBody>
      </p:sp>
      <p:graphicFrame>
        <p:nvGraphicFramePr>
          <p:cNvPr id="47" name="Tabela 46">
            <a:extLst>
              <a:ext uri="{FF2B5EF4-FFF2-40B4-BE49-F238E27FC236}">
                <a16:creationId xmlns:a16="http://schemas.microsoft.com/office/drawing/2014/main" id="{3138E084-B381-B7E5-1072-9CC52CEED8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71321813"/>
              </p:ext>
            </p:extLst>
          </p:nvPr>
        </p:nvGraphicFramePr>
        <p:xfrm>
          <a:off x="1028700" y="2095500"/>
          <a:ext cx="16344900" cy="6899319"/>
        </p:xfrm>
        <a:graphic>
          <a:graphicData uri="http://schemas.openxmlformats.org/drawingml/2006/table">
            <a:tbl>
              <a:tblPr firstRow="1">
                <a:noFill/>
                <a:tableStyleId>{5C22544A-7EE6-4342-B048-85BDC9FD1C3A}</a:tableStyleId>
              </a:tblPr>
              <a:tblGrid>
                <a:gridCol w="990600">
                  <a:extLst>
                    <a:ext uri="{9D8B030D-6E8A-4147-A177-3AD203B41FA5}">
                      <a16:colId xmlns:a16="http://schemas.microsoft.com/office/drawing/2014/main" val="2790148474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3534790803"/>
                    </a:ext>
                  </a:extLst>
                </a:gridCol>
                <a:gridCol w="755299">
                  <a:extLst>
                    <a:ext uri="{9D8B030D-6E8A-4147-A177-3AD203B41FA5}">
                      <a16:colId xmlns:a16="http://schemas.microsoft.com/office/drawing/2014/main" val="3248296162"/>
                    </a:ext>
                  </a:extLst>
                </a:gridCol>
                <a:gridCol w="5010912">
                  <a:extLst>
                    <a:ext uri="{9D8B030D-6E8A-4147-A177-3AD203B41FA5}">
                      <a16:colId xmlns:a16="http://schemas.microsoft.com/office/drawing/2014/main" val="3547482831"/>
                    </a:ext>
                  </a:extLst>
                </a:gridCol>
                <a:gridCol w="1477577">
                  <a:extLst>
                    <a:ext uri="{9D8B030D-6E8A-4147-A177-3AD203B41FA5}">
                      <a16:colId xmlns:a16="http://schemas.microsoft.com/office/drawing/2014/main" val="1940100698"/>
                    </a:ext>
                  </a:extLst>
                </a:gridCol>
                <a:gridCol w="1747812">
                  <a:extLst>
                    <a:ext uri="{9D8B030D-6E8A-4147-A177-3AD203B41FA5}">
                      <a16:colId xmlns:a16="http://schemas.microsoft.com/office/drawing/2014/main" val="4162823438"/>
                    </a:ext>
                  </a:extLst>
                </a:gridCol>
                <a:gridCol w="5600700">
                  <a:extLst>
                    <a:ext uri="{9D8B030D-6E8A-4147-A177-3AD203B41FA5}">
                      <a16:colId xmlns:a16="http://schemas.microsoft.com/office/drawing/2014/main" val="374501397"/>
                    </a:ext>
                  </a:extLst>
                </a:gridCol>
              </a:tblGrid>
              <a:tr h="499319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200" b="1" kern="1200" dirty="0">
                          <a:solidFill>
                            <a:schemeClr val="dk1"/>
                          </a:solidFill>
                          <a:latin typeface="General Sans 1 Light" panose="020B0604020202020204" charset="0"/>
                          <a:ea typeface="+mn-ea"/>
                          <a:cs typeface="+mn-cs"/>
                        </a:rPr>
                        <a:t>SPRINT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200" b="1" kern="1200" dirty="0">
                          <a:solidFill>
                            <a:schemeClr val="dk1"/>
                          </a:solidFill>
                          <a:latin typeface="General Sans 1 Light" panose="020B0604020202020204" charset="0"/>
                          <a:ea typeface="+mn-ea"/>
                          <a:cs typeface="+mn-cs"/>
                        </a:rPr>
                        <a:t>ID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200" b="1" kern="1200" dirty="0">
                          <a:solidFill>
                            <a:schemeClr val="dk1"/>
                          </a:solidFill>
                          <a:latin typeface="General Sans 1 Light" panose="020B0604020202020204" charset="0"/>
                          <a:ea typeface="+mn-ea"/>
                          <a:cs typeface="+mn-cs"/>
                        </a:rPr>
                        <a:t>TIPO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200" b="1" kern="1200" dirty="0">
                          <a:solidFill>
                            <a:schemeClr val="dk1"/>
                          </a:solidFill>
                          <a:latin typeface="General Sans 1 Light" panose="020B0604020202020204" charset="0"/>
                          <a:ea typeface="+mn-ea"/>
                          <a:cs typeface="+mn-cs"/>
                        </a:rPr>
                        <a:t>TÍTULO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200" b="1" kern="1200" dirty="0">
                          <a:solidFill>
                            <a:schemeClr val="dk1"/>
                          </a:solidFill>
                          <a:latin typeface="General Sans 1 Light" panose="020B0604020202020204" charset="0"/>
                          <a:ea typeface="+mn-ea"/>
                          <a:cs typeface="+mn-cs"/>
                        </a:rPr>
                        <a:t>DATA DE ABERTURA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200" b="1" kern="1200" dirty="0">
                          <a:solidFill>
                            <a:schemeClr val="dk1"/>
                          </a:solidFill>
                          <a:latin typeface="General Sans 1 Light" panose="020B0604020202020204" charset="0"/>
                          <a:ea typeface="+mn-ea"/>
                          <a:cs typeface="+mn-cs"/>
                        </a:rPr>
                        <a:t>STATUS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200" b="1" kern="1200" dirty="0">
                          <a:solidFill>
                            <a:schemeClr val="dk1"/>
                          </a:solidFill>
                          <a:latin typeface="General Sans 1 Light" panose="020B0604020202020204" charset="0"/>
                          <a:ea typeface="+mn-ea"/>
                          <a:cs typeface="+mn-cs"/>
                        </a:rPr>
                        <a:t>OBSERVAÇÕES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52205541"/>
                  </a:ext>
                </a:extLst>
              </a:tr>
              <a:tr h="62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Sprint 77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41870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Melhoria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Trazer informações de venda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06/10/2026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New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Sem responsável atribuído. A fazer: incluir informações de venda de 30, 60 e 90 dias na indexação do produto.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62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Sprint 77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41683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Melhoria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Algolia | Adicionar a Algolia em Collections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25/09/2026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New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Sem responsável atribuído. A fazer: avaliar o uso da Algolia nas collections.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62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Sprint 77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41680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Melhoria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Algolia | Implementar Federated Search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25/09/2026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New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Sem responsável atribuído. A fazer: busca federada no autocomplete da Algolia.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62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Sprint 77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41577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Melhoria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Envelopamento do Site — Black Friday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23/09/2026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New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Sem responsável atribuído. A fazer: envelopamento visual do site para a campanha de Black Friday.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62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Sprint 77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40638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Bug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Exibir itens de lançamento nas sugestões do Cronograma Capilar (Quiz)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12/08/2026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New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Sem responsável atribuído. A fazer: exibir lançamentos nas sugestões do Cronograma Capilar.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62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Sprint 77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40290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Bug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[PDP] Cards de produtos relacionados duplicam o símbolo de moeda no parcelamento  Descrição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30/07/2026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New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Sem responsável atribuído. A fazer: cards relacionados da página de produto duplicam o símbolo da moeda no parcelamento.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62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Sprint 77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39839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Bug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Quantidade incorreta de itens sendo adicionados via Streamshop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16/07/2026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New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Sem responsável atribuído. A fazer: quantidade incorreta de itens adicionados pelo Streamshop.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62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Sprint 77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38287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Bug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PLP Outlet repete produtos ao utilizar “Ver mais produtos”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13/05/2026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New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Sem responsável atribuído. A fazer: a listagem de outlet repete produtos ao usar Ver mais produtos.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62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Sprint 1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27982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Bug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Pedido sem registro de produtos na propriedade "commerceItems": [],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11/06/2025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New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Sem responsável atribuído. Item em aberto, sem descrição recente no card.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82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Backlog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35776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Melhoria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[COMPRA RECORRENTE] Landing Page do Programa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30/01/2026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New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Sem responsável atribuído. A fazer: Como visitante/cliente, quero acessar uma página explicando o programa e ver produtos para assinar, para entender benefícios e iniciar compra recorrente por ali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</a:tbl>
          </a:graphicData>
        </a:graphic>
      </p:graphicFrame>
      <p:pic>
        <p:nvPicPr>
          <p:cNvPr id="4" name="Gráfico 3" descr="Área de Transferência Toda Marcada com preenchimento sólido">
            <a:extLst>
              <a:ext uri="{FF2B5EF4-FFF2-40B4-BE49-F238E27FC236}">
                <a16:creationId xmlns:a16="http://schemas.microsoft.com/office/drawing/2014/main" id="{F255DE0D-1078-185E-CC17-D7AC6730335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374336" y="781253"/>
            <a:ext cx="914400" cy="914400"/>
          </a:xfrm>
          <a:prstGeom prst="rect">
            <a:avLst/>
          </a:prstGeom>
        </p:spPr>
      </p:pic>
      <p:sp>
        <p:nvSpPr>
          <p:cNvPr id="6" name="TextBox 6">
            <a:extLst>
              <a:ext uri="{FF2B5EF4-FFF2-40B4-BE49-F238E27FC236}">
                <a16:creationId xmlns:a16="http://schemas.microsoft.com/office/drawing/2014/main" id="{4985DC11-4802-429A-BB94-76F88832976C}"/>
              </a:ext>
            </a:extLst>
          </p:cNvPr>
          <p:cNvSpPr txBox="1"/>
          <p:nvPr/>
        </p:nvSpPr>
        <p:spPr>
          <a:xfrm>
            <a:off x="12495486" y="793679"/>
            <a:ext cx="2611609" cy="8895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92"/>
              </a:lnSpc>
            </a:pPr>
            <a:r>
              <a:rPr lang="en-US" sz="5976" b="1" dirty="0">
                <a:solidFill>
                  <a:srgbClr val="FFFFFF">
                    <a:alpha val="87843"/>
                  </a:srgbClr>
                </a:solidFill>
                <a:latin typeface="Inter Heavy"/>
                <a:ea typeface="Inter Heavy"/>
                <a:cs typeface="Inter Heavy"/>
                <a:sym typeface="Inter Heavy"/>
              </a:rPr>
              <a:t>81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5FAF77E-9A51-88B8-24A4-30FF3A5C59C3}"/>
              </a:ext>
            </a:extLst>
          </p:cNvPr>
          <p:cNvSpPr txBox="1"/>
          <p:nvPr/>
        </p:nvSpPr>
        <p:spPr>
          <a:xfrm>
            <a:off x="14401800" y="952500"/>
            <a:ext cx="1810195" cy="53860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algn="ctr">
              <a:lnSpc>
                <a:spcPts val="2088"/>
              </a:lnSpc>
              <a:defRPr sz="2000" b="1" spc="132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</a:defRPr>
            </a:lvl1pPr>
          </a:lstStyle>
          <a:p>
            <a:pPr algn="l"/>
            <a:r>
              <a:rPr lang="en-US" sz="1800" dirty="0" err="1">
                <a:sym typeface="General Sans 2 Medium"/>
              </a:rPr>
              <a:t>Ítens</a:t>
            </a:r>
            <a:r>
              <a:rPr lang="en-US" sz="1800" b="0" dirty="0">
                <a:sym typeface="General Sans 2 Medium"/>
              </a:rPr>
              <a:t> </a:t>
            </a:r>
            <a:r>
              <a:rPr lang="en-US" sz="1800" dirty="0" err="1">
                <a:sym typeface="General Sans 2 Medium"/>
              </a:rPr>
              <a:t>Pendentes</a:t>
            </a:r>
            <a:endParaRPr lang="en-US" sz="1800" dirty="0">
              <a:sym typeface="General Sans 2 Medium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2"/>
          <p:cNvSpPr/>
          <p:nvPr/>
        </p:nvSpPr>
        <p:spPr>
          <a:xfrm>
            <a:off x="0" y="0"/>
            <a:ext cx="18264864" cy="10273986"/>
          </a:xfrm>
          <a:custGeom>
            <a:avLst/>
            <a:gdLst/>
            <a:ahLst/>
            <a:cxnLst/>
            <a:rect l="l" t="t" r="r" b="b"/>
            <a:pathLst>
              <a:path w="18264864" h="10273986">
                <a:moveTo>
                  <a:pt x="0" y="0"/>
                </a:moveTo>
                <a:lnTo>
                  <a:pt x="18264864" y="0"/>
                </a:lnTo>
                <a:lnTo>
                  <a:pt x="18264864" y="10273986"/>
                </a:lnTo>
                <a:lnTo>
                  <a:pt x="0" y="1027398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44" name="TextBox 44"/>
          <p:cNvSpPr txBox="1"/>
          <p:nvPr/>
        </p:nvSpPr>
        <p:spPr>
          <a:xfrm>
            <a:off x="1028700" y="866557"/>
            <a:ext cx="15984931" cy="7437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5817"/>
              </a:lnSpc>
            </a:pPr>
            <a:r>
              <a:rPr lang="en-US" sz="6463" b="1" spc="-323" dirty="0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Backlog Atual (7/9)</a:t>
            </a:r>
            <a:r>
              <a:rPr lang="en-US" sz="6463" b="1" spc="-323" dirty="0" err="1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/>
            </a:r>
            <a:endParaRPr lang="en-US" sz="6463" b="1" spc="-323" dirty="0">
              <a:solidFill>
                <a:srgbClr val="E2D8D0"/>
              </a:solidFill>
              <a:latin typeface="General Sans 1 Semi-Bold"/>
              <a:ea typeface="General Sans 1 Semi-Bold"/>
              <a:cs typeface="General Sans 1 Semi-Bold"/>
              <a:sym typeface="General Sans 1 Semi-Bold"/>
            </a:endParaRPr>
          </a:p>
        </p:txBody>
      </p:sp>
      <p:graphicFrame>
        <p:nvGraphicFramePr>
          <p:cNvPr id="47" name="Tabela 46">
            <a:extLst>
              <a:ext uri="{FF2B5EF4-FFF2-40B4-BE49-F238E27FC236}">
                <a16:creationId xmlns:a16="http://schemas.microsoft.com/office/drawing/2014/main" id="{3138E084-B381-B7E5-1072-9CC52CEED8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71321813"/>
              </p:ext>
            </p:extLst>
          </p:nvPr>
        </p:nvGraphicFramePr>
        <p:xfrm>
          <a:off x="1028700" y="2095500"/>
          <a:ext cx="16344900" cy="6859319"/>
        </p:xfrm>
        <a:graphic>
          <a:graphicData uri="http://schemas.openxmlformats.org/drawingml/2006/table">
            <a:tbl>
              <a:tblPr firstRow="1">
                <a:noFill/>
                <a:tableStyleId>{5C22544A-7EE6-4342-B048-85BDC9FD1C3A}</a:tableStyleId>
              </a:tblPr>
              <a:tblGrid>
                <a:gridCol w="990600">
                  <a:extLst>
                    <a:ext uri="{9D8B030D-6E8A-4147-A177-3AD203B41FA5}">
                      <a16:colId xmlns:a16="http://schemas.microsoft.com/office/drawing/2014/main" val="2790148474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3534790803"/>
                    </a:ext>
                  </a:extLst>
                </a:gridCol>
                <a:gridCol w="755299">
                  <a:extLst>
                    <a:ext uri="{9D8B030D-6E8A-4147-A177-3AD203B41FA5}">
                      <a16:colId xmlns:a16="http://schemas.microsoft.com/office/drawing/2014/main" val="3248296162"/>
                    </a:ext>
                  </a:extLst>
                </a:gridCol>
                <a:gridCol w="5010912">
                  <a:extLst>
                    <a:ext uri="{9D8B030D-6E8A-4147-A177-3AD203B41FA5}">
                      <a16:colId xmlns:a16="http://schemas.microsoft.com/office/drawing/2014/main" val="3547482831"/>
                    </a:ext>
                  </a:extLst>
                </a:gridCol>
                <a:gridCol w="1477577">
                  <a:extLst>
                    <a:ext uri="{9D8B030D-6E8A-4147-A177-3AD203B41FA5}">
                      <a16:colId xmlns:a16="http://schemas.microsoft.com/office/drawing/2014/main" val="1940100698"/>
                    </a:ext>
                  </a:extLst>
                </a:gridCol>
                <a:gridCol w="1747812">
                  <a:extLst>
                    <a:ext uri="{9D8B030D-6E8A-4147-A177-3AD203B41FA5}">
                      <a16:colId xmlns:a16="http://schemas.microsoft.com/office/drawing/2014/main" val="4162823438"/>
                    </a:ext>
                  </a:extLst>
                </a:gridCol>
                <a:gridCol w="5600700">
                  <a:extLst>
                    <a:ext uri="{9D8B030D-6E8A-4147-A177-3AD203B41FA5}">
                      <a16:colId xmlns:a16="http://schemas.microsoft.com/office/drawing/2014/main" val="374501397"/>
                    </a:ext>
                  </a:extLst>
                </a:gridCol>
              </a:tblGrid>
              <a:tr h="499319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200" b="1" kern="1200" dirty="0">
                          <a:solidFill>
                            <a:schemeClr val="dk1"/>
                          </a:solidFill>
                          <a:latin typeface="General Sans 1 Light" panose="020B0604020202020204" charset="0"/>
                          <a:ea typeface="+mn-ea"/>
                          <a:cs typeface="+mn-cs"/>
                        </a:rPr>
                        <a:t>SPRINT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200" b="1" kern="1200" dirty="0">
                          <a:solidFill>
                            <a:schemeClr val="dk1"/>
                          </a:solidFill>
                          <a:latin typeface="General Sans 1 Light" panose="020B0604020202020204" charset="0"/>
                          <a:ea typeface="+mn-ea"/>
                          <a:cs typeface="+mn-cs"/>
                        </a:rPr>
                        <a:t>ID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200" b="1" kern="1200" dirty="0">
                          <a:solidFill>
                            <a:schemeClr val="dk1"/>
                          </a:solidFill>
                          <a:latin typeface="General Sans 1 Light" panose="020B0604020202020204" charset="0"/>
                          <a:ea typeface="+mn-ea"/>
                          <a:cs typeface="+mn-cs"/>
                        </a:rPr>
                        <a:t>TIPO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200" b="1" kern="1200" dirty="0">
                          <a:solidFill>
                            <a:schemeClr val="dk1"/>
                          </a:solidFill>
                          <a:latin typeface="General Sans 1 Light" panose="020B0604020202020204" charset="0"/>
                          <a:ea typeface="+mn-ea"/>
                          <a:cs typeface="+mn-cs"/>
                        </a:rPr>
                        <a:t>TÍTULO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200" b="1" kern="1200" dirty="0">
                          <a:solidFill>
                            <a:schemeClr val="dk1"/>
                          </a:solidFill>
                          <a:latin typeface="General Sans 1 Light" panose="020B0604020202020204" charset="0"/>
                          <a:ea typeface="+mn-ea"/>
                          <a:cs typeface="+mn-cs"/>
                        </a:rPr>
                        <a:t>DATA DE ABERTURA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200" b="1" kern="1200" dirty="0">
                          <a:solidFill>
                            <a:schemeClr val="dk1"/>
                          </a:solidFill>
                          <a:latin typeface="General Sans 1 Light" panose="020B0604020202020204" charset="0"/>
                          <a:ea typeface="+mn-ea"/>
                          <a:cs typeface="+mn-cs"/>
                        </a:rPr>
                        <a:t>STATUS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200" b="1" kern="1200" dirty="0">
                          <a:solidFill>
                            <a:schemeClr val="dk1"/>
                          </a:solidFill>
                          <a:latin typeface="General Sans 1 Light" panose="020B0604020202020204" charset="0"/>
                          <a:ea typeface="+mn-ea"/>
                          <a:cs typeface="+mn-cs"/>
                        </a:rPr>
                        <a:t>OBSERVAÇÕES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52205541"/>
                  </a:ext>
                </a:extLst>
              </a:tr>
              <a:tr h="82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Backlog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35775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Melhoria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[COMPRA RECORRENTE] Admin de Compras Recorrentes (Gerenciamento)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30/01/2026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New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Sem responsável atribuído. A fazer: Como cliente Quero gerenciar minhas compras recorrentes em Minha Conta Para pausar, cancelar, reativar ou ajustar minha recorrência Escopo - Tela “Minhas Compra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82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Backlog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35774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Melhoria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[COMPRA RECORRENTE] Identificação da Compra Recorrente em Meus Pedidos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30/01/2026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New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Sem responsável atribuído. A fazer: Como cliente Quero identificar facilmente meus pedidos recorrentes Para acessar o gerenciamento quando necessário Escopo - Exibir tag de Compra Recorrente na li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82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Backlog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35773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Melhoria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[COMPRA RECORRENTE] Regras de Preço, Descontos e Operação da Recorrência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30/01/2026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New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Sem responsável atribuído. A fazer: Como cliente Quero entender claramente como funcionam preços, descontos e frete da recorrência Para confiar no programa Escopo - 10% de desconto adicional aplic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82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Backlog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35772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Melhoria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[COMPRA RECORRENTE] Carrinho e Checkout com Compra Recorrente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30/01/2026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New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Sem responsável atribuído. A fazer: Como cliente Quero visualizar e confirmar minha compra recorrente no carrinho e checkout Para finalizar a contratação com clareza Escopo - Exibir no carrinho: -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82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Backlog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35771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Melhoria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[COMPRA RECORRENTE] Contratação da Compra Recorrente na PDP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30/01/2026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New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Sem responsável atribuído. A fazer: Como cliente do e-commerce Quero escolher entre Compra Única ou Compra Recorrente na PDP Para decidir receber meus produtos automaticamente em uma frequência fi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62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Backlog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35285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Melhoria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Exibir até 4 produtos por categoria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15/01/2026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New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Sem responsável atribuído. A fazer: Como cliente, quero ver mais opções por categoria (até 4) para comparar melhor as recomendações.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82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Backlog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35284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Melhoria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Remover opção “Máscara” e ajustar impactos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15/01/2026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New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Sem responsável atribuído. A fazer: Como cliente, não devo ver a opção “Máscara” no Quiz nem ter recomendações de máscara no resultado ou no cronograma capilar.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82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Backlog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35283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Melhoria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Aplicar UI do Quiz conforme Figma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15/01/2026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New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Sem responsável atribuído. A fazer: Como cliente, quero uma interface do Quiz igual ao Figma, g arantindo responsividade e alinhamento com o restante do produto.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</a:tbl>
          </a:graphicData>
        </a:graphic>
      </p:graphicFrame>
      <p:pic>
        <p:nvPicPr>
          <p:cNvPr id="4" name="Gráfico 3" descr="Área de Transferência Toda Marcada com preenchimento sólido">
            <a:extLst>
              <a:ext uri="{FF2B5EF4-FFF2-40B4-BE49-F238E27FC236}">
                <a16:creationId xmlns:a16="http://schemas.microsoft.com/office/drawing/2014/main" id="{F255DE0D-1078-185E-CC17-D7AC6730335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374336" y="781253"/>
            <a:ext cx="914400" cy="914400"/>
          </a:xfrm>
          <a:prstGeom prst="rect">
            <a:avLst/>
          </a:prstGeom>
        </p:spPr>
      </p:pic>
      <p:sp>
        <p:nvSpPr>
          <p:cNvPr id="6" name="TextBox 6">
            <a:extLst>
              <a:ext uri="{FF2B5EF4-FFF2-40B4-BE49-F238E27FC236}">
                <a16:creationId xmlns:a16="http://schemas.microsoft.com/office/drawing/2014/main" id="{4985DC11-4802-429A-BB94-76F88832976C}"/>
              </a:ext>
            </a:extLst>
          </p:cNvPr>
          <p:cNvSpPr txBox="1"/>
          <p:nvPr/>
        </p:nvSpPr>
        <p:spPr>
          <a:xfrm>
            <a:off x="12495486" y="793679"/>
            <a:ext cx="2611609" cy="8895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92"/>
              </a:lnSpc>
            </a:pPr>
            <a:r>
              <a:rPr lang="en-US" sz="5976" b="1" dirty="0">
                <a:solidFill>
                  <a:srgbClr val="FFFFFF">
                    <a:alpha val="87843"/>
                  </a:srgbClr>
                </a:solidFill>
                <a:latin typeface="Inter Heavy"/>
                <a:ea typeface="Inter Heavy"/>
                <a:cs typeface="Inter Heavy"/>
                <a:sym typeface="Inter Heavy"/>
              </a:rPr>
              <a:t>81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5FAF77E-9A51-88B8-24A4-30FF3A5C59C3}"/>
              </a:ext>
            </a:extLst>
          </p:cNvPr>
          <p:cNvSpPr txBox="1"/>
          <p:nvPr/>
        </p:nvSpPr>
        <p:spPr>
          <a:xfrm>
            <a:off x="14401800" y="952500"/>
            <a:ext cx="1810195" cy="53860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algn="ctr">
              <a:lnSpc>
                <a:spcPts val="2088"/>
              </a:lnSpc>
              <a:defRPr sz="2000" b="1" spc="132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</a:defRPr>
            </a:lvl1pPr>
          </a:lstStyle>
          <a:p>
            <a:pPr algn="l"/>
            <a:r>
              <a:rPr lang="en-US" sz="1800" dirty="0" err="1">
                <a:sym typeface="General Sans 2 Medium"/>
              </a:rPr>
              <a:t>Ítens</a:t>
            </a:r>
            <a:r>
              <a:rPr lang="en-US" sz="1800" b="0" dirty="0">
                <a:sym typeface="General Sans 2 Medium"/>
              </a:rPr>
              <a:t> </a:t>
            </a:r>
            <a:r>
              <a:rPr lang="en-US" sz="1800" dirty="0" err="1">
                <a:sym typeface="General Sans 2 Medium"/>
              </a:rPr>
              <a:t>Pendentes</a:t>
            </a:r>
            <a:endParaRPr lang="en-US" sz="1800" dirty="0">
              <a:sym typeface="General Sans 2 Medium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2"/>
          <p:cNvSpPr/>
          <p:nvPr/>
        </p:nvSpPr>
        <p:spPr>
          <a:xfrm>
            <a:off x="0" y="0"/>
            <a:ext cx="18264864" cy="10273986"/>
          </a:xfrm>
          <a:custGeom>
            <a:avLst/>
            <a:gdLst/>
            <a:ahLst/>
            <a:cxnLst/>
            <a:rect l="l" t="t" r="r" b="b"/>
            <a:pathLst>
              <a:path w="18264864" h="10273986">
                <a:moveTo>
                  <a:pt x="0" y="0"/>
                </a:moveTo>
                <a:lnTo>
                  <a:pt x="18264864" y="0"/>
                </a:lnTo>
                <a:lnTo>
                  <a:pt x="18264864" y="10273986"/>
                </a:lnTo>
                <a:lnTo>
                  <a:pt x="0" y="1027398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44" name="TextBox 44"/>
          <p:cNvSpPr txBox="1"/>
          <p:nvPr/>
        </p:nvSpPr>
        <p:spPr>
          <a:xfrm>
            <a:off x="1028700" y="866557"/>
            <a:ext cx="15984931" cy="7437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5817"/>
              </a:lnSpc>
            </a:pPr>
            <a:r>
              <a:rPr lang="en-US" sz="6463" b="1" spc="-323" dirty="0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Backlog Atual (8/9)</a:t>
            </a:r>
            <a:r>
              <a:rPr lang="en-US" sz="6463" b="1" spc="-323" dirty="0" err="1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/>
            </a:r>
            <a:endParaRPr lang="en-US" sz="6463" b="1" spc="-323" dirty="0">
              <a:solidFill>
                <a:srgbClr val="E2D8D0"/>
              </a:solidFill>
              <a:latin typeface="General Sans 1 Semi-Bold"/>
              <a:ea typeface="General Sans 1 Semi-Bold"/>
              <a:cs typeface="General Sans 1 Semi-Bold"/>
              <a:sym typeface="General Sans 1 Semi-Bold"/>
            </a:endParaRPr>
          </a:p>
        </p:txBody>
      </p:sp>
      <p:graphicFrame>
        <p:nvGraphicFramePr>
          <p:cNvPr id="47" name="Tabela 46">
            <a:extLst>
              <a:ext uri="{FF2B5EF4-FFF2-40B4-BE49-F238E27FC236}">
                <a16:creationId xmlns:a16="http://schemas.microsoft.com/office/drawing/2014/main" id="{3138E084-B381-B7E5-1072-9CC52CEED8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71321813"/>
              </p:ext>
            </p:extLst>
          </p:nvPr>
        </p:nvGraphicFramePr>
        <p:xfrm>
          <a:off x="1028700" y="2095500"/>
          <a:ext cx="16344900" cy="7279319"/>
        </p:xfrm>
        <a:graphic>
          <a:graphicData uri="http://schemas.openxmlformats.org/drawingml/2006/table">
            <a:tbl>
              <a:tblPr firstRow="1">
                <a:noFill/>
                <a:tableStyleId>{5C22544A-7EE6-4342-B048-85BDC9FD1C3A}</a:tableStyleId>
              </a:tblPr>
              <a:tblGrid>
                <a:gridCol w="990600">
                  <a:extLst>
                    <a:ext uri="{9D8B030D-6E8A-4147-A177-3AD203B41FA5}">
                      <a16:colId xmlns:a16="http://schemas.microsoft.com/office/drawing/2014/main" val="2790148474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3534790803"/>
                    </a:ext>
                  </a:extLst>
                </a:gridCol>
                <a:gridCol w="755299">
                  <a:extLst>
                    <a:ext uri="{9D8B030D-6E8A-4147-A177-3AD203B41FA5}">
                      <a16:colId xmlns:a16="http://schemas.microsoft.com/office/drawing/2014/main" val="3248296162"/>
                    </a:ext>
                  </a:extLst>
                </a:gridCol>
                <a:gridCol w="5010912">
                  <a:extLst>
                    <a:ext uri="{9D8B030D-6E8A-4147-A177-3AD203B41FA5}">
                      <a16:colId xmlns:a16="http://schemas.microsoft.com/office/drawing/2014/main" val="3547482831"/>
                    </a:ext>
                  </a:extLst>
                </a:gridCol>
                <a:gridCol w="1477577">
                  <a:extLst>
                    <a:ext uri="{9D8B030D-6E8A-4147-A177-3AD203B41FA5}">
                      <a16:colId xmlns:a16="http://schemas.microsoft.com/office/drawing/2014/main" val="1940100698"/>
                    </a:ext>
                  </a:extLst>
                </a:gridCol>
                <a:gridCol w="1747812">
                  <a:extLst>
                    <a:ext uri="{9D8B030D-6E8A-4147-A177-3AD203B41FA5}">
                      <a16:colId xmlns:a16="http://schemas.microsoft.com/office/drawing/2014/main" val="4162823438"/>
                    </a:ext>
                  </a:extLst>
                </a:gridCol>
                <a:gridCol w="5600700">
                  <a:extLst>
                    <a:ext uri="{9D8B030D-6E8A-4147-A177-3AD203B41FA5}">
                      <a16:colId xmlns:a16="http://schemas.microsoft.com/office/drawing/2014/main" val="374501397"/>
                    </a:ext>
                  </a:extLst>
                </a:gridCol>
              </a:tblGrid>
              <a:tr h="499319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200" b="1" kern="1200" dirty="0">
                          <a:solidFill>
                            <a:schemeClr val="dk1"/>
                          </a:solidFill>
                          <a:latin typeface="General Sans 1 Light" panose="020B0604020202020204" charset="0"/>
                          <a:ea typeface="+mn-ea"/>
                          <a:cs typeface="+mn-cs"/>
                        </a:rPr>
                        <a:t>SPRINT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200" b="1" kern="1200" dirty="0">
                          <a:solidFill>
                            <a:schemeClr val="dk1"/>
                          </a:solidFill>
                          <a:latin typeface="General Sans 1 Light" panose="020B0604020202020204" charset="0"/>
                          <a:ea typeface="+mn-ea"/>
                          <a:cs typeface="+mn-cs"/>
                        </a:rPr>
                        <a:t>ID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200" b="1" kern="1200" dirty="0">
                          <a:solidFill>
                            <a:schemeClr val="dk1"/>
                          </a:solidFill>
                          <a:latin typeface="General Sans 1 Light" panose="020B0604020202020204" charset="0"/>
                          <a:ea typeface="+mn-ea"/>
                          <a:cs typeface="+mn-cs"/>
                        </a:rPr>
                        <a:t>TIPO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200" b="1" kern="1200" dirty="0">
                          <a:solidFill>
                            <a:schemeClr val="dk1"/>
                          </a:solidFill>
                          <a:latin typeface="General Sans 1 Light" panose="020B0604020202020204" charset="0"/>
                          <a:ea typeface="+mn-ea"/>
                          <a:cs typeface="+mn-cs"/>
                        </a:rPr>
                        <a:t>TÍTULO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200" b="1" kern="1200" dirty="0">
                          <a:solidFill>
                            <a:schemeClr val="dk1"/>
                          </a:solidFill>
                          <a:latin typeface="General Sans 1 Light" panose="020B0604020202020204" charset="0"/>
                          <a:ea typeface="+mn-ea"/>
                          <a:cs typeface="+mn-cs"/>
                        </a:rPr>
                        <a:t>DATA DE ABERTURA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200" b="1" kern="1200" dirty="0">
                          <a:solidFill>
                            <a:schemeClr val="dk1"/>
                          </a:solidFill>
                          <a:latin typeface="General Sans 1 Light" panose="020B0604020202020204" charset="0"/>
                          <a:ea typeface="+mn-ea"/>
                          <a:cs typeface="+mn-cs"/>
                        </a:rPr>
                        <a:t>STATUS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200" b="1" kern="1200" dirty="0">
                          <a:solidFill>
                            <a:schemeClr val="dk1"/>
                          </a:solidFill>
                          <a:latin typeface="General Sans 1 Light" panose="020B0604020202020204" charset="0"/>
                          <a:ea typeface="+mn-ea"/>
                          <a:cs typeface="+mn-cs"/>
                        </a:rPr>
                        <a:t>OBSERVAÇÕES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52205541"/>
                  </a:ext>
                </a:extLst>
              </a:tr>
              <a:tr h="82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Backlog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27864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Melhoria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Melhorar experiência do usuário deslogado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05/06/2025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New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Responsável: Marcus Linck. A fazer: Realizar análise para melhor experiência do usuário na confirmação do pedido quando for usuário deslogado.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62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Backlog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27152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Melhoria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Criar a autenticação para acessar as paginas de config personalizadas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05/05/2025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New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Responsável: Marcus Linck. A fazer: Criar a autenticação pela conta do painel admin para acessar as paginas de config personalizadas.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82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Backlog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24585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Melhoria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Melhoria na Experiência do Usuário – Mensagem no Modal de CPF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30/01/2025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New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Sem responsável atribuído. A fazer: Descrição: Atualmente, ao fazer login via login social e avançar para o checkout sem um CPF cadastrado, um modal é exibido solicitando o preenchimento do CPF.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62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Backlog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21540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Bug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Bug de espaçamento no header ao renderizar a pagina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29/11/2024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New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Sem responsável atribuído. Item em aberto, sem descrição recente no card.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82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Backlog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21214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Melhoria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Autenticação Apple - ( Sign in with Apple )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19/11/2024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New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Responsável: Lucas Borges. A fazer: Boa tarde time, Recebi a seguinte demanda do time de desenvolvimento do APP, gostaria que avaliassem e caso tenham duvidas formalizem neste card e se necessário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82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Backlog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19425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Melhoria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Cotação de Frete na Pagina de Produtos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25/09/2024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New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Sem responsável atribuído. A fazer: Boa tarde 😉 Podem verificar a cotação de frete via pagina de produtos, parece não considerar a quantidade informada pelo cliente.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82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Backlog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17326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Melhoria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Implementação de Content Security Policy (CSP)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05/08/2024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New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Sem responsável atribuído. A fazer: Implementar uma Content Security Policy (CSP) para aumentar a segurança do site, mitigando ataques XSS e controlando a origem dos recursos carregados.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82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Backlog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13805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Melhoria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Realizar a atualização automática do site map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21/05/2024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New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Responsável: Lucas Borges. A fazer: Conforme conversamos na reunião junto com o time de SEO no dia 18/09/24, precisamos perguntar para o Suporte da Oracle/Langer como podemos automatizar a atualiz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62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Backlog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10106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Bug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Botões para contato da pagina "central de relacionamento" não funciona no mobile. 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19/01/2024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New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Sem responsável atribuído. Item em aberto, sem descrição recente no card.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</a:tbl>
          </a:graphicData>
        </a:graphic>
      </p:graphicFrame>
      <p:pic>
        <p:nvPicPr>
          <p:cNvPr id="4" name="Gráfico 3" descr="Área de Transferência Toda Marcada com preenchimento sólido">
            <a:extLst>
              <a:ext uri="{FF2B5EF4-FFF2-40B4-BE49-F238E27FC236}">
                <a16:creationId xmlns:a16="http://schemas.microsoft.com/office/drawing/2014/main" id="{F255DE0D-1078-185E-CC17-D7AC6730335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374336" y="781253"/>
            <a:ext cx="914400" cy="914400"/>
          </a:xfrm>
          <a:prstGeom prst="rect">
            <a:avLst/>
          </a:prstGeom>
        </p:spPr>
      </p:pic>
      <p:sp>
        <p:nvSpPr>
          <p:cNvPr id="6" name="TextBox 6">
            <a:extLst>
              <a:ext uri="{FF2B5EF4-FFF2-40B4-BE49-F238E27FC236}">
                <a16:creationId xmlns:a16="http://schemas.microsoft.com/office/drawing/2014/main" id="{4985DC11-4802-429A-BB94-76F88832976C}"/>
              </a:ext>
            </a:extLst>
          </p:cNvPr>
          <p:cNvSpPr txBox="1"/>
          <p:nvPr/>
        </p:nvSpPr>
        <p:spPr>
          <a:xfrm>
            <a:off x="12495486" y="793679"/>
            <a:ext cx="2611609" cy="8895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92"/>
              </a:lnSpc>
            </a:pPr>
            <a:r>
              <a:rPr lang="en-US" sz="5976" b="1" dirty="0">
                <a:solidFill>
                  <a:srgbClr val="FFFFFF">
                    <a:alpha val="87843"/>
                  </a:srgbClr>
                </a:solidFill>
                <a:latin typeface="Inter Heavy"/>
                <a:ea typeface="Inter Heavy"/>
                <a:cs typeface="Inter Heavy"/>
                <a:sym typeface="Inter Heavy"/>
              </a:rPr>
              <a:t>81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5FAF77E-9A51-88B8-24A4-30FF3A5C59C3}"/>
              </a:ext>
            </a:extLst>
          </p:cNvPr>
          <p:cNvSpPr txBox="1"/>
          <p:nvPr/>
        </p:nvSpPr>
        <p:spPr>
          <a:xfrm>
            <a:off x="14401800" y="952500"/>
            <a:ext cx="1810195" cy="53860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algn="ctr">
              <a:lnSpc>
                <a:spcPts val="2088"/>
              </a:lnSpc>
              <a:defRPr sz="2000" b="1" spc="132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</a:defRPr>
            </a:lvl1pPr>
          </a:lstStyle>
          <a:p>
            <a:pPr algn="l"/>
            <a:r>
              <a:rPr lang="en-US" sz="1800" dirty="0" err="1">
                <a:sym typeface="General Sans 2 Medium"/>
              </a:rPr>
              <a:t>Ítens</a:t>
            </a:r>
            <a:r>
              <a:rPr lang="en-US" sz="1800" b="0" dirty="0">
                <a:sym typeface="General Sans 2 Medium"/>
              </a:rPr>
              <a:t> </a:t>
            </a:r>
            <a:r>
              <a:rPr lang="en-US" sz="1800" dirty="0" err="1">
                <a:sym typeface="General Sans 2 Medium"/>
              </a:rPr>
              <a:t>Pendentes</a:t>
            </a:r>
            <a:endParaRPr lang="en-US" sz="1800" dirty="0">
              <a:sym typeface="General Sans 2 Medium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2"/>
          <p:cNvSpPr/>
          <p:nvPr/>
        </p:nvSpPr>
        <p:spPr>
          <a:xfrm>
            <a:off x="0" y="0"/>
            <a:ext cx="18264864" cy="10273986"/>
          </a:xfrm>
          <a:custGeom>
            <a:avLst/>
            <a:gdLst/>
            <a:ahLst/>
            <a:cxnLst/>
            <a:rect l="l" t="t" r="r" b="b"/>
            <a:pathLst>
              <a:path w="18264864" h="10273986">
                <a:moveTo>
                  <a:pt x="0" y="0"/>
                </a:moveTo>
                <a:lnTo>
                  <a:pt x="18264864" y="0"/>
                </a:lnTo>
                <a:lnTo>
                  <a:pt x="18264864" y="10273986"/>
                </a:lnTo>
                <a:lnTo>
                  <a:pt x="0" y="1027398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44" name="TextBox 44"/>
          <p:cNvSpPr txBox="1"/>
          <p:nvPr/>
        </p:nvSpPr>
        <p:spPr>
          <a:xfrm>
            <a:off x="1028700" y="866557"/>
            <a:ext cx="15984931" cy="7437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5817"/>
              </a:lnSpc>
            </a:pPr>
            <a:r>
              <a:rPr lang="en-US" sz="6463" b="1" spc="-323" dirty="0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Backlog Atual (9/9)</a:t>
            </a:r>
            <a:r>
              <a:rPr lang="en-US" sz="6463" b="1" spc="-323" dirty="0" err="1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/>
            </a:r>
            <a:endParaRPr lang="en-US" sz="6463" b="1" spc="-323" dirty="0">
              <a:solidFill>
                <a:srgbClr val="E2D8D0"/>
              </a:solidFill>
              <a:latin typeface="General Sans 1 Semi-Bold"/>
              <a:ea typeface="General Sans 1 Semi-Bold"/>
              <a:cs typeface="General Sans 1 Semi-Bold"/>
              <a:sym typeface="General Sans 1 Semi-Bold"/>
            </a:endParaRPr>
          </a:p>
        </p:txBody>
      </p:sp>
      <p:graphicFrame>
        <p:nvGraphicFramePr>
          <p:cNvPr id="47" name="Tabela 46">
            <a:extLst>
              <a:ext uri="{FF2B5EF4-FFF2-40B4-BE49-F238E27FC236}">
                <a16:creationId xmlns:a16="http://schemas.microsoft.com/office/drawing/2014/main" id="{3138E084-B381-B7E5-1072-9CC52CEED8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71321813"/>
              </p:ext>
            </p:extLst>
          </p:nvPr>
        </p:nvGraphicFramePr>
        <p:xfrm>
          <a:off x="1028700" y="2095500"/>
          <a:ext cx="16344900" cy="2979319"/>
        </p:xfrm>
        <a:graphic>
          <a:graphicData uri="http://schemas.openxmlformats.org/drawingml/2006/table">
            <a:tbl>
              <a:tblPr firstRow="1">
                <a:noFill/>
                <a:tableStyleId>{5C22544A-7EE6-4342-B048-85BDC9FD1C3A}</a:tableStyleId>
              </a:tblPr>
              <a:tblGrid>
                <a:gridCol w="990600">
                  <a:extLst>
                    <a:ext uri="{9D8B030D-6E8A-4147-A177-3AD203B41FA5}">
                      <a16:colId xmlns:a16="http://schemas.microsoft.com/office/drawing/2014/main" val="2790148474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3534790803"/>
                    </a:ext>
                  </a:extLst>
                </a:gridCol>
                <a:gridCol w="755299">
                  <a:extLst>
                    <a:ext uri="{9D8B030D-6E8A-4147-A177-3AD203B41FA5}">
                      <a16:colId xmlns:a16="http://schemas.microsoft.com/office/drawing/2014/main" val="3248296162"/>
                    </a:ext>
                  </a:extLst>
                </a:gridCol>
                <a:gridCol w="5010912">
                  <a:extLst>
                    <a:ext uri="{9D8B030D-6E8A-4147-A177-3AD203B41FA5}">
                      <a16:colId xmlns:a16="http://schemas.microsoft.com/office/drawing/2014/main" val="3547482831"/>
                    </a:ext>
                  </a:extLst>
                </a:gridCol>
                <a:gridCol w="1477577">
                  <a:extLst>
                    <a:ext uri="{9D8B030D-6E8A-4147-A177-3AD203B41FA5}">
                      <a16:colId xmlns:a16="http://schemas.microsoft.com/office/drawing/2014/main" val="1940100698"/>
                    </a:ext>
                  </a:extLst>
                </a:gridCol>
                <a:gridCol w="1747812">
                  <a:extLst>
                    <a:ext uri="{9D8B030D-6E8A-4147-A177-3AD203B41FA5}">
                      <a16:colId xmlns:a16="http://schemas.microsoft.com/office/drawing/2014/main" val="4162823438"/>
                    </a:ext>
                  </a:extLst>
                </a:gridCol>
                <a:gridCol w="5600700">
                  <a:extLst>
                    <a:ext uri="{9D8B030D-6E8A-4147-A177-3AD203B41FA5}">
                      <a16:colId xmlns:a16="http://schemas.microsoft.com/office/drawing/2014/main" val="374501397"/>
                    </a:ext>
                  </a:extLst>
                </a:gridCol>
              </a:tblGrid>
              <a:tr h="499319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200" b="1" kern="1200" dirty="0">
                          <a:solidFill>
                            <a:schemeClr val="dk1"/>
                          </a:solidFill>
                          <a:latin typeface="General Sans 1 Light" panose="020B0604020202020204" charset="0"/>
                          <a:ea typeface="+mn-ea"/>
                          <a:cs typeface="+mn-cs"/>
                        </a:rPr>
                        <a:t>SPRINT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200" b="1" kern="1200" dirty="0">
                          <a:solidFill>
                            <a:schemeClr val="dk1"/>
                          </a:solidFill>
                          <a:latin typeface="General Sans 1 Light" panose="020B0604020202020204" charset="0"/>
                          <a:ea typeface="+mn-ea"/>
                          <a:cs typeface="+mn-cs"/>
                        </a:rPr>
                        <a:t>ID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200" b="1" kern="1200" dirty="0">
                          <a:solidFill>
                            <a:schemeClr val="dk1"/>
                          </a:solidFill>
                          <a:latin typeface="General Sans 1 Light" panose="020B0604020202020204" charset="0"/>
                          <a:ea typeface="+mn-ea"/>
                          <a:cs typeface="+mn-cs"/>
                        </a:rPr>
                        <a:t>TIPO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200" b="1" kern="1200" dirty="0">
                          <a:solidFill>
                            <a:schemeClr val="dk1"/>
                          </a:solidFill>
                          <a:latin typeface="General Sans 1 Light" panose="020B0604020202020204" charset="0"/>
                          <a:ea typeface="+mn-ea"/>
                          <a:cs typeface="+mn-cs"/>
                        </a:rPr>
                        <a:t>TÍTULO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200" b="1" kern="1200" dirty="0">
                          <a:solidFill>
                            <a:schemeClr val="dk1"/>
                          </a:solidFill>
                          <a:latin typeface="General Sans 1 Light" panose="020B0604020202020204" charset="0"/>
                          <a:ea typeface="+mn-ea"/>
                          <a:cs typeface="+mn-cs"/>
                        </a:rPr>
                        <a:t>DATA DE ABERTURA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200" b="1" kern="1200" dirty="0">
                          <a:solidFill>
                            <a:schemeClr val="dk1"/>
                          </a:solidFill>
                          <a:latin typeface="General Sans 1 Light" panose="020B0604020202020204" charset="0"/>
                          <a:ea typeface="+mn-ea"/>
                          <a:cs typeface="+mn-cs"/>
                        </a:rPr>
                        <a:t>STATUS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200" b="1" kern="1200" dirty="0">
                          <a:solidFill>
                            <a:schemeClr val="dk1"/>
                          </a:solidFill>
                          <a:latin typeface="General Sans 1 Light" panose="020B0604020202020204" charset="0"/>
                          <a:ea typeface="+mn-ea"/>
                          <a:cs typeface="+mn-cs"/>
                        </a:rPr>
                        <a:t>OBSERVAÇÕES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52205541"/>
                  </a:ext>
                </a:extLst>
              </a:tr>
              <a:tr h="62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Backlog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10105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Bug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Desktop não está responsivo 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19/01/2024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New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Sem responsável atribuído. Item em aberto, sem descrição recente no card.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62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Backlog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9409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Bug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Exibição em telas pequenas está quebrando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20/12/2023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New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Sem responsável atribuído. Item em aberto, sem descrição recente no card.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62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Backlog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9302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Bug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Divergência request de Cotação de frete - ENDEREÇO PRINCIPAL VS SECUNDÁRIO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15/12/2023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New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Responsável: Lucas Borges. Item em aberto, sem descrição recente no card.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62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Backlog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9211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Bug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Pedido com quantidades e valores divergentes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07/12/2023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New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Responsável: Gianluca Ferreira. Item em aberto, sem descrição recente no card.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</a:tbl>
          </a:graphicData>
        </a:graphic>
      </p:graphicFrame>
      <p:pic>
        <p:nvPicPr>
          <p:cNvPr id="4" name="Gráfico 3" descr="Área de Transferência Toda Marcada com preenchimento sólido">
            <a:extLst>
              <a:ext uri="{FF2B5EF4-FFF2-40B4-BE49-F238E27FC236}">
                <a16:creationId xmlns:a16="http://schemas.microsoft.com/office/drawing/2014/main" id="{F255DE0D-1078-185E-CC17-D7AC6730335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374336" y="781253"/>
            <a:ext cx="914400" cy="914400"/>
          </a:xfrm>
          <a:prstGeom prst="rect">
            <a:avLst/>
          </a:prstGeom>
        </p:spPr>
      </p:pic>
      <p:sp>
        <p:nvSpPr>
          <p:cNvPr id="6" name="TextBox 6">
            <a:extLst>
              <a:ext uri="{FF2B5EF4-FFF2-40B4-BE49-F238E27FC236}">
                <a16:creationId xmlns:a16="http://schemas.microsoft.com/office/drawing/2014/main" id="{4985DC11-4802-429A-BB94-76F88832976C}"/>
              </a:ext>
            </a:extLst>
          </p:cNvPr>
          <p:cNvSpPr txBox="1"/>
          <p:nvPr/>
        </p:nvSpPr>
        <p:spPr>
          <a:xfrm>
            <a:off x="12495486" y="793679"/>
            <a:ext cx="2611609" cy="8895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92"/>
              </a:lnSpc>
            </a:pPr>
            <a:r>
              <a:rPr lang="en-US" sz="5976" b="1" dirty="0">
                <a:solidFill>
                  <a:srgbClr val="FFFFFF">
                    <a:alpha val="87843"/>
                  </a:srgbClr>
                </a:solidFill>
                <a:latin typeface="Inter Heavy"/>
                <a:ea typeface="Inter Heavy"/>
                <a:cs typeface="Inter Heavy"/>
                <a:sym typeface="Inter Heavy"/>
              </a:rPr>
              <a:t>81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5FAF77E-9A51-88B8-24A4-30FF3A5C59C3}"/>
              </a:ext>
            </a:extLst>
          </p:cNvPr>
          <p:cNvSpPr txBox="1"/>
          <p:nvPr/>
        </p:nvSpPr>
        <p:spPr>
          <a:xfrm>
            <a:off x="14401800" y="952500"/>
            <a:ext cx="1810195" cy="53860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algn="ctr">
              <a:lnSpc>
                <a:spcPts val="2088"/>
              </a:lnSpc>
              <a:defRPr sz="2000" b="1" spc="132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</a:defRPr>
            </a:lvl1pPr>
          </a:lstStyle>
          <a:p>
            <a:pPr algn="l"/>
            <a:r>
              <a:rPr lang="en-US" sz="1800" dirty="0" err="1">
                <a:sym typeface="General Sans 2 Medium"/>
              </a:rPr>
              <a:t>Ítens</a:t>
            </a:r>
            <a:r>
              <a:rPr lang="en-US" sz="1800" b="0" dirty="0">
                <a:sym typeface="General Sans 2 Medium"/>
              </a:rPr>
              <a:t> </a:t>
            </a:r>
            <a:r>
              <a:rPr lang="en-US" sz="1800" dirty="0" err="1">
                <a:sym typeface="General Sans 2 Medium"/>
              </a:rPr>
              <a:t>Pendentes</a:t>
            </a:r>
            <a:endParaRPr lang="en-US" sz="1800" dirty="0">
              <a:sym typeface="General Sans 2 Medium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1568" y="0"/>
            <a:ext cx="18264864" cy="10273986"/>
          </a:xfrm>
          <a:custGeom>
            <a:avLst/>
            <a:gdLst/>
            <a:ahLst/>
            <a:cxnLst/>
            <a:rect l="l" t="t" r="r" b="b"/>
            <a:pathLst>
              <a:path w="18264864" h="10273986">
                <a:moveTo>
                  <a:pt x="0" y="0"/>
                </a:moveTo>
                <a:lnTo>
                  <a:pt x="18264864" y="0"/>
                </a:lnTo>
                <a:lnTo>
                  <a:pt x="18264864" y="10273986"/>
                </a:lnTo>
                <a:lnTo>
                  <a:pt x="0" y="1027398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 dirty="0"/>
          </a:p>
        </p:txBody>
      </p:sp>
      <p:sp>
        <p:nvSpPr>
          <p:cNvPr id="48" name="TextBox 48"/>
          <p:cNvSpPr txBox="1"/>
          <p:nvPr/>
        </p:nvSpPr>
        <p:spPr>
          <a:xfrm>
            <a:off x="1028700" y="1152525"/>
            <a:ext cx="11239500" cy="135934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5277"/>
              </a:lnSpc>
            </a:pPr>
            <a:r>
              <a:rPr lang="en-US" sz="5863" b="1" spc="-293" dirty="0" err="1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Acompanhamento</a:t>
            </a:r>
            <a:r>
              <a:rPr lang="en-US" sz="5863" b="1" spc="-293" dirty="0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 </a:t>
            </a:r>
          </a:p>
          <a:p>
            <a:pPr algn="l">
              <a:lnSpc>
                <a:spcPts val="5277"/>
              </a:lnSpc>
            </a:pPr>
            <a:r>
              <a:rPr lang="en-US" sz="5863" b="1" spc="-293" dirty="0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dos Deploys</a:t>
            </a:r>
          </a:p>
        </p:txBody>
      </p:sp>
      <p:sp>
        <p:nvSpPr>
          <p:cNvPr id="55" name="TextBox 9">
            <a:extLst>
              <a:ext uri="{FF2B5EF4-FFF2-40B4-BE49-F238E27FC236}">
                <a16:creationId xmlns:a16="http://schemas.microsoft.com/office/drawing/2014/main" id="{15410F9B-609B-671F-58C9-EB0E666A3ED5}"/>
              </a:ext>
            </a:extLst>
          </p:cNvPr>
          <p:cNvSpPr txBox="1"/>
          <p:nvPr/>
        </p:nvSpPr>
        <p:spPr>
          <a:xfrm>
            <a:off x="9153218" y="2064339"/>
            <a:ext cx="2611609" cy="8895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92"/>
              </a:lnSpc>
            </a:pPr>
            <a:r>
              <a:rPr lang="en-US" sz="5976" b="1" dirty="0">
                <a:solidFill>
                  <a:srgbClr val="FFFFFF">
                    <a:alpha val="87843"/>
                  </a:srgbClr>
                </a:solidFill>
                <a:latin typeface="Inter Heavy"/>
                <a:ea typeface="Inter Heavy"/>
                <a:cs typeface="Inter Heavy"/>
                <a:sym typeface="Inter Heavy"/>
              </a:rPr>
              <a:t>2</a:t>
            </a:r>
          </a:p>
        </p:txBody>
      </p:sp>
      <p:sp>
        <p:nvSpPr>
          <p:cNvPr id="57" name="TextBox 10">
            <a:extLst>
              <a:ext uri="{FF2B5EF4-FFF2-40B4-BE49-F238E27FC236}">
                <a16:creationId xmlns:a16="http://schemas.microsoft.com/office/drawing/2014/main" id="{03D529F2-47A9-5A6B-DEB9-814BA45226DD}"/>
              </a:ext>
            </a:extLst>
          </p:cNvPr>
          <p:cNvSpPr txBox="1"/>
          <p:nvPr/>
        </p:nvSpPr>
        <p:spPr>
          <a:xfrm>
            <a:off x="8802247" y="2971263"/>
            <a:ext cx="3313553" cy="538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88"/>
              </a:lnSpc>
            </a:pPr>
            <a:r>
              <a:rPr lang="en-US" spc="132" dirty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Deploys </a:t>
            </a:r>
          </a:p>
          <a:p>
            <a:pPr algn="ctr">
              <a:lnSpc>
                <a:spcPts val="2088"/>
              </a:lnSpc>
            </a:pPr>
            <a:r>
              <a:rPr lang="en-US" spc="132" dirty="0" err="1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Realizados</a:t>
            </a:r>
            <a:endParaRPr lang="en-US" spc="132" dirty="0">
              <a:solidFill>
                <a:srgbClr val="FFFFFF"/>
              </a:solidFill>
              <a:latin typeface="General Sans 2 Medium"/>
              <a:ea typeface="General Sans 2 Medium"/>
              <a:cs typeface="General Sans 2 Medium"/>
              <a:sym typeface="General Sans 2 Medium"/>
            </a:endParaRPr>
          </a:p>
        </p:txBody>
      </p:sp>
      <p:pic>
        <p:nvPicPr>
          <p:cNvPr id="59" name="Gráfico 58" descr="Foguete com preenchimento sólido">
            <a:extLst>
              <a:ext uri="{FF2B5EF4-FFF2-40B4-BE49-F238E27FC236}">
                <a16:creationId xmlns:a16="http://schemas.microsoft.com/office/drawing/2014/main" id="{898651DC-F964-8BFA-4067-C54E9BA085C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976829" y="1095580"/>
            <a:ext cx="914400" cy="914400"/>
          </a:xfrm>
          <a:prstGeom prst="rect">
            <a:avLst/>
          </a:prstGeom>
        </p:spPr>
      </p:pic>
      <p:pic>
        <p:nvPicPr>
          <p:cNvPr id="61" name="Gráfico 60" descr="Caixa com preenchimento sólido">
            <a:extLst>
              <a:ext uri="{FF2B5EF4-FFF2-40B4-BE49-F238E27FC236}">
                <a16:creationId xmlns:a16="http://schemas.microsoft.com/office/drawing/2014/main" id="{D9AACA0B-4FCC-4537-9AA7-96215831162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2781975" y="1182051"/>
            <a:ext cx="914400" cy="914400"/>
          </a:xfrm>
          <a:prstGeom prst="rect">
            <a:avLst/>
          </a:prstGeom>
        </p:spPr>
      </p:pic>
      <p:sp>
        <p:nvSpPr>
          <p:cNvPr id="63" name="TextBox 9">
            <a:extLst>
              <a:ext uri="{FF2B5EF4-FFF2-40B4-BE49-F238E27FC236}">
                <a16:creationId xmlns:a16="http://schemas.microsoft.com/office/drawing/2014/main" id="{82AA4448-4406-17BB-D152-9D3B3BF8A443}"/>
              </a:ext>
            </a:extLst>
          </p:cNvPr>
          <p:cNvSpPr txBox="1"/>
          <p:nvPr/>
        </p:nvSpPr>
        <p:spPr>
          <a:xfrm>
            <a:off x="11933371" y="2070510"/>
            <a:ext cx="2611609" cy="8895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92"/>
              </a:lnSpc>
            </a:pPr>
            <a:r>
              <a:rPr lang="en-US" sz="5976" b="1" dirty="0">
                <a:solidFill>
                  <a:srgbClr val="FFFFFF">
                    <a:alpha val="87843"/>
                  </a:srgbClr>
                </a:solidFill>
                <a:latin typeface="Inter Heavy"/>
                <a:ea typeface="Inter Heavy"/>
                <a:cs typeface="Inter Heavy"/>
                <a:sym typeface="Inter Heavy"/>
              </a:rPr>
              <a:t>6</a:t>
            </a:r>
          </a:p>
        </p:txBody>
      </p:sp>
      <p:sp>
        <p:nvSpPr>
          <p:cNvPr id="65" name="TextBox 10">
            <a:extLst>
              <a:ext uri="{FF2B5EF4-FFF2-40B4-BE49-F238E27FC236}">
                <a16:creationId xmlns:a16="http://schemas.microsoft.com/office/drawing/2014/main" id="{C0C7C28D-D8FD-CC52-78C1-EB6D1365FBAF}"/>
              </a:ext>
            </a:extLst>
          </p:cNvPr>
          <p:cNvSpPr txBox="1"/>
          <p:nvPr/>
        </p:nvSpPr>
        <p:spPr>
          <a:xfrm>
            <a:off x="11582400" y="2977434"/>
            <a:ext cx="3313553" cy="538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88"/>
              </a:lnSpc>
            </a:pPr>
            <a:r>
              <a:rPr lang="en-US" spc="132" dirty="0" err="1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Ítens</a:t>
            </a:r>
            <a:r>
              <a:rPr lang="en-US" spc="132" dirty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 </a:t>
            </a:r>
          </a:p>
          <a:p>
            <a:pPr algn="ctr">
              <a:lnSpc>
                <a:spcPts val="2088"/>
              </a:lnSpc>
            </a:pPr>
            <a:r>
              <a:rPr lang="en-US" spc="132" dirty="0" err="1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Publicados</a:t>
            </a:r>
            <a:endParaRPr lang="en-US" spc="132" dirty="0">
              <a:solidFill>
                <a:srgbClr val="FFFFFF"/>
              </a:solidFill>
              <a:latin typeface="General Sans 2 Medium"/>
              <a:ea typeface="General Sans 2 Medium"/>
              <a:cs typeface="General Sans 2 Medium"/>
              <a:sym typeface="General Sans 2 Medium"/>
            </a:endParaRPr>
          </a:p>
        </p:txBody>
      </p:sp>
      <p:sp>
        <p:nvSpPr>
          <p:cNvPr id="69" name="TextBox 9">
            <a:extLst>
              <a:ext uri="{FF2B5EF4-FFF2-40B4-BE49-F238E27FC236}">
                <a16:creationId xmlns:a16="http://schemas.microsoft.com/office/drawing/2014/main" id="{981F0836-477A-8ACC-6736-48E571F2F57E}"/>
              </a:ext>
            </a:extLst>
          </p:cNvPr>
          <p:cNvSpPr txBox="1"/>
          <p:nvPr/>
        </p:nvSpPr>
        <p:spPr>
          <a:xfrm>
            <a:off x="14792018" y="2062349"/>
            <a:ext cx="2611609" cy="8895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92"/>
              </a:lnSpc>
            </a:pPr>
            <a:r>
              <a:rPr lang="en-US" sz="5976" b="1" dirty="0">
                <a:solidFill>
                  <a:srgbClr val="FFFFFF">
                    <a:alpha val="87843"/>
                  </a:srgbClr>
                </a:solidFill>
                <a:latin typeface="Inter Heavy"/>
                <a:ea typeface="Inter Heavy"/>
                <a:cs typeface="Inter Heavy"/>
                <a:sym typeface="Inter Heavy"/>
              </a:rPr>
              <a:t>100%</a:t>
            </a:r>
          </a:p>
        </p:txBody>
      </p:sp>
      <p:sp>
        <p:nvSpPr>
          <p:cNvPr id="71" name="TextBox 10">
            <a:extLst>
              <a:ext uri="{FF2B5EF4-FFF2-40B4-BE49-F238E27FC236}">
                <a16:creationId xmlns:a16="http://schemas.microsoft.com/office/drawing/2014/main" id="{6F64AFBC-113C-0737-3A9E-6E7F628CC302}"/>
              </a:ext>
            </a:extLst>
          </p:cNvPr>
          <p:cNvSpPr txBox="1"/>
          <p:nvPr/>
        </p:nvSpPr>
        <p:spPr>
          <a:xfrm>
            <a:off x="14441047" y="2969273"/>
            <a:ext cx="3313553" cy="538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88"/>
              </a:lnSpc>
            </a:pPr>
            <a:r>
              <a:rPr lang="en-US" spc="132" dirty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Taxa de</a:t>
            </a:r>
          </a:p>
          <a:p>
            <a:pPr algn="ctr">
              <a:lnSpc>
                <a:spcPts val="2088"/>
              </a:lnSpc>
            </a:pPr>
            <a:r>
              <a:rPr lang="en-US" spc="132" dirty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Sucesso</a:t>
            </a:r>
          </a:p>
        </p:txBody>
      </p:sp>
      <p:pic>
        <p:nvPicPr>
          <p:cNvPr id="73" name="Gráfico 72" descr="Área de transferência Mista com preenchimento sólido">
            <a:extLst>
              <a:ext uri="{FF2B5EF4-FFF2-40B4-BE49-F238E27FC236}">
                <a16:creationId xmlns:a16="http://schemas.microsoft.com/office/drawing/2014/main" id="{E502E578-C030-0859-CF65-9C1A2A3FF20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5640622" y="1147949"/>
            <a:ext cx="914400" cy="914400"/>
          </a:xfrm>
          <a:prstGeom prst="rect">
            <a:avLst/>
          </a:prstGeom>
        </p:spPr>
      </p:pic>
      <p:graphicFrame>
        <p:nvGraphicFramePr>
          <p:cNvPr id="75" name="Tabela 74">
            <a:extLst>
              <a:ext uri="{FF2B5EF4-FFF2-40B4-BE49-F238E27FC236}">
                <a16:creationId xmlns:a16="http://schemas.microsoft.com/office/drawing/2014/main" id="{03BA5884-7F54-D428-05C2-714CA105AC3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49616194"/>
              </p:ext>
            </p:extLst>
          </p:nvPr>
        </p:nvGraphicFramePr>
        <p:xfrm>
          <a:off x="685799" y="4381499"/>
          <a:ext cx="16717828" cy="38664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601571">
                  <a:extLst>
                    <a:ext uri="{9D8B030D-6E8A-4147-A177-3AD203B41FA5}">
                      <a16:colId xmlns:a16="http://schemas.microsoft.com/office/drawing/2014/main" val="2790148474"/>
                    </a:ext>
                  </a:extLst>
                </a:gridCol>
                <a:gridCol w="5485030">
                  <a:extLst>
                    <a:ext uri="{9D8B030D-6E8A-4147-A177-3AD203B41FA5}">
                      <a16:colId xmlns:a16="http://schemas.microsoft.com/office/drawing/2014/main" val="3534790803"/>
                    </a:ext>
                  </a:extLst>
                </a:gridCol>
                <a:gridCol w="3810000">
                  <a:extLst>
                    <a:ext uri="{9D8B030D-6E8A-4147-A177-3AD203B41FA5}">
                      <a16:colId xmlns:a16="http://schemas.microsoft.com/office/drawing/2014/main" val="3248296162"/>
                    </a:ext>
                  </a:extLst>
                </a:gridCol>
                <a:gridCol w="5821227">
                  <a:extLst>
                    <a:ext uri="{9D8B030D-6E8A-4147-A177-3AD203B41FA5}">
                      <a16:colId xmlns:a16="http://schemas.microsoft.com/office/drawing/2014/main" val="3547482831"/>
                    </a:ext>
                  </a:extLst>
                </a:gridCol>
              </a:tblGrid>
              <a:tr h="223195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DATA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ITENS PUBLICADOS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STATUS DO DEPLOY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OBSERVAÇÕES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52205541"/>
                  </a:ext>
                </a:extLst>
              </a:tr>
              <a:tr h="1708689"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pt-BR" sz="1400" kern="1200" dirty="0">
                          <a:solidFill>
                            <a:srgbClr val="E2E0E1"/>
                          </a:solidFill>
                          <a:latin typeface="General Sans 2 Light"/>
                          <a:ea typeface="+mn-ea"/>
                          <a:cs typeface="+mn-cs"/>
                        </a:rPr>
                        <a:t>06/08/2026 15:30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285750" indent="-285750" algn="l" defTabSz="914400" rtl="0" eaLnBrk="1" fontAlgn="b" latinLnBrk="0" hangingPunct="1">
                        <a:buFont typeface="Arial" panose="020B0604020202020204" pitchFamily="34" charset="0"/>
                        <a:buChar char="•"/>
                      </a:pPr>
                      <a:endParaRPr lang="pt-BR" sz="1400" kern="1200" dirty="0">
                        <a:solidFill>
                          <a:srgbClr val="E2E0E1"/>
                        </a:solidFill>
                        <a:latin typeface="General Sans 2 Light"/>
                        <a:ea typeface="+mn-ea"/>
                        <a:cs typeface="+mn-cs"/>
                      </a:endParaRPr>
                    </a:p>
                    <a:p>
                      <a:pPr marL="285750" indent="-285750" algn="l" defTabSz="914400" rtl="0" eaLnBrk="1" fontAlgn="b" latinLnBrk="0" hangingPunct="1">
                        <a:buFont typeface="Arial" panose="020B0604020202020204" pitchFamily="34" charset="0"/>
                        <a:buChar char="•"/>
                      </a:pPr>
                      <a:r>
                        <a:rPr lang="pt-BR" sz="1400" kern="1200" dirty="0">
                          <a:solidFill>
                            <a:srgbClr val="E2E0E1"/>
                          </a:solidFill>
                          <a:latin typeface="General Sans 2 Light"/>
                          <a:ea typeface="+mn-ea"/>
                          <a:cs typeface="+mn-cs"/>
                        </a:rPr>
                        <a:t>39031 – Inclusão de Novo Status na Régua de Tracking</a:t>
                      </a:r>
                    </a:p>
                    <a:p>
                      <a:pPr marL="285750" indent="-285750" algn="l" defTabSz="914400" rtl="0" eaLnBrk="1" fontAlgn="b" latinLnBrk="0" hangingPunct="1">
                        <a:buFont typeface="Arial" panose="020B0604020202020204" pitchFamily="34" charset="0"/>
                        <a:buChar char="•"/>
                      </a:pPr>
                      <a:r>
                        <a:rPr lang="pt-BR" sz="1400" kern="1200" dirty="0">
                          <a:solidFill>
                            <a:srgbClr val="E2E0E1"/>
                          </a:solidFill>
                          <a:latin typeface="General Sans 2 Light"/>
                          <a:ea typeface="+mn-ea"/>
                          <a:cs typeface="+mn-cs"/>
                        </a:rPr>
                        <a:t>39374 – Adicionar campo de imagem no widget _</a:t>
                      </a:r>
                      <a:r>
                        <a:rPr lang="pt-BR" sz="1400" kern="1200" dirty="0" err="1">
                          <a:solidFill>
                            <a:srgbClr val="E2E0E1"/>
                          </a:solidFill>
                          <a:latin typeface="General Sans 2 Light"/>
                          <a:ea typeface="+mn-ea"/>
                          <a:cs typeface="+mn-cs"/>
                        </a:rPr>
                        <a:t>LpAsideSection</a:t>
                      </a:r>
                      <a:endParaRPr lang="pt-BR" sz="1400" kern="1200" dirty="0">
                        <a:solidFill>
                          <a:srgbClr val="E2E0E1"/>
                        </a:solidFill>
                        <a:latin typeface="General Sans 2 Light"/>
                        <a:ea typeface="+mn-ea"/>
                        <a:cs typeface="+mn-cs"/>
                      </a:endParaRPr>
                    </a:p>
                    <a:p>
                      <a:pPr marL="285750" indent="-285750" algn="l" defTabSz="914400" rtl="0" eaLnBrk="1" fontAlgn="b" latinLnBrk="0" hangingPunct="1">
                        <a:buFont typeface="Arial" panose="020B0604020202020204" pitchFamily="34" charset="0"/>
                        <a:buChar char="•"/>
                      </a:pPr>
                      <a:r>
                        <a:rPr lang="pt-BR" sz="1400" kern="1200" dirty="0">
                          <a:solidFill>
                            <a:srgbClr val="E2E0E1"/>
                          </a:solidFill>
                          <a:latin typeface="General Sans 2 Light"/>
                          <a:ea typeface="+mn-ea"/>
                          <a:cs typeface="+mn-cs"/>
                        </a:rPr>
                        <a:t>37835 – Criação de widget de lançamentos (banner + carrossel) – Desktop e Mobile</a:t>
                      </a:r>
                    </a:p>
                    <a:p>
                      <a:pPr marL="285750" indent="-285750" algn="l" defTabSz="914400" rtl="0" eaLnBrk="1" fontAlgn="b" latinLnBrk="0" hangingPunct="1">
                        <a:buFont typeface="Arial" panose="020B0604020202020204" pitchFamily="34" charset="0"/>
                        <a:buChar char="•"/>
                      </a:pPr>
                      <a:r>
                        <a:rPr lang="pt-BR" sz="1400" kern="1200" dirty="0">
                          <a:solidFill>
                            <a:srgbClr val="E2E0E1"/>
                          </a:solidFill>
                          <a:latin typeface="General Sans 2 Light"/>
                          <a:ea typeface="+mn-ea"/>
                          <a:cs typeface="+mn-cs"/>
                        </a:rPr>
                        <a:t>40533 – Bug brinde – Presilha em PRD</a:t>
                      </a:r>
                    </a:p>
                    <a:p>
                      <a:pPr marL="285750" indent="-285750" algn="l" defTabSz="914400" rtl="0" eaLnBrk="1" fontAlgn="b" latinLnBrk="0" hangingPunct="1">
                        <a:buFont typeface="Arial" panose="020B0604020202020204" pitchFamily="34" charset="0"/>
                        <a:buChar char="•"/>
                      </a:pPr>
                      <a:endParaRPr lang="pt-BR" sz="1400" kern="1200" dirty="0">
                        <a:solidFill>
                          <a:srgbClr val="E2E0E1"/>
                        </a:solidFill>
                        <a:latin typeface="General Sans 2 Ligh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1400" kern="1200" dirty="0">
                          <a:solidFill>
                            <a:srgbClr val="E2E0E1"/>
                          </a:solidFill>
                          <a:latin typeface="General Sans 2 Light"/>
                          <a:ea typeface="+mn-ea"/>
                          <a:cs typeface="+mn-cs"/>
                        </a:rPr>
                        <a:t>✅ Sucesso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endParaRPr lang="pt-BR" sz="1400" kern="1200" dirty="0">
                        <a:solidFill>
                          <a:srgbClr val="E2E0E1"/>
                        </a:solidFill>
                        <a:latin typeface="General Sans 2 Ligh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262978"/>
                  </a:ext>
                </a:extLst>
              </a:tr>
              <a:tr h="1822451"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pt-BR" sz="1400" kern="1200" dirty="0">
                          <a:solidFill>
                            <a:srgbClr val="E2E0E1"/>
                          </a:solidFill>
                          <a:latin typeface="General Sans 2 Light"/>
                          <a:ea typeface="+mn-ea"/>
                          <a:cs typeface="+mn-cs"/>
                        </a:rPr>
                        <a:t>18/08/2026 16:00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285750" indent="-285750" algn="l" defTabSz="914400" rtl="0" eaLnBrk="1" fontAlgn="b" latinLnBrk="0" hangingPunct="1">
                        <a:buFont typeface="Arial" panose="020B0604020202020204" pitchFamily="34" charset="0"/>
                        <a:buChar char="•"/>
                      </a:pPr>
                      <a:r>
                        <a:rPr lang="pt-BR" sz="1400" kern="1200" dirty="0">
                          <a:solidFill>
                            <a:srgbClr val="E2E0E1"/>
                          </a:solidFill>
                          <a:latin typeface="General Sans 2 Light"/>
                          <a:ea typeface="+mn-ea"/>
                          <a:cs typeface="+mn-cs"/>
                        </a:rPr>
                        <a:t>38896 – Tratativa de Regiões Não Elegíveis à Frete Grátis</a:t>
                      </a:r>
                    </a:p>
                    <a:p>
                      <a:pPr marL="285750" indent="-285750" algn="l" defTabSz="914400" rtl="0" eaLnBrk="1" fontAlgn="b" latinLnBrk="0" hangingPunct="1">
                        <a:buFont typeface="Arial" panose="020B0604020202020204" pitchFamily="34" charset="0"/>
                        <a:buChar char="•"/>
                      </a:pPr>
                      <a:r>
                        <a:rPr lang="pt-BR" sz="1400" kern="1200" dirty="0">
                          <a:solidFill>
                            <a:srgbClr val="E2E0E1"/>
                          </a:solidFill>
                          <a:latin typeface="General Sans 2 Light"/>
                          <a:ea typeface="+mn-ea"/>
                          <a:cs typeface="+mn-cs"/>
                        </a:rPr>
                        <a:t>33759 – [CHECKOUT] Revisão da Usabilidade (mensagens de erro) ao utilizar cartão de crédito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pt-BR" sz="1400" kern="1200" dirty="0">
                          <a:solidFill>
                            <a:srgbClr val="E2E0E1"/>
                          </a:solidFill>
                          <a:latin typeface="General Sans 2 Light"/>
                          <a:ea typeface="+mn-ea"/>
                          <a:cs typeface="+mn-cs"/>
                        </a:rPr>
                        <a:t>✅ Sucesso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endParaRPr lang="pt-BR" sz="1400" kern="1200" dirty="0">
                        <a:solidFill>
                          <a:srgbClr val="E2E0E1"/>
                        </a:solidFill>
                        <a:latin typeface="General Sans 2 Ligh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3CB599-C80A-D684-97B6-BC07738C61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7043A971-D781-82B0-7F50-6671A2F0EA00}"/>
              </a:ext>
            </a:extLst>
          </p:cNvPr>
          <p:cNvSpPr/>
          <p:nvPr/>
        </p:nvSpPr>
        <p:spPr>
          <a:xfrm>
            <a:off x="11568" y="0"/>
            <a:ext cx="18264864" cy="10273986"/>
          </a:xfrm>
          <a:custGeom>
            <a:avLst/>
            <a:gdLst/>
            <a:ahLst/>
            <a:cxnLst/>
            <a:rect l="l" t="t" r="r" b="b"/>
            <a:pathLst>
              <a:path w="18264864" h="10273986">
                <a:moveTo>
                  <a:pt x="0" y="0"/>
                </a:moveTo>
                <a:lnTo>
                  <a:pt x="18264864" y="0"/>
                </a:lnTo>
                <a:lnTo>
                  <a:pt x="18264864" y="10273986"/>
                </a:lnTo>
                <a:lnTo>
                  <a:pt x="0" y="1027398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 dirty="0"/>
          </a:p>
        </p:txBody>
      </p:sp>
      <p:sp>
        <p:nvSpPr>
          <p:cNvPr id="48" name="TextBox 48">
            <a:extLst>
              <a:ext uri="{FF2B5EF4-FFF2-40B4-BE49-F238E27FC236}">
                <a16:creationId xmlns:a16="http://schemas.microsoft.com/office/drawing/2014/main" id="{8171FEA2-01A7-B416-0322-4CD93C20218C}"/>
              </a:ext>
            </a:extLst>
          </p:cNvPr>
          <p:cNvSpPr txBox="1"/>
          <p:nvPr/>
        </p:nvSpPr>
        <p:spPr>
          <a:xfrm>
            <a:off x="1028700" y="1152525"/>
            <a:ext cx="11239500" cy="135934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5277"/>
              </a:lnSpc>
            </a:pPr>
            <a:r>
              <a:rPr lang="en-US" sz="5863" b="1" spc="-293" dirty="0" err="1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Acompanhamento</a:t>
            </a:r>
            <a:r>
              <a:rPr lang="en-US" sz="5863" b="1" spc="-293" dirty="0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 </a:t>
            </a:r>
          </a:p>
          <a:p>
            <a:pPr algn="l">
              <a:lnSpc>
                <a:spcPts val="5277"/>
              </a:lnSpc>
            </a:pPr>
            <a:r>
              <a:rPr lang="en-US" sz="5863" b="1" spc="-293" dirty="0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de SRs Oracle</a:t>
            </a:r>
          </a:p>
        </p:txBody>
      </p:sp>
      <p:sp>
        <p:nvSpPr>
          <p:cNvPr id="55" name="TextBox 9">
            <a:extLst>
              <a:ext uri="{FF2B5EF4-FFF2-40B4-BE49-F238E27FC236}">
                <a16:creationId xmlns:a16="http://schemas.microsoft.com/office/drawing/2014/main" id="{A1EB607B-715B-7865-D730-14051BEEB091}"/>
              </a:ext>
            </a:extLst>
          </p:cNvPr>
          <p:cNvSpPr txBox="1"/>
          <p:nvPr/>
        </p:nvSpPr>
        <p:spPr>
          <a:xfrm>
            <a:off x="9229418" y="2064339"/>
            <a:ext cx="2611609" cy="8895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92"/>
              </a:lnSpc>
            </a:pPr>
            <a:r>
              <a:rPr lang="en-US" sz="5976" b="1" dirty="0">
                <a:solidFill>
                  <a:srgbClr val="FFFFFF">
                    <a:alpha val="87843"/>
                  </a:srgbClr>
                </a:solidFill>
                <a:latin typeface="Inter Heavy"/>
                <a:ea typeface="Inter Heavy"/>
                <a:cs typeface="Inter Heavy"/>
                <a:sym typeface="Inter Heavy"/>
              </a:rPr>
              <a:t>3</a:t>
            </a:r>
          </a:p>
        </p:txBody>
      </p:sp>
      <p:sp>
        <p:nvSpPr>
          <p:cNvPr id="57" name="TextBox 10">
            <a:extLst>
              <a:ext uri="{FF2B5EF4-FFF2-40B4-BE49-F238E27FC236}">
                <a16:creationId xmlns:a16="http://schemas.microsoft.com/office/drawing/2014/main" id="{7C17DE8F-787D-2249-435D-014DE1529BA9}"/>
              </a:ext>
            </a:extLst>
          </p:cNvPr>
          <p:cNvSpPr txBox="1"/>
          <p:nvPr/>
        </p:nvSpPr>
        <p:spPr>
          <a:xfrm>
            <a:off x="8878447" y="2971263"/>
            <a:ext cx="3313553" cy="2693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88"/>
              </a:lnSpc>
            </a:pPr>
            <a:r>
              <a:rPr lang="en-US" spc="132" dirty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SRs </a:t>
            </a:r>
            <a:r>
              <a:rPr lang="en-US" spc="132" dirty="0" err="1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Abertas</a:t>
            </a:r>
            <a:endParaRPr lang="en-US" spc="132" dirty="0">
              <a:solidFill>
                <a:srgbClr val="FFFFFF"/>
              </a:solidFill>
              <a:latin typeface="General Sans 2 Medium"/>
              <a:ea typeface="General Sans 2 Medium"/>
              <a:cs typeface="General Sans 2 Medium"/>
              <a:sym typeface="General Sans 2 Medium"/>
            </a:endParaRPr>
          </a:p>
        </p:txBody>
      </p:sp>
      <p:sp>
        <p:nvSpPr>
          <p:cNvPr id="63" name="TextBox 9">
            <a:extLst>
              <a:ext uri="{FF2B5EF4-FFF2-40B4-BE49-F238E27FC236}">
                <a16:creationId xmlns:a16="http://schemas.microsoft.com/office/drawing/2014/main" id="{3BB3F79B-F498-BAF4-06B0-5450A59EBF21}"/>
              </a:ext>
            </a:extLst>
          </p:cNvPr>
          <p:cNvSpPr txBox="1"/>
          <p:nvPr/>
        </p:nvSpPr>
        <p:spPr>
          <a:xfrm>
            <a:off x="11210618" y="2070510"/>
            <a:ext cx="2611609" cy="8895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92"/>
              </a:lnSpc>
            </a:pPr>
            <a:r>
              <a:rPr lang="en-US" sz="5976" b="1" dirty="0">
                <a:solidFill>
                  <a:srgbClr val="FFFFFF">
                    <a:alpha val="87843"/>
                  </a:srgbClr>
                </a:solidFill>
                <a:latin typeface="Inter Heavy"/>
                <a:ea typeface="Inter Heavy"/>
                <a:cs typeface="Inter Heavy"/>
                <a:sym typeface="Inter Heavy"/>
              </a:rPr>
              <a:t>2</a:t>
            </a:r>
          </a:p>
        </p:txBody>
      </p:sp>
      <p:sp>
        <p:nvSpPr>
          <p:cNvPr id="65" name="TextBox 10">
            <a:extLst>
              <a:ext uri="{FF2B5EF4-FFF2-40B4-BE49-F238E27FC236}">
                <a16:creationId xmlns:a16="http://schemas.microsoft.com/office/drawing/2014/main" id="{0A4CC207-81FF-55AC-59F9-08E14475B438}"/>
              </a:ext>
            </a:extLst>
          </p:cNvPr>
          <p:cNvSpPr txBox="1"/>
          <p:nvPr/>
        </p:nvSpPr>
        <p:spPr>
          <a:xfrm>
            <a:off x="10859647" y="2977434"/>
            <a:ext cx="3313553" cy="538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88"/>
              </a:lnSpc>
            </a:pPr>
            <a:r>
              <a:rPr lang="en-US" spc="132" dirty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Em </a:t>
            </a:r>
            <a:r>
              <a:rPr lang="en-US" spc="132" dirty="0" err="1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Análise</a:t>
            </a:r>
            <a:r>
              <a:rPr lang="en-US" spc="132" dirty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 </a:t>
            </a:r>
          </a:p>
          <a:p>
            <a:pPr algn="ctr">
              <a:lnSpc>
                <a:spcPts val="2088"/>
              </a:lnSpc>
            </a:pPr>
            <a:r>
              <a:rPr lang="en-US" spc="132" dirty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Oracle</a:t>
            </a:r>
          </a:p>
        </p:txBody>
      </p:sp>
      <p:graphicFrame>
        <p:nvGraphicFramePr>
          <p:cNvPr id="75" name="Tabela 74">
            <a:extLst>
              <a:ext uri="{FF2B5EF4-FFF2-40B4-BE49-F238E27FC236}">
                <a16:creationId xmlns:a16="http://schemas.microsoft.com/office/drawing/2014/main" id="{37D79888-9064-CF9F-80B9-D69E7E44C86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49950017"/>
              </p:ext>
            </p:extLst>
          </p:nvPr>
        </p:nvGraphicFramePr>
        <p:xfrm>
          <a:off x="679692" y="3911538"/>
          <a:ext cx="16922509" cy="531670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662683">
                  <a:extLst>
                    <a:ext uri="{9D8B030D-6E8A-4147-A177-3AD203B41FA5}">
                      <a16:colId xmlns:a16="http://schemas.microsoft.com/office/drawing/2014/main" val="2790148474"/>
                    </a:ext>
                  </a:extLst>
                </a:gridCol>
                <a:gridCol w="3401262">
                  <a:extLst>
                    <a:ext uri="{9D8B030D-6E8A-4147-A177-3AD203B41FA5}">
                      <a16:colId xmlns:a16="http://schemas.microsoft.com/office/drawing/2014/main" val="3534790803"/>
                    </a:ext>
                  </a:extLst>
                </a:gridCol>
                <a:gridCol w="1952563">
                  <a:extLst>
                    <a:ext uri="{9D8B030D-6E8A-4147-A177-3AD203B41FA5}">
                      <a16:colId xmlns:a16="http://schemas.microsoft.com/office/drawing/2014/main" val="3248296162"/>
                    </a:ext>
                  </a:extLst>
                </a:gridCol>
                <a:gridCol w="1676400">
                  <a:extLst>
                    <a:ext uri="{9D8B030D-6E8A-4147-A177-3AD203B41FA5}">
                      <a16:colId xmlns:a16="http://schemas.microsoft.com/office/drawing/2014/main" val="3547482831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1882845205"/>
                    </a:ext>
                  </a:extLst>
                </a:gridCol>
                <a:gridCol w="6705601">
                  <a:extLst>
                    <a:ext uri="{9D8B030D-6E8A-4147-A177-3AD203B41FA5}">
                      <a16:colId xmlns:a16="http://schemas.microsoft.com/office/drawing/2014/main" val="1941720085"/>
                    </a:ext>
                  </a:extLst>
                </a:gridCol>
              </a:tblGrid>
              <a:tr h="485356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SR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ASSUNTO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DATA DA ABERTURA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DATA DO ÚLTIMO TRÂMITE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STATUS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OBSERVAÇÕES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52205541"/>
                  </a:ext>
                </a:extLst>
              </a:tr>
              <a:tr h="1579194"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pt-BR" sz="1400" kern="1200" dirty="0">
                          <a:solidFill>
                            <a:srgbClr val="E2E0E1"/>
                          </a:solidFill>
                          <a:latin typeface="General Sans 2 Light"/>
                          <a:ea typeface="+mn-ea"/>
                          <a:cs typeface="+mn-cs"/>
                        </a:rPr>
                        <a:t>4-0003757080</a:t>
                      </a:r>
                      <a:br>
                        <a:rPr lang="pt-BR" sz="1400" kern="1200" dirty="0">
                          <a:solidFill>
                            <a:srgbClr val="E2E0E1"/>
                          </a:solidFill>
                          <a:latin typeface="General Sans 2 Light"/>
                          <a:ea typeface="+mn-ea"/>
                          <a:cs typeface="+mn-cs"/>
                        </a:rPr>
                      </a:br>
                      <a:endParaRPr lang="pt-BR" sz="1400" kern="1200" dirty="0">
                        <a:solidFill>
                          <a:srgbClr val="E2E0E1"/>
                        </a:solidFill>
                        <a:latin typeface="General Sans 2 Ligh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fontAlgn="b" latinLnBrk="0" hangingPunct="1">
                        <a:buFont typeface="Arial" panose="020B0604020202020204" pitchFamily="34" charset="0"/>
                        <a:buNone/>
                      </a:pPr>
                      <a:r>
                        <a:rPr lang="pt-BR" sz="1400" kern="1200" dirty="0">
                          <a:solidFill>
                            <a:srgbClr val="E2E0E1"/>
                          </a:solidFill>
                          <a:latin typeface="General Sans 2 Light"/>
                          <a:ea typeface="+mn-ea"/>
                          <a:cs typeface="+mn-cs"/>
                        </a:rPr>
                        <a:t>Problemas no cache de imagem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pt-BR" sz="1400" kern="1200" dirty="0">
                          <a:solidFill>
                            <a:srgbClr val="E2E0E1"/>
                          </a:solidFill>
                          <a:latin typeface="General Sans 2 Light"/>
                          <a:ea typeface="+mn-ea"/>
                          <a:cs typeface="+mn-cs"/>
                        </a:rPr>
                        <a:t>11/09/2026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pt-BR" sz="1400" kern="1200" dirty="0">
                          <a:solidFill>
                            <a:srgbClr val="E2E0E1"/>
                          </a:solidFill>
                          <a:latin typeface="General Sans 2 Light"/>
                          <a:ea typeface="+mn-ea"/>
                          <a:cs typeface="+mn-cs"/>
                        </a:rPr>
                        <a:t>15/09/2026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pt-BR" sz="1400" kern="1200" dirty="0">
                          <a:solidFill>
                            <a:srgbClr val="E2E0E1"/>
                          </a:solidFill>
                          <a:latin typeface="General Sans 2 Light"/>
                          <a:ea typeface="+mn-ea"/>
                          <a:cs typeface="+mn-cs"/>
                        </a:rPr>
                        <a:t>Em análise </a:t>
                      </a:r>
                    </a:p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pt-BR" sz="1400" kern="1200" dirty="0">
                          <a:solidFill>
                            <a:srgbClr val="E2E0E1"/>
                          </a:solidFill>
                          <a:latin typeface="General Sans 2 Light"/>
                          <a:ea typeface="+mn-ea"/>
                          <a:cs typeface="+mn-cs"/>
                        </a:rPr>
                        <a:t>Oracle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pt-BR" sz="1400" kern="1200" dirty="0">
                          <a:solidFill>
                            <a:srgbClr val="E2E0E1"/>
                          </a:solidFill>
                          <a:latin typeface="General Sans 2 Light"/>
                          <a:ea typeface="+mn-ea"/>
                          <a:cs typeface="+mn-cs"/>
                        </a:rPr>
                        <a:t>A Oracle questionou se o arquivo /</a:t>
                      </a:r>
                      <a:r>
                        <a:rPr lang="pt-BR" sz="1400" kern="1200" dirty="0" err="1">
                          <a:solidFill>
                            <a:srgbClr val="E2E0E1"/>
                          </a:solidFill>
                          <a:latin typeface="General Sans 2 Light"/>
                          <a:ea typeface="+mn-ea"/>
                          <a:cs typeface="+mn-cs"/>
                        </a:rPr>
                        <a:t>sl-transparent-logo.svg</a:t>
                      </a:r>
                      <a:r>
                        <a:rPr lang="pt-BR" sz="1400" kern="1200" dirty="0">
                          <a:solidFill>
                            <a:srgbClr val="E2E0E1"/>
                          </a:solidFill>
                          <a:latin typeface="General Sans 2 Light"/>
                          <a:ea typeface="+mn-ea"/>
                          <a:cs typeface="+mn-cs"/>
                        </a:rPr>
                        <a:t> foi alterado. Respondemos que não, e identificamos que a imagem tanto em aba anônima quanto aba normal está trazendo a mesma requisição porém só exibe em aba anônima.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1579194"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pt-BR" sz="1400" kern="1200" dirty="0">
                          <a:solidFill>
                            <a:srgbClr val="E2E0E1"/>
                          </a:solidFill>
                          <a:latin typeface="General Sans 2 Light"/>
                          <a:ea typeface="+mn-ea"/>
                          <a:cs typeface="+mn-cs"/>
                        </a:rPr>
                        <a:t>4-0003713595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fontAlgn="b" latinLnBrk="0" hangingPunct="1">
                        <a:buFont typeface="Arial" panose="020B0604020202020204" pitchFamily="34" charset="0"/>
                        <a:buNone/>
                      </a:pPr>
                      <a:r>
                        <a:rPr lang="pt-BR" sz="1400" kern="1200" dirty="0">
                          <a:solidFill>
                            <a:srgbClr val="E2E0E1"/>
                          </a:solidFill>
                          <a:latin typeface="General Sans 2 Light"/>
                          <a:ea typeface="+mn-ea"/>
                          <a:cs typeface="+mn-cs"/>
                        </a:rPr>
                        <a:t>[Monitoramento Proativo] Observando a latência com SSE p7724145s1PRD devido a mudanças recentes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pt-BR" sz="1400" kern="1200" dirty="0">
                          <a:solidFill>
                            <a:srgbClr val="E2E0E1"/>
                          </a:solidFill>
                          <a:latin typeface="General Sans 2 Light"/>
                          <a:ea typeface="+mn-ea"/>
                          <a:cs typeface="+mn-cs"/>
                        </a:rPr>
                        <a:t>07/09/2026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pt-BR" sz="1400" kern="1200" dirty="0">
                          <a:solidFill>
                            <a:srgbClr val="E2E0E1"/>
                          </a:solidFill>
                          <a:latin typeface="General Sans 2 Light"/>
                          <a:ea typeface="+mn-ea"/>
                          <a:cs typeface="+mn-cs"/>
                        </a:rPr>
                        <a:t>11/09/2026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pt-BR" sz="1400" kern="1200" dirty="0">
                          <a:solidFill>
                            <a:srgbClr val="E2E0E1"/>
                          </a:solidFill>
                          <a:latin typeface="General Sans 2 Light"/>
                          <a:ea typeface="+mn-ea"/>
                          <a:cs typeface="+mn-cs"/>
                        </a:rPr>
                        <a:t>Em análise </a:t>
                      </a:r>
                    </a:p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pt-BR" sz="1400" kern="1200" dirty="0" err="1">
                          <a:solidFill>
                            <a:srgbClr val="E2E0E1"/>
                          </a:solidFill>
                          <a:latin typeface="General Sans 2 Light"/>
                          <a:ea typeface="+mn-ea"/>
                          <a:cs typeface="+mn-cs"/>
                        </a:rPr>
                        <a:t>Lighthouse</a:t>
                      </a:r>
                      <a:endParaRPr lang="pt-BR" sz="1400" kern="1200" dirty="0">
                        <a:solidFill>
                          <a:srgbClr val="E2E0E1"/>
                        </a:solidFill>
                        <a:latin typeface="General Sans 2 Ligh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pt-BR" sz="1400" kern="1200" dirty="0">
                          <a:solidFill>
                            <a:srgbClr val="E2E0E1"/>
                          </a:solidFill>
                          <a:latin typeface="General Sans 2 Light"/>
                          <a:ea typeface="+mn-ea"/>
                          <a:cs typeface="+mn-cs"/>
                        </a:rPr>
                        <a:t>Realizamos um ajuste na SSE de estatísticas e estamos monitorando.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36572076"/>
                  </a:ext>
                </a:extLst>
              </a:tr>
              <a:tr h="1579194"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pt-BR" sz="1400" kern="1200" dirty="0">
                          <a:solidFill>
                            <a:srgbClr val="E2E0E1"/>
                          </a:solidFill>
                          <a:latin typeface="General Sans 2 Light"/>
                          <a:ea typeface="+mn-ea"/>
                          <a:cs typeface="+mn-cs"/>
                        </a:rPr>
                        <a:t>4-0003585464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fontAlgn="b" latinLnBrk="0" hangingPunct="1">
                        <a:buFont typeface="Arial" panose="020B0604020202020204" pitchFamily="34" charset="0"/>
                        <a:buNone/>
                      </a:pPr>
                      <a:r>
                        <a:rPr lang="pt-BR" sz="1400" kern="1200" dirty="0">
                          <a:solidFill>
                            <a:srgbClr val="E2E0E1"/>
                          </a:solidFill>
                          <a:latin typeface="General Sans 2 Light"/>
                          <a:ea typeface="+mn-ea"/>
                          <a:cs typeface="+mn-cs"/>
                        </a:rPr>
                        <a:t>Inconsistências recorrentes nos dados de relatórios e atualizações atrasadas de relatórios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pt-BR" sz="1400" kern="1200" dirty="0">
                          <a:solidFill>
                            <a:srgbClr val="E2E0E1"/>
                          </a:solidFill>
                          <a:latin typeface="General Sans 2 Light"/>
                          <a:ea typeface="+mn-ea"/>
                          <a:cs typeface="+mn-cs"/>
                        </a:rPr>
                        <a:t>21/08/2026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1400" kern="1200" dirty="0">
                          <a:solidFill>
                            <a:srgbClr val="E2E0E1"/>
                          </a:solidFill>
                          <a:latin typeface="General Sans 2 Light"/>
                          <a:ea typeface="+mn-ea"/>
                          <a:cs typeface="+mn-cs"/>
                        </a:rPr>
                        <a:t>15/09/2026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pt-BR" sz="1400" kern="1200" dirty="0">
                          <a:solidFill>
                            <a:srgbClr val="E2E0E1"/>
                          </a:solidFill>
                          <a:latin typeface="General Sans 2 Light"/>
                          <a:ea typeface="+mn-ea"/>
                          <a:cs typeface="+mn-cs"/>
                        </a:rPr>
                        <a:t>Em análise</a:t>
                      </a:r>
                      <a:br>
                        <a:rPr lang="pt-BR" sz="1400" kern="1200" dirty="0">
                          <a:solidFill>
                            <a:srgbClr val="E2E0E1"/>
                          </a:solidFill>
                          <a:latin typeface="General Sans 2 Light"/>
                          <a:ea typeface="+mn-ea"/>
                          <a:cs typeface="+mn-cs"/>
                        </a:rPr>
                      </a:br>
                      <a:r>
                        <a:rPr lang="pt-BR" sz="1400" kern="1200" dirty="0">
                          <a:solidFill>
                            <a:srgbClr val="E2E0E1"/>
                          </a:solidFill>
                          <a:latin typeface="General Sans 2 Light"/>
                          <a:ea typeface="+mn-ea"/>
                          <a:cs typeface="+mn-cs"/>
                        </a:rPr>
                        <a:t>Oracle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pt-BR" sz="1400" kern="1200" dirty="0">
                          <a:solidFill>
                            <a:srgbClr val="E2E0E1"/>
                          </a:solidFill>
                          <a:latin typeface="General Sans 2 Light"/>
                          <a:ea typeface="+mn-ea"/>
                          <a:cs typeface="+mn-cs"/>
                        </a:rPr>
                        <a:t>A Oracle informa que está analisando internamente.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12654670"/>
                  </a:ext>
                </a:extLst>
              </a:tr>
            </a:tbl>
          </a:graphicData>
        </a:graphic>
      </p:graphicFrame>
      <p:sp>
        <p:nvSpPr>
          <p:cNvPr id="4" name="Freeform 5">
            <a:extLst>
              <a:ext uri="{FF2B5EF4-FFF2-40B4-BE49-F238E27FC236}">
                <a16:creationId xmlns:a16="http://schemas.microsoft.com/office/drawing/2014/main" id="{D04174B7-0E85-FA13-CA7E-532066B24011}"/>
              </a:ext>
            </a:extLst>
          </p:cNvPr>
          <p:cNvSpPr/>
          <p:nvPr/>
        </p:nvSpPr>
        <p:spPr>
          <a:xfrm>
            <a:off x="10119042" y="1257300"/>
            <a:ext cx="832360" cy="788472"/>
          </a:xfrm>
          <a:custGeom>
            <a:avLst/>
            <a:gdLst/>
            <a:ahLst/>
            <a:cxnLst/>
            <a:rect l="l" t="t" r="r" b="b"/>
            <a:pathLst>
              <a:path w="832360" h="788472">
                <a:moveTo>
                  <a:pt x="0" y="0"/>
                </a:moveTo>
                <a:lnTo>
                  <a:pt x="832359" y="0"/>
                </a:lnTo>
                <a:lnTo>
                  <a:pt x="832359" y="788472"/>
                </a:lnTo>
                <a:lnTo>
                  <a:pt x="0" y="78847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pt-BR" dirty="0"/>
          </a:p>
        </p:txBody>
      </p:sp>
      <p:pic>
        <p:nvPicPr>
          <p:cNvPr id="6" name="Gráfico 5" descr="Ampulheta 30% com preenchimento sólido">
            <a:extLst>
              <a:ext uri="{FF2B5EF4-FFF2-40B4-BE49-F238E27FC236}">
                <a16:creationId xmlns:a16="http://schemas.microsoft.com/office/drawing/2014/main" id="{2E5DCA81-B890-6FCD-82F8-25E9DAE1D4F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2059222" y="1189349"/>
            <a:ext cx="914400" cy="914400"/>
          </a:xfrm>
          <a:prstGeom prst="rect">
            <a:avLst/>
          </a:prstGeom>
        </p:spPr>
      </p:pic>
      <p:sp>
        <p:nvSpPr>
          <p:cNvPr id="8" name="TextBox 9">
            <a:extLst>
              <a:ext uri="{FF2B5EF4-FFF2-40B4-BE49-F238E27FC236}">
                <a16:creationId xmlns:a16="http://schemas.microsoft.com/office/drawing/2014/main" id="{E4D2449F-15F6-508E-82F8-2E4578AC8330}"/>
              </a:ext>
            </a:extLst>
          </p:cNvPr>
          <p:cNvSpPr txBox="1"/>
          <p:nvPr/>
        </p:nvSpPr>
        <p:spPr>
          <a:xfrm>
            <a:off x="13115618" y="2097767"/>
            <a:ext cx="2611609" cy="8895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92"/>
              </a:lnSpc>
            </a:pPr>
            <a:r>
              <a:rPr lang="en-US" sz="5976" b="1" dirty="0">
                <a:solidFill>
                  <a:srgbClr val="FFFFFF">
                    <a:alpha val="87843"/>
                  </a:srgbClr>
                </a:solidFill>
                <a:latin typeface="Inter Heavy"/>
                <a:ea typeface="Inter Heavy"/>
                <a:cs typeface="Inter Heavy"/>
                <a:sym typeface="Inter Heavy"/>
              </a:rPr>
              <a:t>0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6C38E8A7-A2FF-44BA-DECE-84B7A2217343}"/>
              </a:ext>
            </a:extLst>
          </p:cNvPr>
          <p:cNvSpPr txBox="1"/>
          <p:nvPr/>
        </p:nvSpPr>
        <p:spPr>
          <a:xfrm>
            <a:off x="12764647" y="3004691"/>
            <a:ext cx="3313553" cy="538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88"/>
              </a:lnSpc>
            </a:pPr>
            <a:r>
              <a:rPr lang="en-US" spc="132" dirty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Em </a:t>
            </a:r>
            <a:r>
              <a:rPr lang="en-US" spc="132" dirty="0" err="1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Análise</a:t>
            </a:r>
            <a:r>
              <a:rPr lang="en-US" spc="132" dirty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 </a:t>
            </a:r>
          </a:p>
          <a:p>
            <a:pPr algn="ctr">
              <a:lnSpc>
                <a:spcPts val="2088"/>
              </a:lnSpc>
            </a:pPr>
            <a:r>
              <a:rPr lang="en-US" spc="132" dirty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Salon Line</a:t>
            </a:r>
          </a:p>
        </p:txBody>
      </p:sp>
      <p:pic>
        <p:nvPicPr>
          <p:cNvPr id="12" name="Gráfico 11" descr="Ampulheta 30% com preenchimento sólido">
            <a:extLst>
              <a:ext uri="{FF2B5EF4-FFF2-40B4-BE49-F238E27FC236}">
                <a16:creationId xmlns:a16="http://schemas.microsoft.com/office/drawing/2014/main" id="{3FE7E06A-EBA1-2E76-BA05-BD560D4A2C8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3964222" y="1216606"/>
            <a:ext cx="914400" cy="914400"/>
          </a:xfrm>
          <a:prstGeom prst="rect">
            <a:avLst/>
          </a:prstGeom>
        </p:spPr>
      </p:pic>
      <p:pic>
        <p:nvPicPr>
          <p:cNvPr id="5" name="Gráfico 4" descr="Ampulheta 30% com preenchimento sólido">
            <a:extLst>
              <a:ext uri="{FF2B5EF4-FFF2-40B4-BE49-F238E27FC236}">
                <a16:creationId xmlns:a16="http://schemas.microsoft.com/office/drawing/2014/main" id="{2AC53081-17B5-8768-3CEB-1E3AED3D680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5756069" y="1220004"/>
            <a:ext cx="914400" cy="914400"/>
          </a:xfrm>
          <a:prstGeom prst="rect">
            <a:avLst/>
          </a:prstGeom>
        </p:spPr>
      </p:pic>
      <p:sp>
        <p:nvSpPr>
          <p:cNvPr id="9" name="TextBox 9">
            <a:extLst>
              <a:ext uri="{FF2B5EF4-FFF2-40B4-BE49-F238E27FC236}">
                <a16:creationId xmlns:a16="http://schemas.microsoft.com/office/drawing/2014/main" id="{DEA74B65-044E-39ED-8804-59454C936101}"/>
              </a:ext>
            </a:extLst>
          </p:cNvPr>
          <p:cNvSpPr txBox="1"/>
          <p:nvPr/>
        </p:nvSpPr>
        <p:spPr>
          <a:xfrm>
            <a:off x="14907464" y="2149267"/>
            <a:ext cx="2611609" cy="8895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92"/>
              </a:lnSpc>
            </a:pPr>
            <a:r>
              <a:rPr lang="en-US" sz="5976" b="1" dirty="0">
                <a:solidFill>
                  <a:srgbClr val="FFFFFF">
                    <a:alpha val="87843"/>
                  </a:srgbClr>
                </a:solidFill>
                <a:latin typeface="Inter Heavy"/>
                <a:ea typeface="Inter Heavy"/>
                <a:cs typeface="Inter Heavy"/>
                <a:sym typeface="Inter Heavy"/>
              </a:rPr>
              <a:t>1</a:t>
            </a:r>
          </a:p>
        </p:txBody>
      </p:sp>
      <p:sp>
        <p:nvSpPr>
          <p:cNvPr id="13" name="TextBox 10">
            <a:extLst>
              <a:ext uri="{FF2B5EF4-FFF2-40B4-BE49-F238E27FC236}">
                <a16:creationId xmlns:a16="http://schemas.microsoft.com/office/drawing/2014/main" id="{40594DD8-1D9D-CCB4-759C-A94F24D93C87}"/>
              </a:ext>
            </a:extLst>
          </p:cNvPr>
          <p:cNvSpPr txBox="1"/>
          <p:nvPr/>
        </p:nvSpPr>
        <p:spPr>
          <a:xfrm>
            <a:off x="14556491" y="2995501"/>
            <a:ext cx="3313553" cy="538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88"/>
              </a:lnSpc>
            </a:pPr>
            <a:r>
              <a:rPr lang="en-US" spc="132" dirty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Em </a:t>
            </a:r>
            <a:r>
              <a:rPr lang="en-US" spc="132" dirty="0" err="1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Análise</a:t>
            </a:r>
            <a:r>
              <a:rPr lang="en-US" spc="132" dirty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 </a:t>
            </a:r>
          </a:p>
          <a:p>
            <a:pPr algn="ctr">
              <a:lnSpc>
                <a:spcPts val="2088"/>
              </a:lnSpc>
            </a:pPr>
            <a:r>
              <a:rPr lang="en-US" spc="132" dirty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Lighthouse</a:t>
            </a:r>
          </a:p>
        </p:txBody>
      </p:sp>
    </p:spTree>
    <p:extLst>
      <p:ext uri="{BB962C8B-B14F-4D97-AF65-F5344CB8AC3E}">
        <p14:creationId xmlns:p14="http://schemas.microsoft.com/office/powerpoint/2010/main" val="223995047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134" t="-1438" r="-15287" b="-36543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3" name="Freeform 3"/>
          <p:cNvSpPr/>
          <p:nvPr/>
        </p:nvSpPr>
        <p:spPr>
          <a:xfrm>
            <a:off x="9143923" y="-3215962"/>
            <a:ext cx="18288155" cy="14946631"/>
          </a:xfrm>
          <a:custGeom>
            <a:avLst/>
            <a:gdLst/>
            <a:ahLst/>
            <a:cxnLst/>
            <a:rect l="l" t="t" r="r" b="b"/>
            <a:pathLst>
              <a:path w="18288155" h="14946631">
                <a:moveTo>
                  <a:pt x="0" y="0"/>
                </a:moveTo>
                <a:lnTo>
                  <a:pt x="18288154" y="0"/>
                </a:lnTo>
                <a:lnTo>
                  <a:pt x="18288154" y="14946631"/>
                </a:lnTo>
                <a:lnTo>
                  <a:pt x="0" y="14946631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67000"/>
            </a:blip>
            <a:stretch>
              <a:fillRect t="-11874" b="-11874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4" name="Freeform 4"/>
          <p:cNvSpPr/>
          <p:nvPr/>
        </p:nvSpPr>
        <p:spPr>
          <a:xfrm>
            <a:off x="-7055199" y="2813684"/>
            <a:ext cx="18288155" cy="14946631"/>
          </a:xfrm>
          <a:custGeom>
            <a:avLst/>
            <a:gdLst/>
            <a:ahLst/>
            <a:cxnLst/>
            <a:rect l="l" t="t" r="r" b="b"/>
            <a:pathLst>
              <a:path w="18288155" h="14946631">
                <a:moveTo>
                  <a:pt x="0" y="0"/>
                </a:moveTo>
                <a:lnTo>
                  <a:pt x="18288155" y="0"/>
                </a:lnTo>
                <a:lnTo>
                  <a:pt x="18288155" y="14946632"/>
                </a:lnTo>
                <a:lnTo>
                  <a:pt x="0" y="14946632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67000"/>
            </a:blip>
            <a:stretch>
              <a:fillRect t="-11874" b="-11874"/>
            </a:stretch>
          </a:blipFill>
        </p:spPr>
        <p:txBody>
          <a:bodyPr/>
          <a:lstStyle/>
          <a:p>
            <a:endParaRPr lang="pt-BR"/>
          </a:p>
        </p:txBody>
      </p:sp>
      <p:grpSp>
        <p:nvGrpSpPr>
          <p:cNvPr id="5" name="Group 5"/>
          <p:cNvGrpSpPr/>
          <p:nvPr/>
        </p:nvGrpSpPr>
        <p:grpSpPr>
          <a:xfrm>
            <a:off x="1028700" y="2223618"/>
            <a:ext cx="4877699" cy="7949082"/>
            <a:chOff x="0" y="0"/>
            <a:chExt cx="1150956" cy="904003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150956" cy="904003"/>
            </a:xfrm>
            <a:custGeom>
              <a:avLst/>
              <a:gdLst/>
              <a:ahLst/>
              <a:cxnLst/>
              <a:rect l="l" t="t" r="r" b="b"/>
              <a:pathLst>
                <a:path w="1150956" h="904003">
                  <a:moveTo>
                    <a:pt x="0" y="0"/>
                  </a:moveTo>
                  <a:lnTo>
                    <a:pt x="1150956" y="0"/>
                  </a:lnTo>
                  <a:lnTo>
                    <a:pt x="1150956" y="904003"/>
                  </a:lnTo>
                  <a:lnTo>
                    <a:pt x="0" y="904003"/>
                  </a:lnTo>
                  <a:close/>
                </a:path>
              </a:pathLst>
            </a:custGeom>
            <a:solidFill>
              <a:srgbClr val="E2D8D0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1150956" cy="9421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6628200" y="2223618"/>
            <a:ext cx="4878000" cy="7949082"/>
            <a:chOff x="0" y="0"/>
            <a:chExt cx="1150956" cy="904003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150956" cy="904003"/>
            </a:xfrm>
            <a:custGeom>
              <a:avLst/>
              <a:gdLst/>
              <a:ahLst/>
              <a:cxnLst/>
              <a:rect l="l" t="t" r="r" b="b"/>
              <a:pathLst>
                <a:path w="1150956" h="904003">
                  <a:moveTo>
                    <a:pt x="41651" y="0"/>
                  </a:moveTo>
                  <a:lnTo>
                    <a:pt x="1109305" y="0"/>
                  </a:lnTo>
                  <a:cubicBezTo>
                    <a:pt x="1132308" y="0"/>
                    <a:pt x="1150956" y="18648"/>
                    <a:pt x="1150956" y="41651"/>
                  </a:cubicBezTo>
                  <a:lnTo>
                    <a:pt x="1150956" y="862352"/>
                  </a:lnTo>
                  <a:cubicBezTo>
                    <a:pt x="1150956" y="885355"/>
                    <a:pt x="1132308" y="904003"/>
                    <a:pt x="1109305" y="904003"/>
                  </a:cubicBezTo>
                  <a:lnTo>
                    <a:pt x="41651" y="904003"/>
                  </a:lnTo>
                  <a:cubicBezTo>
                    <a:pt x="18648" y="904003"/>
                    <a:pt x="0" y="885355"/>
                    <a:pt x="0" y="862352"/>
                  </a:cubicBezTo>
                  <a:lnTo>
                    <a:pt x="0" y="41651"/>
                  </a:lnTo>
                  <a:cubicBezTo>
                    <a:pt x="0" y="18648"/>
                    <a:pt x="18648" y="0"/>
                    <a:pt x="41651" y="0"/>
                  </a:cubicBezTo>
                  <a:close/>
                </a:path>
              </a:pathLst>
            </a:custGeom>
            <a:solidFill>
              <a:srgbClr val="282525"/>
            </a:solidFill>
            <a:ln w="38100" cap="sq">
              <a:solidFill>
                <a:srgbClr val="282525"/>
              </a:solidFill>
              <a:prstDash val="solid"/>
              <a:miter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38100"/>
              <a:ext cx="1150956" cy="9421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8" name="TextBox 18"/>
          <p:cNvSpPr txBox="1"/>
          <p:nvPr/>
        </p:nvSpPr>
        <p:spPr>
          <a:xfrm>
            <a:off x="1477880" y="3036179"/>
            <a:ext cx="2955997" cy="2693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125"/>
              </a:lnSpc>
            </a:pPr>
            <a:r>
              <a:rPr lang="en-US" sz="1864" b="1" spc="-37" dirty="0">
                <a:solidFill>
                  <a:srgbClr val="282525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Pontos de </a:t>
            </a:r>
            <a:r>
              <a:rPr lang="en-US" sz="1864" b="1" spc="-37" dirty="0" err="1">
                <a:solidFill>
                  <a:srgbClr val="282525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Atenção</a:t>
            </a:r>
            <a:endParaRPr lang="en-US" sz="1864" b="1" spc="-37" dirty="0">
              <a:solidFill>
                <a:srgbClr val="282525"/>
              </a:solidFill>
              <a:latin typeface="General Sans 1 Semi-Bold"/>
              <a:ea typeface="General Sans 1 Semi-Bold"/>
              <a:cs typeface="General Sans 1 Semi-Bold"/>
              <a:sym typeface="General Sans 1 Semi-Bold"/>
            </a:endParaRPr>
          </a:p>
        </p:txBody>
      </p:sp>
      <p:sp>
        <p:nvSpPr>
          <p:cNvPr id="20" name="TextBox 20"/>
          <p:cNvSpPr txBox="1"/>
          <p:nvPr/>
        </p:nvSpPr>
        <p:spPr>
          <a:xfrm>
            <a:off x="7065478" y="2902829"/>
            <a:ext cx="1863200" cy="2693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25"/>
              </a:lnSpc>
            </a:pPr>
            <a:r>
              <a:rPr lang="en-US" sz="1864" b="1" spc="-37" dirty="0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Pontos </a:t>
            </a:r>
            <a:r>
              <a:rPr lang="en-US" sz="1864" b="1" spc="-37" dirty="0" err="1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Positivos</a:t>
            </a:r>
            <a:r>
              <a:rPr lang="en-US" sz="1864" b="1" spc="-37" dirty="0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 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477881" y="3534456"/>
            <a:ext cx="4231528" cy="435818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285750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>Itens bloqueados com dependência externa:</a:t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>Formulário da central de atendimento, aguardando a Salesforce.</a:t>
            </a:r>
            <a:r>
              <a:rPr lang="pt-BR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/>
            </a: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/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>Relatórios do e-commerce, aguardando causa raiz da Oracle.</a:t>
            </a:r>
            <a:r>
              <a:rPr lang="pt-BR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/>
            </a: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/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>Capacidade da Black Friday, em análise preventiva com a Oracle.</a:t>
            </a:r>
            <a:r>
              <a:rPr lang="pt-BR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/>
            </a: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/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>Imagens de produto, aguardando confirmação do Google.</a:t>
            </a:r>
            <a:r>
              <a:rPr lang="pt-BR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/>
            </a: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/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>Avaliações e dúvidas da nova página de produto, com a YourViews.</a:t>
            </a:r>
            <a:r>
              <a:rPr lang="pt-BR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/>
            </a: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/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>Integração de afiliados, aguardando a Rakuten.</a:t>
            </a:r>
            <a:r>
              <a:rPr lang="pt-BR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/>
            </a: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/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>Apple Pay e Google Pay, aguardando a escolha do gateway.</a:t>
            </a:r>
            <a:r>
              <a:rPr lang="pt-BR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/>
            </a: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/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endParaRPr lang="pt-BR" sz="1200" b="1" dirty="0">
              <a:solidFill>
                <a:srgbClr val="282525"/>
              </a:solidFill>
              <a:latin typeface="General Sans 2 Medium"/>
              <a:ea typeface="General Sans 2 Medium"/>
              <a:cs typeface="General Sans 2 Medium"/>
            </a:endParaRPr>
          </a:p>
          <a:p>
            <a:pPr marL="285750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>Maior tempo em desenvolvimento:</a:t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>Análise dos logs de erro 500 no OCC: 26 dias úteis.</a:t>
            </a:r>
            <a:r>
              <a:rPr lang="pt-BR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/>
            </a: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/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endParaRPr lang="pt-BR" sz="1200" b="1" dirty="0">
              <a:solidFill>
                <a:srgbClr val="282525"/>
              </a:solidFill>
              <a:latin typeface="General Sans 2 Medium"/>
              <a:ea typeface="General Sans 2 Medium"/>
              <a:cs typeface="General Sans 2 Medium"/>
            </a:endParaRPr>
          </a:p>
          <a:p>
            <a:pPr marL="285750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>Hero da nova página de produto segue em desenvolvimento e ainda aguarda o Figma do botão de compartilhar.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7065478" y="3504685"/>
            <a:ext cx="4167478" cy="505888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285750" indent="-285750" algn="l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en-US" sz="1200" b="1" dirty="0" err="1">
                <a:solidFill>
                  <a:srgbClr val="E2D8D0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Disponibilidade do site: 100%.</a:t>
            </a:r>
            <a:r>
              <a:rPr lang="en-US" sz="1200" b="1" dirty="0">
                <a:solidFill>
                  <a:srgbClr val="E2D8D0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</a:p>
          <a:p>
            <a:pPr marL="285750" indent="-285750" algn="l">
              <a:lnSpc>
                <a:spcPts val="1750"/>
              </a:lnSpc>
              <a:buFont typeface="Arial" panose="020B0604020202020204" pitchFamily="34" charset="0"/>
              <a:buChar char="•"/>
            </a:pPr>
            <a:endParaRPr lang="en-US" sz="1200" b="1" dirty="0">
              <a:solidFill>
                <a:srgbClr val="E2D8D0"/>
              </a:solidFill>
              <a:latin typeface="General Sans 2 Medium"/>
              <a:ea typeface="General Sans 2 Medium"/>
              <a:cs typeface="General Sans 2 Medium"/>
              <a:sym typeface="General Sans 2 Medium"/>
            </a:endParaRPr>
          </a:p>
          <a:p>
            <a:pPr marL="285750" indent="-285750" algn="l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en-US" sz="1200" b="1" dirty="0" err="1">
                <a:solidFill>
                  <a:srgbClr val="E2D8D0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Sete das nove entregas de bug e melhoria levaram até 4 dias úteis de desenvolvimento. Três user stories de suporte de sprint foram encerradas no mês, sem passagem pelo estado Active.</a:t>
            </a:r>
            <a:r>
              <a:rPr lang="en-US" sz="1200" b="1" dirty="0">
                <a:solidFill>
                  <a:srgbClr val="E2D8D0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</a:p>
          <a:p>
            <a:pPr marL="285750" indent="-285750" algn="l">
              <a:lnSpc>
                <a:spcPts val="1750"/>
              </a:lnSpc>
              <a:buFont typeface="Arial" panose="020B0604020202020204" pitchFamily="34" charset="0"/>
              <a:buChar char="•"/>
            </a:pPr>
            <a:endParaRPr lang="en-US" sz="1200" b="1" dirty="0">
              <a:solidFill>
                <a:srgbClr val="E2D8D0"/>
              </a:solidFill>
              <a:latin typeface="General Sans 2 Medium"/>
              <a:ea typeface="General Sans 2 Medium"/>
              <a:cs typeface="General Sans 2 Medium"/>
              <a:sym typeface="General Sans 2 Medium"/>
            </a:endParaRPr>
          </a:p>
          <a:p>
            <a:pPr marL="285750" indent="-285750" algn="l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en-US" sz="1200" b="1" dirty="0" err="1">
                <a:solidFill>
                  <a:srgbClr val="E2D8D0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O time registrou 16 bugs e melhorias internamente, adiantando a nova PDP, a Algolia e a correção de preço.</a:t>
            </a:r>
            <a:r>
              <a:rPr lang="en-US" sz="1200" b="1" dirty="0">
                <a:solidFill>
                  <a:srgbClr val="E2D8D0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</a:p>
          <a:p>
            <a:pPr marL="285750" indent="-285750" algn="l">
              <a:lnSpc>
                <a:spcPts val="1750"/>
              </a:lnSpc>
              <a:buFont typeface="Arial" panose="020B0604020202020204" pitchFamily="34" charset="0"/>
              <a:buChar char="•"/>
            </a:pPr>
            <a:endParaRPr lang="en-US" sz="1200" b="1" dirty="0">
              <a:solidFill>
                <a:srgbClr val="E2D8D0"/>
              </a:solidFill>
              <a:latin typeface="General Sans 2 Medium"/>
              <a:ea typeface="General Sans 2 Medium"/>
              <a:cs typeface="General Sans 2 Medium"/>
              <a:sym typeface="General Sans 2 Medium"/>
            </a:endParaRPr>
          </a:p>
          <a:p>
            <a:pPr marL="285750" indent="-285750" algn="l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en-US" sz="1200" b="1" dirty="0" err="1">
                <a:solidFill>
                  <a:srgbClr val="E2D8D0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Entregas relevantes:</a:t>
            </a:r>
            <a:r>
              <a:rPr lang="en-US" sz="1200" b="1" dirty="0">
                <a:solidFill>
                  <a:srgbClr val="E2D8D0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E2D8D0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Origem do cadastro distinguida entre aplicativo e site.</a:t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E2D8D0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Novos carrosséis de benefícios e de oferta do dia.</a:t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E2D8D0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Ajuste da estatística de navegação e da origem registrada no pedido.</a:t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E2D8D0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Revisão do checkout de pedidos incompletos e tratativa do logo que não aparecia.</a:t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E2D8D0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Análises do consumo das APIs Oracle e dos logs de erro 500.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028700" y="791837"/>
            <a:ext cx="7886700" cy="97462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7605"/>
              </a:lnSpc>
            </a:pPr>
            <a:r>
              <a:rPr lang="en-US" sz="7042" b="1" spc="-352" dirty="0" err="1">
                <a:solidFill>
                  <a:srgbClr val="282525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Resumo</a:t>
            </a:r>
            <a:r>
              <a:rPr lang="en-US" sz="7042" b="1" spc="-352" dirty="0">
                <a:solidFill>
                  <a:srgbClr val="282525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 </a:t>
            </a:r>
            <a:r>
              <a:rPr lang="en-US" sz="7042" b="1" spc="-352" dirty="0" err="1">
                <a:solidFill>
                  <a:srgbClr val="282525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Executivo</a:t>
            </a:r>
            <a:endParaRPr lang="en-US" sz="7042" b="1" spc="-352" dirty="0">
              <a:solidFill>
                <a:srgbClr val="282525"/>
              </a:solidFill>
              <a:latin typeface="General Sans 1 Semi-Bold"/>
              <a:ea typeface="General Sans 1 Semi-Bold"/>
              <a:cs typeface="General Sans 1 Semi-Bold"/>
              <a:sym typeface="General Sans 1 Semi-Bold"/>
            </a:endParaRPr>
          </a:p>
        </p:txBody>
      </p:sp>
      <p:grpSp>
        <p:nvGrpSpPr>
          <p:cNvPr id="36" name="Group 5">
            <a:extLst>
              <a:ext uri="{FF2B5EF4-FFF2-40B4-BE49-F238E27FC236}">
                <a16:creationId xmlns:a16="http://schemas.microsoft.com/office/drawing/2014/main" id="{E5CE34A7-C163-A74E-662D-79466A3D7C95}"/>
              </a:ext>
            </a:extLst>
          </p:cNvPr>
          <p:cNvGrpSpPr/>
          <p:nvPr/>
        </p:nvGrpSpPr>
        <p:grpSpPr>
          <a:xfrm>
            <a:off x="12304874" y="2223618"/>
            <a:ext cx="4877699" cy="7949082"/>
            <a:chOff x="0" y="0"/>
            <a:chExt cx="1150956" cy="904003"/>
          </a:xfrm>
        </p:grpSpPr>
        <p:sp>
          <p:nvSpPr>
            <p:cNvPr id="37" name="Freeform 6">
              <a:extLst>
                <a:ext uri="{FF2B5EF4-FFF2-40B4-BE49-F238E27FC236}">
                  <a16:creationId xmlns:a16="http://schemas.microsoft.com/office/drawing/2014/main" id="{18538DD7-C3A8-22EC-8213-CE2CB964B2AB}"/>
                </a:ext>
              </a:extLst>
            </p:cNvPr>
            <p:cNvSpPr/>
            <p:nvPr/>
          </p:nvSpPr>
          <p:spPr>
            <a:xfrm>
              <a:off x="0" y="0"/>
              <a:ext cx="1150956" cy="904003"/>
            </a:xfrm>
            <a:custGeom>
              <a:avLst/>
              <a:gdLst/>
              <a:ahLst/>
              <a:cxnLst/>
              <a:rect l="l" t="t" r="r" b="b"/>
              <a:pathLst>
                <a:path w="1150956" h="904003">
                  <a:moveTo>
                    <a:pt x="0" y="0"/>
                  </a:moveTo>
                  <a:lnTo>
                    <a:pt x="1150956" y="0"/>
                  </a:lnTo>
                  <a:lnTo>
                    <a:pt x="1150956" y="904003"/>
                  </a:lnTo>
                  <a:lnTo>
                    <a:pt x="0" y="904003"/>
                  </a:lnTo>
                  <a:close/>
                </a:path>
              </a:pathLst>
            </a:custGeom>
            <a:solidFill>
              <a:srgbClr val="E2D8D0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38" name="TextBox 7">
              <a:extLst>
                <a:ext uri="{FF2B5EF4-FFF2-40B4-BE49-F238E27FC236}">
                  <a16:creationId xmlns:a16="http://schemas.microsoft.com/office/drawing/2014/main" id="{D60789AB-B5D1-35C3-A6AE-02B5B3D574A4}"/>
                </a:ext>
              </a:extLst>
            </p:cNvPr>
            <p:cNvSpPr txBox="1"/>
            <p:nvPr/>
          </p:nvSpPr>
          <p:spPr>
            <a:xfrm>
              <a:off x="0" y="-38100"/>
              <a:ext cx="1150956" cy="9421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39" name="TextBox 18">
            <a:extLst>
              <a:ext uri="{FF2B5EF4-FFF2-40B4-BE49-F238E27FC236}">
                <a16:creationId xmlns:a16="http://schemas.microsoft.com/office/drawing/2014/main" id="{F939704B-2803-E044-71D3-25487A283540}"/>
              </a:ext>
            </a:extLst>
          </p:cNvPr>
          <p:cNvSpPr txBox="1"/>
          <p:nvPr/>
        </p:nvSpPr>
        <p:spPr>
          <a:xfrm>
            <a:off x="12754054" y="3036179"/>
            <a:ext cx="2955997" cy="2693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125"/>
              </a:lnSpc>
            </a:pPr>
            <a:r>
              <a:rPr lang="en-US" sz="1864" b="1" spc="-37" dirty="0" err="1">
                <a:solidFill>
                  <a:srgbClr val="282525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Próximas</a:t>
            </a:r>
            <a:r>
              <a:rPr lang="en-US" sz="1864" b="1" spc="-37" dirty="0">
                <a:solidFill>
                  <a:srgbClr val="282525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 </a:t>
            </a:r>
            <a:r>
              <a:rPr lang="en-US" sz="1864" b="1" spc="-37" dirty="0" err="1">
                <a:solidFill>
                  <a:srgbClr val="282525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Ações</a:t>
            </a:r>
            <a:endParaRPr lang="en-US" sz="1864" b="1" spc="-37" dirty="0">
              <a:solidFill>
                <a:srgbClr val="282525"/>
              </a:solidFill>
              <a:latin typeface="General Sans 1 Semi-Bold"/>
              <a:ea typeface="General Sans 1 Semi-Bold"/>
              <a:cs typeface="General Sans 1 Semi-Bold"/>
              <a:sym typeface="General Sans 1 Semi-Bold"/>
            </a:endParaRPr>
          </a:p>
        </p:txBody>
      </p:sp>
      <p:sp>
        <p:nvSpPr>
          <p:cNvPr id="40" name="TextBox 22">
            <a:extLst>
              <a:ext uri="{FF2B5EF4-FFF2-40B4-BE49-F238E27FC236}">
                <a16:creationId xmlns:a16="http://schemas.microsoft.com/office/drawing/2014/main" id="{20E57E0C-F8C1-C794-D853-2FA416FAE00F}"/>
              </a:ext>
            </a:extLst>
          </p:cNvPr>
          <p:cNvSpPr txBox="1"/>
          <p:nvPr/>
        </p:nvSpPr>
        <p:spPr>
          <a:xfrm>
            <a:off x="12754055" y="3534457"/>
            <a:ext cx="4056064" cy="667471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285750" indent="-285750" algn="l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Concluir o desenvolvimento:</a:t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Novo layout e hero da página de produto, com o botão de compartilhar.</a:t>
            </a:r>
            <a:r>
              <a:rPr lang="en-US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Algolia nas categorias, com ordenação e filtros.</a:t>
            </a:r>
            <a:r>
              <a:rPr lang="en-US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</a:p>
          <a:p>
            <a:pPr marL="285750" indent="-285750" algn="l">
              <a:lnSpc>
                <a:spcPts val="1750"/>
              </a:lnSpc>
              <a:buFont typeface="Arial" panose="020B0604020202020204" pitchFamily="34" charset="0"/>
              <a:buChar char="•"/>
            </a:pPr>
            <a:endParaRPr lang="en-US" sz="1200" b="1" dirty="0">
              <a:solidFill>
                <a:srgbClr val="282525"/>
              </a:solidFill>
              <a:latin typeface="General Sans 2 Medium"/>
              <a:ea typeface="General Sans 2 Medium"/>
              <a:cs typeface="General Sans 2 Medium"/>
              <a:sym typeface="General Sans 2 Medium"/>
            </a:endParaRPr>
          </a:p>
          <a:p>
            <a:pPr marL="285750" indent="-285750" algn="l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Concluir a validação interna:</a:t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Benefícios, informações, ritual e rotina da nova PDP.</a:t>
            </a:r>
            <a:r>
              <a:rPr lang="en-US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Indexação, eventos, buscas recentes, autocomplete e catálogo da Algolia.</a:t>
            </a:r>
            <a:r>
              <a:rPr lang="en-US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</a:p>
          <a:p>
            <a:pPr marL="285750" indent="-285750" algn="l">
              <a:lnSpc>
                <a:spcPts val="1750"/>
              </a:lnSpc>
              <a:buFont typeface="Arial" panose="020B0604020202020204" pitchFamily="34" charset="0"/>
              <a:buChar char="•"/>
            </a:pPr>
            <a:endParaRPr lang="en-US" sz="1200" b="1" dirty="0">
              <a:solidFill>
                <a:srgbClr val="282525"/>
              </a:solidFill>
              <a:latin typeface="General Sans 2 Medium"/>
              <a:ea typeface="General Sans 2 Medium"/>
              <a:cs typeface="General Sans 2 Medium"/>
              <a:sym typeface="General Sans 2 Medium"/>
            </a:endParaRPr>
          </a:p>
          <a:p>
            <a:pPr marL="285750" indent="-285750" algn="l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Validar com a Salon Line:</a:t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Viabilidade da busca Algolia.</a:t>
            </a:r>
            <a:r>
              <a:rPr lang="en-US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Vídeo ou GIF na PDP e abandono de checkout, prontos para produção.</a:t>
            </a:r>
            <a:r>
              <a:rPr lang="en-US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Marca Trata no menu.</a:t>
            </a:r>
            <a:r>
              <a:rPr lang="en-US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</a:p>
          <a:p>
            <a:pPr marL="285750" indent="-285750" algn="l">
              <a:lnSpc>
                <a:spcPts val="1750"/>
              </a:lnSpc>
              <a:buFont typeface="Arial" panose="020B0604020202020204" pitchFamily="34" charset="0"/>
              <a:buChar char="•"/>
            </a:pPr>
            <a:endParaRPr lang="en-US" sz="1200" b="1" dirty="0">
              <a:solidFill>
                <a:srgbClr val="282525"/>
              </a:solidFill>
              <a:latin typeface="General Sans 2 Medium"/>
              <a:ea typeface="General Sans 2 Medium"/>
              <a:cs typeface="General Sans 2 Medium"/>
              <a:sym typeface="General Sans 2 Medium"/>
            </a:endParaRPr>
          </a:p>
          <a:p>
            <a:pPr marL="285750" indent="-285750" algn="l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Acompanhar em monitoramento os erros de integração de pedidos.</a:t>
            </a:r>
          </a:p>
          <a:p>
            <a:pPr marL="285750" indent="-285750" algn="l">
              <a:lnSpc>
                <a:spcPts val="1750"/>
              </a:lnSpc>
              <a:buFont typeface="Arial" panose="020B0604020202020204" pitchFamily="34" charset="0"/>
              <a:buChar char="•"/>
            </a:pPr>
            <a:endParaRPr lang="en-US" sz="1200" b="1" dirty="0">
              <a:solidFill>
                <a:srgbClr val="282525"/>
              </a:solidFill>
              <a:latin typeface="General Sans 2 Medium"/>
              <a:ea typeface="General Sans 2 Medium"/>
              <a:cs typeface="General Sans 2 Medium"/>
              <a:sym typeface="General Sans 2 Medium"/>
            </a:endParaRPr>
          </a:p>
          <a:p>
            <a:pPr marL="285750" indent="-285750" algn="l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Retomar bloqueios com Salesforce, Oracle, Google, YourViews e Rakuten.</a:t>
            </a:r>
          </a:p>
          <a:p>
            <a:pPr marL="285750" indent="-285750" algn="l">
              <a:lnSpc>
                <a:spcPts val="1750"/>
              </a:lnSpc>
              <a:buFont typeface="Arial" panose="020B0604020202020204" pitchFamily="34" charset="0"/>
              <a:buChar char="•"/>
            </a:pPr>
            <a:endParaRPr lang="en-US" sz="1200" b="1" dirty="0">
              <a:solidFill>
                <a:srgbClr val="282525"/>
              </a:solidFill>
              <a:latin typeface="General Sans 2 Medium"/>
              <a:ea typeface="General Sans 2 Medium"/>
              <a:cs typeface="General Sans 2 Medium"/>
              <a:sym typeface="General Sans 2 Medium"/>
            </a:endParaRPr>
          </a:p>
          <a:p>
            <a:pPr marL="285750" indent="-285750" algn="l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Planejar: outlet, Streamshop, moeda na PDP, Cronograma Capilar e Black Friday.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rcRect/>
          <a:stretch>
            <a:fillRect/>
          </a:stretch>
        </p:blipFill>
        <p:spPr>
          <a:xfrm>
            <a:off x="0" y="-17633"/>
            <a:ext cx="18288000" cy="10287000"/>
          </a:xfrm>
          <a:prstGeom prst="rect">
            <a:avLst/>
          </a:prstGeom>
        </p:spPr>
      </p:pic>
      <p:sp>
        <p:nvSpPr>
          <p:cNvPr id="3" name="Freeform 3"/>
          <p:cNvSpPr/>
          <p:nvPr/>
        </p:nvSpPr>
        <p:spPr>
          <a:xfrm>
            <a:off x="0" y="717631"/>
            <a:ext cx="17012212" cy="9569369"/>
          </a:xfrm>
          <a:custGeom>
            <a:avLst/>
            <a:gdLst/>
            <a:ahLst/>
            <a:cxnLst/>
            <a:rect l="l" t="t" r="r" b="b"/>
            <a:pathLst>
              <a:path w="17012212" h="9569369">
                <a:moveTo>
                  <a:pt x="0" y="0"/>
                </a:moveTo>
                <a:lnTo>
                  <a:pt x="17012212" y="0"/>
                </a:lnTo>
                <a:lnTo>
                  <a:pt x="17012212" y="9569369"/>
                </a:lnTo>
                <a:lnTo>
                  <a:pt x="0" y="956936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1503" t="-31003" b="-59446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4" name="Freeform 4"/>
          <p:cNvSpPr/>
          <p:nvPr/>
        </p:nvSpPr>
        <p:spPr>
          <a:xfrm flipH="1">
            <a:off x="10394830" y="0"/>
            <a:ext cx="7893170" cy="10287000"/>
          </a:xfrm>
          <a:custGeom>
            <a:avLst/>
            <a:gdLst/>
            <a:ahLst/>
            <a:cxnLst/>
            <a:rect l="l" t="t" r="r" b="b"/>
            <a:pathLst>
              <a:path w="7893170" h="10287000">
                <a:moveTo>
                  <a:pt x="7893170" y="0"/>
                </a:moveTo>
                <a:lnTo>
                  <a:pt x="0" y="0"/>
                </a:lnTo>
                <a:lnTo>
                  <a:pt x="0" y="10287000"/>
                </a:lnTo>
                <a:lnTo>
                  <a:pt x="7893170" y="10287000"/>
                </a:lnTo>
                <a:lnTo>
                  <a:pt x="7893170" y="0"/>
                </a:lnTo>
                <a:close/>
              </a:path>
            </a:pathLst>
          </a:custGeom>
          <a:blipFill>
            <a:blip r:embed="rId5"/>
            <a:stretch>
              <a:fillRect l="-33166" r="-46354" b="-45378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5" name="Freeform 5"/>
          <p:cNvSpPr/>
          <p:nvPr/>
        </p:nvSpPr>
        <p:spPr>
          <a:xfrm flipH="1">
            <a:off x="10394830" y="0"/>
            <a:ext cx="7893170" cy="10287000"/>
          </a:xfrm>
          <a:custGeom>
            <a:avLst/>
            <a:gdLst/>
            <a:ahLst/>
            <a:cxnLst/>
            <a:rect l="l" t="t" r="r" b="b"/>
            <a:pathLst>
              <a:path w="7893170" h="10287000">
                <a:moveTo>
                  <a:pt x="7893170" y="0"/>
                </a:moveTo>
                <a:lnTo>
                  <a:pt x="0" y="0"/>
                </a:lnTo>
                <a:lnTo>
                  <a:pt x="0" y="10287000"/>
                </a:lnTo>
                <a:lnTo>
                  <a:pt x="7893170" y="10287000"/>
                </a:lnTo>
                <a:lnTo>
                  <a:pt x="7893170" y="0"/>
                </a:lnTo>
                <a:close/>
              </a:path>
            </a:pathLst>
          </a:custGeom>
          <a:blipFill>
            <a:blip r:embed="rId5"/>
            <a:stretch>
              <a:fillRect l="-33166" r="-46354" b="-45378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6" name="Freeform 6"/>
          <p:cNvSpPr/>
          <p:nvPr/>
        </p:nvSpPr>
        <p:spPr>
          <a:xfrm>
            <a:off x="0" y="0"/>
            <a:ext cx="10394830" cy="10287000"/>
          </a:xfrm>
          <a:custGeom>
            <a:avLst/>
            <a:gdLst/>
            <a:ahLst/>
            <a:cxnLst/>
            <a:rect l="l" t="t" r="r" b="b"/>
            <a:pathLst>
              <a:path w="10394830" h="10287000">
                <a:moveTo>
                  <a:pt x="0" y="0"/>
                </a:moveTo>
                <a:lnTo>
                  <a:pt x="10394830" y="0"/>
                </a:lnTo>
                <a:lnTo>
                  <a:pt x="1039483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2461" t="-21864" r="-63660" b="-55299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7" name="Freeform 7"/>
          <p:cNvSpPr/>
          <p:nvPr/>
        </p:nvSpPr>
        <p:spPr>
          <a:xfrm>
            <a:off x="7007853" y="4676384"/>
            <a:ext cx="1736950" cy="918630"/>
          </a:xfrm>
          <a:custGeom>
            <a:avLst/>
            <a:gdLst/>
            <a:ahLst/>
            <a:cxnLst/>
            <a:rect l="l" t="t" r="r" b="b"/>
            <a:pathLst>
              <a:path w="1736950" h="918630">
                <a:moveTo>
                  <a:pt x="0" y="0"/>
                </a:moveTo>
                <a:lnTo>
                  <a:pt x="1736950" y="0"/>
                </a:lnTo>
                <a:lnTo>
                  <a:pt x="1736950" y="918629"/>
                </a:lnTo>
                <a:lnTo>
                  <a:pt x="0" y="91862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8" name="TextBox 8"/>
          <p:cNvSpPr txBox="1"/>
          <p:nvPr/>
        </p:nvSpPr>
        <p:spPr>
          <a:xfrm>
            <a:off x="9004474" y="4680186"/>
            <a:ext cx="2275673" cy="9361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64"/>
              </a:lnSpc>
            </a:pPr>
            <a:r>
              <a:rPr lang="en-US" sz="1759" b="1">
                <a:solidFill>
                  <a:srgbClr val="FFFFFF"/>
                </a:solidFill>
                <a:latin typeface="General Sans 1 Medium"/>
                <a:ea typeface="General Sans 1 Medium"/>
                <a:cs typeface="General Sans 1 Medium"/>
                <a:sym typeface="General Sans 1 Medium"/>
              </a:rPr>
              <a:t>Consultoria ​</a:t>
            </a:r>
          </a:p>
          <a:p>
            <a:pPr algn="l">
              <a:lnSpc>
                <a:spcPts val="1864"/>
              </a:lnSpc>
            </a:pPr>
            <a:r>
              <a:rPr lang="en-US" sz="1759" b="1">
                <a:solidFill>
                  <a:srgbClr val="FFFFFF"/>
                </a:solidFill>
                <a:latin typeface="General Sans 1 Medium"/>
                <a:ea typeface="General Sans 1 Medium"/>
                <a:cs typeface="General Sans 1 Medium"/>
                <a:sym typeface="General Sans 1 Medium"/>
              </a:rPr>
              <a:t>e desenvolvimento </a:t>
            </a:r>
          </a:p>
          <a:p>
            <a:pPr algn="l">
              <a:lnSpc>
                <a:spcPts val="1864"/>
              </a:lnSpc>
            </a:pPr>
            <a:r>
              <a:rPr lang="en-US" sz="1759" b="1">
                <a:solidFill>
                  <a:srgbClr val="FFFFFF"/>
                </a:solidFill>
                <a:latin typeface="General Sans 1 Medium"/>
                <a:ea typeface="General Sans 1 Medium"/>
                <a:cs typeface="General Sans 1 Medium"/>
                <a:sym typeface="General Sans 1 Medium"/>
              </a:rPr>
              <a:t>de software para seu </a:t>
            </a:r>
          </a:p>
          <a:p>
            <a:pPr algn="l">
              <a:lnSpc>
                <a:spcPts val="1864"/>
              </a:lnSpc>
            </a:pPr>
            <a:r>
              <a:rPr lang="en-US" sz="1759" b="1">
                <a:solidFill>
                  <a:srgbClr val="FFFFFF"/>
                </a:solidFill>
                <a:latin typeface="General Sans 1 Medium"/>
                <a:ea typeface="General Sans 1 Medium"/>
                <a:cs typeface="General Sans 1 Medium"/>
                <a:sym typeface="General Sans 1 Medium"/>
              </a:rPr>
              <a:t>sucesso digital.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050094" y="8384053"/>
            <a:ext cx="7203322" cy="3377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90"/>
              </a:lnSpc>
            </a:pPr>
            <a:r>
              <a:rPr lang="en-US" sz="2041" b="1">
                <a:solidFill>
                  <a:srgbClr val="EFEFEF"/>
                </a:solidFill>
                <a:latin typeface="General Sans 1 Medium"/>
                <a:ea typeface="General Sans 1 Medium"/>
                <a:cs typeface="General Sans 1 Medium"/>
                <a:sym typeface="General Sans 1 Medium"/>
              </a:rPr>
              <a:t>www.lighthouseit.com.br​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0">
                <p:cTn id="2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rcRect/>
          <a:stretch>
            <a:fillRect/>
          </a:stretch>
        </p:blipFill>
        <p:spPr>
          <a:xfrm>
            <a:off x="0" y="-17633"/>
            <a:ext cx="18288000" cy="10287000"/>
          </a:xfrm>
          <a:prstGeom prst="rect">
            <a:avLst/>
          </a:prstGeom>
        </p:spPr>
      </p:pic>
      <p:sp>
        <p:nvSpPr>
          <p:cNvPr id="3" name="Freeform 3"/>
          <p:cNvSpPr/>
          <p:nvPr/>
        </p:nvSpPr>
        <p:spPr>
          <a:xfrm>
            <a:off x="0" y="717631"/>
            <a:ext cx="17012212" cy="9569369"/>
          </a:xfrm>
          <a:custGeom>
            <a:avLst/>
            <a:gdLst/>
            <a:ahLst/>
            <a:cxnLst/>
            <a:rect l="l" t="t" r="r" b="b"/>
            <a:pathLst>
              <a:path w="17012212" h="9569369">
                <a:moveTo>
                  <a:pt x="0" y="0"/>
                </a:moveTo>
                <a:lnTo>
                  <a:pt x="17012212" y="0"/>
                </a:lnTo>
                <a:lnTo>
                  <a:pt x="17012212" y="9569369"/>
                </a:lnTo>
                <a:lnTo>
                  <a:pt x="0" y="956936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1503" t="-31003" b="-59446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4" name="Freeform 4"/>
          <p:cNvSpPr/>
          <p:nvPr/>
        </p:nvSpPr>
        <p:spPr>
          <a:xfrm flipH="1">
            <a:off x="10394830" y="0"/>
            <a:ext cx="7893170" cy="10287000"/>
          </a:xfrm>
          <a:custGeom>
            <a:avLst/>
            <a:gdLst/>
            <a:ahLst/>
            <a:cxnLst/>
            <a:rect l="l" t="t" r="r" b="b"/>
            <a:pathLst>
              <a:path w="7893170" h="10287000">
                <a:moveTo>
                  <a:pt x="7893170" y="0"/>
                </a:moveTo>
                <a:lnTo>
                  <a:pt x="0" y="0"/>
                </a:lnTo>
                <a:lnTo>
                  <a:pt x="0" y="10287000"/>
                </a:lnTo>
                <a:lnTo>
                  <a:pt x="7893170" y="10287000"/>
                </a:lnTo>
                <a:lnTo>
                  <a:pt x="7893170" y="0"/>
                </a:lnTo>
                <a:close/>
              </a:path>
            </a:pathLst>
          </a:custGeom>
          <a:blipFill>
            <a:blip r:embed="rId5"/>
            <a:stretch>
              <a:fillRect l="-33166" r="-46354" b="-45378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5" name="Freeform 5"/>
          <p:cNvSpPr/>
          <p:nvPr/>
        </p:nvSpPr>
        <p:spPr>
          <a:xfrm flipH="1">
            <a:off x="10394830" y="0"/>
            <a:ext cx="7893170" cy="10287000"/>
          </a:xfrm>
          <a:custGeom>
            <a:avLst/>
            <a:gdLst/>
            <a:ahLst/>
            <a:cxnLst/>
            <a:rect l="l" t="t" r="r" b="b"/>
            <a:pathLst>
              <a:path w="7893170" h="10287000">
                <a:moveTo>
                  <a:pt x="7893170" y="0"/>
                </a:moveTo>
                <a:lnTo>
                  <a:pt x="0" y="0"/>
                </a:lnTo>
                <a:lnTo>
                  <a:pt x="0" y="10287000"/>
                </a:lnTo>
                <a:lnTo>
                  <a:pt x="7893170" y="10287000"/>
                </a:lnTo>
                <a:lnTo>
                  <a:pt x="7893170" y="0"/>
                </a:lnTo>
                <a:close/>
              </a:path>
            </a:pathLst>
          </a:custGeom>
          <a:blipFill>
            <a:blip r:embed="rId5"/>
            <a:stretch>
              <a:fillRect l="-33166" r="-46354" b="-45378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6" name="Freeform 6"/>
          <p:cNvSpPr/>
          <p:nvPr/>
        </p:nvSpPr>
        <p:spPr>
          <a:xfrm>
            <a:off x="0" y="0"/>
            <a:ext cx="10394830" cy="10287000"/>
          </a:xfrm>
          <a:custGeom>
            <a:avLst/>
            <a:gdLst/>
            <a:ahLst/>
            <a:cxnLst/>
            <a:rect l="l" t="t" r="r" b="b"/>
            <a:pathLst>
              <a:path w="10394830" h="10287000">
                <a:moveTo>
                  <a:pt x="0" y="0"/>
                </a:moveTo>
                <a:lnTo>
                  <a:pt x="10394830" y="0"/>
                </a:lnTo>
                <a:lnTo>
                  <a:pt x="1039483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2461" t="-21864" r="-63660" b="-55299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12" name="TextBox 13">
            <a:extLst>
              <a:ext uri="{FF2B5EF4-FFF2-40B4-BE49-F238E27FC236}">
                <a16:creationId xmlns:a16="http://schemas.microsoft.com/office/drawing/2014/main" id="{2D2BEFCF-FCB6-DF8B-65C8-ADEBB921761A}"/>
              </a:ext>
            </a:extLst>
          </p:cNvPr>
          <p:cNvSpPr txBox="1"/>
          <p:nvPr/>
        </p:nvSpPr>
        <p:spPr>
          <a:xfrm>
            <a:off x="1" y="4624127"/>
            <a:ext cx="18288000" cy="103874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066"/>
              </a:lnSpc>
            </a:pPr>
            <a:r>
              <a:rPr lang="en-US" sz="8963" b="1" spc="-448" dirty="0" err="1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Anexos</a:t>
            </a:r>
            <a:endParaRPr lang="en-US" sz="8963" b="1" spc="-448" dirty="0">
              <a:solidFill>
                <a:srgbClr val="E2D8D0"/>
              </a:solidFill>
              <a:latin typeface="General Sans 1 Semi-Bold"/>
              <a:ea typeface="General Sans 1 Semi-Bold"/>
              <a:cs typeface="General Sans 1 Semi-Bold"/>
              <a:sym typeface="General Sans 1 Semi-Bold"/>
            </a:endParaRPr>
          </a:p>
        </p:txBody>
      </p:sp>
    </p:spTree>
    <p:extLst>
      <p:ext uri="{BB962C8B-B14F-4D97-AF65-F5344CB8AC3E}">
        <p14:creationId xmlns:p14="http://schemas.microsoft.com/office/powerpoint/2010/main" val="3519469412"/>
      </p:ext>
    </p:extLst>
  </p:cSld>
  <p:clrMapOvr>
    <a:masterClrMapping/>
  </p:clrMapOvr>
  <p:timing>
    <p:tnLst>
      <p:par>
        <p:cTn id="1" dur="indefinite" restart="never" nodeType="tmRoot">
          <p:childTnLst>
            <p:video>
              <p:cMediaNode vol="0">
                <p:cTn id="2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2FD3E6-4C52-B731-887D-43611921EF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756FFAC3-A20B-510B-F802-D03A1175D0F7}"/>
              </a:ext>
            </a:extLst>
          </p:cNvPr>
          <p:cNvSpPr/>
          <p:nvPr/>
        </p:nvSpPr>
        <p:spPr>
          <a:xfrm>
            <a:off x="0" y="0"/>
            <a:ext cx="18264864" cy="10273986"/>
          </a:xfrm>
          <a:custGeom>
            <a:avLst/>
            <a:gdLst/>
            <a:ahLst/>
            <a:cxnLst/>
            <a:rect l="l" t="t" r="r" b="b"/>
            <a:pathLst>
              <a:path w="18264864" h="10273986">
                <a:moveTo>
                  <a:pt x="0" y="0"/>
                </a:moveTo>
                <a:lnTo>
                  <a:pt x="18264864" y="0"/>
                </a:lnTo>
                <a:lnTo>
                  <a:pt x="18264864" y="10273986"/>
                </a:lnTo>
                <a:lnTo>
                  <a:pt x="0" y="1027398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44" name="TextBox 44">
            <a:extLst>
              <a:ext uri="{FF2B5EF4-FFF2-40B4-BE49-F238E27FC236}">
                <a16:creationId xmlns:a16="http://schemas.microsoft.com/office/drawing/2014/main" id="{2EC6CA18-EBB1-DEBD-2983-2B2B19871F91}"/>
              </a:ext>
            </a:extLst>
          </p:cNvPr>
          <p:cNvSpPr txBox="1"/>
          <p:nvPr/>
        </p:nvSpPr>
        <p:spPr>
          <a:xfrm>
            <a:off x="1028700" y="866557"/>
            <a:ext cx="15984931" cy="7437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5817"/>
              </a:lnSpc>
            </a:pPr>
            <a:r>
              <a:rPr lang="en-US" sz="6463" b="1" spc="-323" dirty="0" err="1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Ítens</a:t>
            </a:r>
            <a:r>
              <a:rPr lang="en-US" sz="6463" b="1" spc="-323" dirty="0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 de </a:t>
            </a:r>
            <a:r>
              <a:rPr lang="en-US" sz="6463" b="1" spc="-323" dirty="0" err="1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Trabalho</a:t>
            </a:r>
            <a:r>
              <a:rPr lang="en-US" sz="6463" b="1" spc="-323" dirty="0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 </a:t>
            </a:r>
            <a:r>
              <a:rPr lang="en-US" sz="6463" b="1" spc="-323" dirty="0" err="1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Entregues</a:t>
            </a:r>
            <a:endParaRPr lang="en-US" sz="6463" b="1" spc="-323" dirty="0">
              <a:solidFill>
                <a:srgbClr val="E2D8D0"/>
              </a:solidFill>
              <a:latin typeface="General Sans 1 Semi-Bold"/>
              <a:ea typeface="General Sans 1 Semi-Bold"/>
              <a:cs typeface="General Sans 1 Semi-Bold"/>
              <a:sym typeface="General Sans 1 Semi-Bold"/>
            </a:endParaRPr>
          </a:p>
        </p:txBody>
      </p:sp>
      <p:graphicFrame>
        <p:nvGraphicFramePr>
          <p:cNvPr id="47" name="Tabela 46">
            <a:extLst>
              <a:ext uri="{FF2B5EF4-FFF2-40B4-BE49-F238E27FC236}">
                <a16:creationId xmlns:a16="http://schemas.microsoft.com/office/drawing/2014/main" id="{110ECEA0-5A76-8FC6-DC4E-DB4CB5E76C7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29109638"/>
              </p:ext>
            </p:extLst>
          </p:nvPr>
        </p:nvGraphicFramePr>
        <p:xfrm>
          <a:off x="1371600" y="1754516"/>
          <a:ext cx="16078200" cy="628593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2790148474"/>
                    </a:ext>
                  </a:extLst>
                </a:gridCol>
                <a:gridCol w="11201400">
                  <a:extLst>
                    <a:ext uri="{9D8B030D-6E8A-4147-A177-3AD203B41FA5}">
                      <a16:colId xmlns:a16="http://schemas.microsoft.com/office/drawing/2014/main" val="3534790803"/>
                    </a:ext>
                  </a:extLst>
                </a:gridCol>
                <a:gridCol w="3048000">
                  <a:extLst>
                    <a:ext uri="{9D8B030D-6E8A-4147-A177-3AD203B41FA5}">
                      <a16:colId xmlns:a16="http://schemas.microsoft.com/office/drawing/2014/main" val="3248296162"/>
                    </a:ext>
                  </a:extLst>
                </a:gridCol>
              </a:tblGrid>
              <a:tr h="695331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TIPO</a:t>
                      </a:r>
                    </a:p>
                  </a:txBody>
                  <a:tcPr marL="6350" marR="6350" marT="6350" marB="0"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TÍTULO</a:t>
                      </a:r>
                    </a:p>
                  </a:txBody>
                  <a:tcPr marL="6350" marR="6350" marT="6350" marB="0"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TEMPO EM DESENVOLVIMENTO (DIAS)</a:t>
                      </a:r>
                    </a:p>
                  </a:txBody>
                  <a:tcPr marL="6350" marR="6350" marT="6350" marB="0"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52205541"/>
                  </a:ext>
                </a:extLst>
              </a:tr>
              <a:tr h="46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Melhoria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Análise de Logs - error 500 OCC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0" i="0" u="none" strike="noStrike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46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Melhoria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Novo Widget de Carrossel “Oferta do Dia"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0" i="0" u="none" strike="noStrike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46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Melhoria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Análise de Consumo de APIs Externas – Excedente de Requisições Oracle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0" i="0" u="none" strike="noStrike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4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46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Bug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Revisão do Fluxo de Checkout - Pedidos com status "Incomplete"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0" i="0" u="none" strike="noStrike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4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46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Melhoria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Desenvolvimento do Widget Carrossel de Benefícios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0" i="0" u="none" strike="noStrike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3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46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Melhoria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Identificação da Origem do Cadastro do Cliente – APP ou Site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0" i="0" u="none" strike="noStrike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3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46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Melhoria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Alterar comportamento na requisição do SSE - sl-acs-statistics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0" i="0" u="none" strike="noStrike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1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46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Bug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Logo não aparecendo no site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0" i="0" u="none" strike="noStrike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1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46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Melhoria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Preencher propriedade dinâmica sl_origem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0" i="0" u="none" strike="noStrike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1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46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User Story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[Suporte] Sprint 74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0" i="0" u="none" strike="noStrike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0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46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User Story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[Suporte] Sprint 75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0" i="0" u="none" strike="noStrike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0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46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User Story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[Suporte] Sprint 76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0" i="0" u="none" strike="noStrike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0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</a:tbl>
          </a:graphicData>
        </a:graphic>
      </p:graphicFrame>
      <p:sp>
        <p:nvSpPr>
          <p:cNvPr id="7" name="Seta: para a Esquerda 6">
            <a:hlinkClick r:id="rId3" action="ppaction://hlinksldjump"/>
            <a:extLst>
              <a:ext uri="{FF2B5EF4-FFF2-40B4-BE49-F238E27FC236}">
                <a16:creationId xmlns:a16="http://schemas.microsoft.com/office/drawing/2014/main" id="{87D86D00-E97B-D8B9-C3A2-9E67DDF1912C}"/>
              </a:ext>
            </a:extLst>
          </p:cNvPr>
          <p:cNvSpPr/>
          <p:nvPr/>
        </p:nvSpPr>
        <p:spPr>
          <a:xfrm>
            <a:off x="1447800" y="9611868"/>
            <a:ext cx="978408" cy="484632"/>
          </a:xfrm>
          <a:prstGeom prst="leftArrow">
            <a:avLst/>
          </a:prstGeom>
          <a:solidFill>
            <a:srgbClr val="E2D8D0"/>
          </a:solidFill>
          <a:ln>
            <a:solidFill>
              <a:srgbClr val="E2D8D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267091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bf9c81e3-c1e0-4784-8aad-83c15c1b9561">
      <Terms xmlns="http://schemas.microsoft.com/office/infopath/2007/PartnerControls"/>
    </lcf76f155ced4ddcb4097134ff3c332f>
    <TaxCatchAll xmlns="32734e72-e50b-4c6b-bc09-26ff5ba5e4dc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81D15D1B2A80CC41AD5AADBC6A2161BF" ma:contentTypeVersion="14" ma:contentTypeDescription="Crie um novo documento." ma:contentTypeScope="" ma:versionID="c91a7cce5431787dce1437cd66d3bdde">
  <xsd:schema xmlns:xsd="http://www.w3.org/2001/XMLSchema" xmlns:xs="http://www.w3.org/2001/XMLSchema" xmlns:p="http://schemas.microsoft.com/office/2006/metadata/properties" xmlns:ns2="bf9c81e3-c1e0-4784-8aad-83c15c1b9561" xmlns:ns3="32734e72-e50b-4c6b-bc09-26ff5ba5e4dc" targetNamespace="http://schemas.microsoft.com/office/2006/metadata/properties" ma:root="true" ma:fieldsID="f0ab1c69cb18904216fa175d28c0f0da" ns2:_="" ns3:_="">
    <xsd:import namespace="bf9c81e3-c1e0-4784-8aad-83c15c1b9561"/>
    <xsd:import namespace="32734e72-e50b-4c6b-bc09-26ff5ba5e4dc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lcf76f155ced4ddcb4097134ff3c332f" minOccurs="0"/>
                <xsd:element ref="ns3:TaxCatchAll" minOccurs="0"/>
                <xsd:element ref="ns2:MediaServiceGenerationTime" minOccurs="0"/>
                <xsd:element ref="ns2:MediaServiceEventHashCode" minOccurs="0"/>
                <xsd:element ref="ns3:SharedWithUsers" minOccurs="0"/>
                <xsd:element ref="ns3:SharedWithDetails" minOccurs="0"/>
                <xsd:element ref="ns2:MediaServiceObjectDetectorVersions" minOccurs="0"/>
                <xsd:element ref="ns2:MediaServiceOCR" minOccurs="0"/>
                <xsd:element ref="ns2:MediaServiceSearchProperties" minOccurs="0"/>
                <xsd:element ref="ns2:MediaServiceDateTaken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f9c81e3-c1e0-4784-8aad-83c15c1b9561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lcf76f155ced4ddcb4097134ff3c332f" ma:index="11" nillable="true" ma:taxonomy="true" ma:internalName="lcf76f155ced4ddcb4097134ff3c332f" ma:taxonomyFieldName="MediaServiceImageTags" ma:displayName="Marcações de imagem" ma:readOnly="false" ma:fieldId="{5cf76f15-5ced-4ddc-b409-7134ff3c332f}" ma:taxonomyMulti="true" ma:sspId="cb44fb7a-77ca-42bc-9b22-ac304b7a5779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bjectDetectorVersions" ma:index="17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SearchProperties" ma:index="1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20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21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2734e72-e50b-4c6b-bc09-26ff5ba5e4dc" elementFormDefault="qualified">
    <xsd:import namespace="http://schemas.microsoft.com/office/2006/documentManagement/types"/>
    <xsd:import namespace="http://schemas.microsoft.com/office/infopath/2007/PartnerControls"/>
    <xsd:element name="TaxCatchAll" ma:index="12" nillable="true" ma:displayName="Taxonomy Catch All Column" ma:hidden="true" ma:list="{e6a74e86-b12c-4406-937b-302af72c60f1}" ma:internalName="TaxCatchAll" ma:showField="CatchAllData" ma:web="32734e72-e50b-4c6b-bc09-26ff5ba5e4d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5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10C39A49-29C9-4B57-8E3C-B39B93327ED2}">
  <ds:schemaRefs>
    <ds:schemaRef ds:uri="http://schemas.microsoft.com/office/2006/metadata/properties"/>
    <ds:schemaRef ds:uri="32734e72-e50b-4c6b-bc09-26ff5ba5e4dc"/>
    <ds:schemaRef ds:uri="http://purl.org/dc/elements/1.1/"/>
    <ds:schemaRef ds:uri="http://schemas.microsoft.com/office/2006/documentManagement/types"/>
    <ds:schemaRef ds:uri="http://purl.org/dc/terms/"/>
    <ds:schemaRef ds:uri="http://www.w3.org/XML/1998/namespace"/>
    <ds:schemaRef ds:uri="http://schemas.openxmlformats.org/package/2006/metadata/core-properties"/>
    <ds:schemaRef ds:uri="bf9c81e3-c1e0-4784-8aad-83c15c1b9561"/>
    <ds:schemaRef ds:uri="http://schemas.microsoft.com/office/infopath/2007/PartnerControls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8CBD49B9-7177-40D6-A91E-B71479154A3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bf9c81e3-c1e0-4784-8aad-83c15c1b9561"/>
    <ds:schemaRef ds:uri="32734e72-e50b-4c6b-bc09-26ff5ba5e4dc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4AAD8D6B-356A-4B70-B5D6-A37F877120B8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3790</TotalTime>
  <Words>1258</Words>
  <Application>Microsoft Office PowerPoint</Application>
  <PresentationFormat>Personalizar</PresentationFormat>
  <Paragraphs>320</Paragraphs>
  <Slides>11</Slides>
  <Notes>0</Notes>
  <HiddenSlides>0</HiddenSlides>
  <MMClips>3</MMClips>
  <ScaleCrop>false</ScaleCrop>
  <HeadingPairs>
    <vt:vector size="6" baseType="variant">
      <vt:variant>
        <vt:lpstr>Fontes usadas</vt:lpstr>
      </vt:variant>
      <vt:variant>
        <vt:i4>8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11</vt:i4>
      </vt:variant>
    </vt:vector>
  </HeadingPairs>
  <TitlesOfParts>
    <vt:vector size="20" baseType="lpstr">
      <vt:lpstr>Calibri</vt:lpstr>
      <vt:lpstr>General Sans 1 Light</vt:lpstr>
      <vt:lpstr>General Sans 1 Semi-Bold</vt:lpstr>
      <vt:lpstr>General Sans 2 Medium</vt:lpstr>
      <vt:lpstr>Inter Heavy</vt:lpstr>
      <vt:lpstr>General Sans 2 Light</vt:lpstr>
      <vt:lpstr>Arial</vt:lpstr>
      <vt:lpstr>General Sans 1 Medium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Modelo PPT - 2025</dc:title>
  <dc:creator>Fábio Vidart</dc:creator>
  <cp:lastModifiedBy>Fábio Vidart</cp:lastModifiedBy>
  <cp:revision>13</cp:revision>
  <dcterms:created xsi:type="dcterms:W3CDTF">2006-08-16T00:00:00Z</dcterms:created>
  <dcterms:modified xsi:type="dcterms:W3CDTF">2026-09-24T15:48:07Z</dcterms:modified>
  <dc:identifier>DAGeuo3ZbiA</dc:identifier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0x01010081D15D1B2A80CC41AD5AADBC6A2161BF</vt:lpwstr>
  </property>
  <property fmtid="{D5CDD505-2E9C-101B-9397-08002B2CF9AE}" pid="3" name="MediaServiceImageTags">
    <vt:lpwstr/>
  </property>
</Properties>
</file>