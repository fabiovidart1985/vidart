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9" r:id="rId6"/>
    <p:sldId id="260" r:id="rId7"/>
    <p:sldId id="264" r:id="rId8"/>
    <p:sldId id="265" r:id="rId9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66" r:id="rId10"/>
    <p:sldId id="270" r:id="rId11"/>
    <p:sldId id="261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General Sans 1 Light" panose="020B0604020202020204" charset="0"/>
      <p:regular r:id="rId16"/>
    </p:embeddedFont>
    <p:embeddedFont>
      <p:font typeface="General Sans 1 Medium" panose="020B0604020202020204" charset="0"/>
      <p:regular r:id="rId17"/>
    </p:embeddedFont>
    <p:embeddedFont>
      <p:font typeface="General Sans 1 Semi-Bold" panose="020B0604020202020204" charset="0"/>
      <p:regular r:id="rId18"/>
      <p:bold r:id="rId19"/>
    </p:embeddedFont>
    <p:embeddedFont>
      <p:font typeface="General Sans 2 Light" panose="020B0604020202020204" charset="0"/>
      <p:regular r:id="rId20"/>
    </p:embeddedFont>
    <p:embeddedFont>
      <p:font typeface="General Sans 2 Medium" panose="020B0604020202020204" charset="0"/>
      <p:regular r:id="rId21"/>
    </p:embeddedFont>
    <p:embeddedFont>
      <p:font typeface="Inter Heavy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5"/>
    <a:srgbClr val="E2E0E1"/>
    <a:srgbClr val="B49C9D"/>
    <a:srgbClr val="E2D8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B2B35-2E67-4F98-82DA-666FB1EA03F7}" v="40" dt="2026-09-24T15:48:05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735" autoAdjust="0"/>
  </p:normalViewPr>
  <p:slideViewPr>
    <p:cSldViewPr>
      <p:cViewPr varScale="1">
        <p:scale>
          <a:sx n="37" d="100"/>
          <a:sy n="37" d="100"/>
        </p:scale>
        <p:origin x="988" y="-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slide" Target="slides/slide19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ábio Vidart" userId="dca8298e-ecf8-47d4-b4a2-6a27c72e50ef" providerId="ADAL" clId="{5ADE955B-D2C9-4C6D-820C-C83BBCA0CEA8}"/>
    <pc:docChg chg="undo custSel addSld modSld sldOrd">
      <pc:chgData name="Fábio Vidart" userId="dca8298e-ecf8-47d4-b4a2-6a27c72e50ef" providerId="ADAL" clId="{5ADE955B-D2C9-4C6D-820C-C83BBCA0CEA8}" dt="2026-09-24T15:48:05.891" v="5190" actId="20577"/>
      <pc:docMkLst>
        <pc:docMk/>
      </pc:docMkLst>
      <pc:sldChg chg="modSp mod">
        <pc:chgData name="Fábio Vidart" userId="dca8298e-ecf8-47d4-b4a2-6a27c72e50ef" providerId="ADAL" clId="{5ADE955B-D2C9-4C6D-820C-C83BBCA0CEA8}" dt="2026-09-14T13:33:45.812" v="3306" actId="20577"/>
        <pc:sldMkLst>
          <pc:docMk/>
          <pc:sldMk cId="0" sldId="256"/>
        </pc:sldMkLst>
        <pc:spChg chg="mod">
          <ac:chgData name="Fábio Vidart" userId="dca8298e-ecf8-47d4-b4a2-6a27c72e50ef" providerId="ADAL" clId="{5ADE955B-D2C9-4C6D-820C-C83BBCA0CEA8}" dt="2026-09-14T13:33:45.812" v="3306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Fábio Vidart" userId="dca8298e-ecf8-47d4-b4a2-6a27c72e50ef" providerId="ADAL" clId="{5ADE955B-D2C9-4C6D-820C-C83BBCA0CEA8}" dt="2026-09-16T19:23:01.898" v="5142" actId="20577"/>
        <pc:sldMkLst>
          <pc:docMk/>
          <pc:sldMk cId="0" sldId="259"/>
        </pc:sldMkLst>
        <pc:spChg chg="mod">
          <ac:chgData name="Fábio Vidart" userId="dca8298e-ecf8-47d4-b4a2-6a27c72e50ef" providerId="ADAL" clId="{5ADE955B-D2C9-4C6D-820C-C83BBCA0CEA8}" dt="2026-09-16T19:23:01.898" v="5142" actId="20577"/>
          <ac:spMkLst>
            <pc:docMk/>
            <pc:sldMk cId="0" sldId="259"/>
            <ac:spMk id="6" creationId="{00000000-0000-0000-0000-000000000000}"/>
          </ac:spMkLst>
        </pc:spChg>
      </pc:sldChg>
      <pc:sldChg chg="addSp delSp modSp mod">
        <pc:chgData name="Fábio Vidart" userId="dca8298e-ecf8-47d4-b4a2-6a27c72e50ef" providerId="ADAL" clId="{5ADE955B-D2C9-4C6D-820C-C83BBCA0CEA8}" dt="2026-09-15T21:22:57.735" v="4698" actId="20577"/>
        <pc:sldMkLst>
          <pc:docMk/>
          <pc:sldMk cId="0" sldId="260"/>
        </pc:sldMkLst>
        <pc:spChg chg="mod">
          <ac:chgData name="Fábio Vidart" userId="dca8298e-ecf8-47d4-b4a2-6a27c72e50ef" providerId="ADAL" clId="{5ADE955B-D2C9-4C6D-820C-C83BBCA0CEA8}" dt="2026-09-15T21:22:57.735" v="4698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4T16:16:38.730" v="3330" actId="20577"/>
          <ac:spMkLst>
            <pc:docMk/>
            <pc:sldMk cId="0" sldId="260"/>
            <ac:spMk id="17" creationId="{00000000-0000-0000-0000-000000000000}"/>
          </ac:spMkLst>
        </pc:spChg>
        <pc:grpChg chg="add del">
          <ac:chgData name="Fábio Vidart" userId="dca8298e-ecf8-47d4-b4a2-6a27c72e50ef" providerId="ADAL" clId="{5ADE955B-D2C9-4C6D-820C-C83BBCA0CEA8}" dt="2026-09-14T13:37:34.569" v="3310" actId="478"/>
          <ac:grpSpMkLst>
            <pc:docMk/>
            <pc:sldMk cId="0" sldId="260"/>
            <ac:grpSpMk id="29" creationId="{6C7CD4BA-CB71-3C4C-1927-262031C309AF}"/>
          </ac:grpSpMkLst>
        </pc:grpChg>
        <pc:graphicFrameChg chg="add mod">
          <ac:chgData name="Fábio Vidart" userId="dca8298e-ecf8-47d4-b4a2-6a27c72e50ef" providerId="ADAL" clId="{5ADE955B-D2C9-4C6D-820C-C83BBCA0CEA8}" dt="2026-09-14T16:16:27.688" v="3326" actId="255"/>
          <ac:graphicFrameMkLst>
            <pc:docMk/>
            <pc:sldMk cId="0" sldId="260"/>
            <ac:graphicFrameMk id="10" creationId="{E6473918-8D1F-0157-13E9-056F602CACB1}"/>
          </ac:graphicFrameMkLst>
        </pc:graphicFrameChg>
      </pc:sldChg>
      <pc:sldChg chg="modSp mod">
        <pc:chgData name="Fábio Vidart" userId="dca8298e-ecf8-47d4-b4a2-6a27c72e50ef" providerId="ADAL" clId="{5ADE955B-D2C9-4C6D-820C-C83BBCA0CEA8}" dt="2026-09-16T21:10:57.809" v="5144" actId="6549"/>
        <pc:sldMkLst>
          <pc:docMk/>
          <pc:sldMk cId="0" sldId="261"/>
        </pc:sldMkLst>
        <pc:spChg chg="mod">
          <ac:chgData name="Fábio Vidart" userId="dca8298e-ecf8-47d4-b4a2-6a27c72e50ef" providerId="ADAL" clId="{5ADE955B-D2C9-4C6D-820C-C83BBCA0CEA8}" dt="2026-09-16T11:10:13.582" v="5031" actId="40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6T21:10:57.809" v="5144" actId="6549"/>
          <ac:spMkLst>
            <pc:docMk/>
            <pc:sldMk cId="0" sldId="261"/>
            <ac:spMk id="24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6T11:10:26.254" v="5033" actId="404"/>
          <ac:spMkLst>
            <pc:docMk/>
            <pc:sldMk cId="0" sldId="261"/>
            <ac:spMk id="40" creationId="{20E57E0C-F8C1-C794-D853-2FA416FAE00F}"/>
          </ac:spMkLst>
        </pc:spChg>
      </pc:sldChg>
      <pc:sldChg chg="addSp modSp mod">
        <pc:chgData name="Fábio Vidart" userId="dca8298e-ecf8-47d4-b4a2-6a27c72e50ef" providerId="ADAL" clId="{5ADE955B-D2C9-4C6D-820C-C83BBCA0CEA8}" dt="2026-09-24T15:48:05.891" v="5190" actId="20577"/>
        <pc:sldMkLst>
          <pc:docMk/>
          <pc:sldMk cId="0" sldId="264"/>
        </pc:sldMkLst>
        <pc:spChg chg="mod">
          <ac:chgData name="Fábio Vidart" userId="dca8298e-ecf8-47d4-b4a2-6a27c72e50ef" providerId="ADAL" clId="{5ADE955B-D2C9-4C6D-820C-C83BBCA0CEA8}" dt="2026-09-14T16:16:52.234" v="3336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4T16:16:47.522" v="3334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Fábio Vidart" userId="dca8298e-ecf8-47d4-b4a2-6a27c72e50ef" providerId="ADAL" clId="{5ADE955B-D2C9-4C6D-820C-C83BBCA0CEA8}" dt="2026-09-14T16:16:55.861" v="3337" actId="20577"/>
          <ac:spMkLst>
            <pc:docMk/>
            <pc:sldMk cId="0" sldId="264"/>
            <ac:spMk id="35" creationId="{A3DB876F-B92B-471B-C8FF-F3776B57F94E}"/>
          </ac:spMkLst>
        </pc:spChg>
        <pc:graphicFrameChg chg="add mod">
          <ac:chgData name="Fábio Vidart" userId="dca8298e-ecf8-47d4-b4a2-6a27c72e50ef" providerId="ADAL" clId="{5ADE955B-D2C9-4C6D-820C-C83BBCA0CEA8}" dt="2026-09-15T18:40:07.979" v="3631" actId="404"/>
          <ac:graphicFrameMkLst>
            <pc:docMk/>
            <pc:sldMk cId="0" sldId="264"/>
            <ac:graphicFrameMk id="5" creationId="{CF9A7A19-D372-4B13-A072-85FFDA7F2AEB}"/>
          </ac:graphicFrameMkLst>
        </pc:graphicFrameChg>
        <pc:graphicFrameChg chg="mod">
          <ac:chgData name="Fábio Vidart" userId="dca8298e-ecf8-47d4-b4a2-6a27c72e50ef" providerId="ADAL" clId="{5ADE955B-D2C9-4C6D-820C-C83BBCA0CEA8}" dt="2026-09-15T18:39:50.901" v="3620"/>
          <ac:graphicFrameMkLst>
            <pc:docMk/>
            <pc:sldMk cId="0" sldId="264"/>
            <ac:graphicFrameMk id="16" creationId="{659AC373-228C-0E69-E193-BEA1C9092C43}"/>
          </ac:graphicFrameMkLst>
        </pc:graphicFrameChg>
        <pc:graphicFrameChg chg="mod">
          <ac:chgData name="Fábio Vidart" userId="dca8298e-ecf8-47d4-b4a2-6a27c72e50ef" providerId="ADAL" clId="{5ADE955B-D2C9-4C6D-820C-C83BBCA0CEA8}" dt="2026-09-24T15:48:05.891" v="5190" actId="20577"/>
          <ac:graphicFrameMkLst>
            <pc:docMk/>
            <pc:sldMk cId="0" sldId="264"/>
            <ac:graphicFrameMk id="33" creationId="{7C6BDD33-66AC-416C-AFE2-D010F3E39CED}"/>
          </ac:graphicFrameMkLst>
        </pc:graphicFrameChg>
      </pc:sldChg>
      <pc:sldChg chg="addSp modSp mod">
        <pc:chgData name="Fábio Vidart" userId="dca8298e-ecf8-47d4-b4a2-6a27c72e50ef" providerId="ADAL" clId="{5ADE955B-D2C9-4C6D-820C-C83BBCA0CEA8}" dt="2026-09-16T19:22:04.334" v="5127" actId="20577"/>
        <pc:sldMkLst>
          <pc:docMk/>
          <pc:sldMk cId="0" sldId="265"/>
        </pc:sldMkLst>
        <pc:spChg chg="add mod">
          <ac:chgData name="Fábio Vidart" userId="dca8298e-ecf8-47d4-b4a2-6a27c72e50ef" providerId="ADAL" clId="{5ADE955B-D2C9-4C6D-820C-C83BBCA0CEA8}" dt="2026-09-16T19:22:04.334" v="5127" actId="20577"/>
          <ac:spMkLst>
            <pc:docMk/>
            <pc:sldMk cId="0" sldId="265"/>
            <ac:spMk id="6" creationId="{4985DC11-4802-429A-BB94-76F88832976C}"/>
          </ac:spMkLst>
        </pc:spChg>
        <pc:spChg chg="add mod">
          <ac:chgData name="Fábio Vidart" userId="dca8298e-ecf8-47d4-b4a2-6a27c72e50ef" providerId="ADAL" clId="{5ADE955B-D2C9-4C6D-820C-C83BBCA0CEA8}" dt="2026-09-16T19:21:53.661" v="5125" actId="1035"/>
          <ac:spMkLst>
            <pc:docMk/>
            <pc:sldMk cId="0" sldId="265"/>
            <ac:spMk id="8" creationId="{05FAF77E-9A51-88B8-24A4-30FF3A5C59C3}"/>
          </ac:spMkLst>
        </pc:spChg>
        <pc:spChg chg="mod">
          <ac:chgData name="Fábio Vidart" userId="dca8298e-ecf8-47d4-b4a2-6a27c72e50ef" providerId="ADAL" clId="{5ADE955B-D2C9-4C6D-820C-C83BBCA0CEA8}" dt="2026-09-16T19:15:50.301" v="5050" actId="20577"/>
          <ac:spMkLst>
            <pc:docMk/>
            <pc:sldMk cId="0" sldId="265"/>
            <ac:spMk id="44" creationId="{00000000-0000-0000-0000-000000000000}"/>
          </ac:spMkLst>
        </pc:spChg>
        <pc:graphicFrameChg chg="mod modGraphic">
          <ac:chgData name="Fábio Vidart" userId="dca8298e-ecf8-47d4-b4a2-6a27c72e50ef" providerId="ADAL" clId="{5ADE955B-D2C9-4C6D-820C-C83BBCA0CEA8}" dt="2026-09-15T21:27:45.836" v="4799" actId="1035"/>
          <ac:graphicFrameMkLst>
            <pc:docMk/>
            <pc:sldMk cId="0" sldId="265"/>
            <ac:graphicFrameMk id="47" creationId="{3138E084-B381-B7E5-1072-9CC52CEED81E}"/>
          </ac:graphicFrameMkLst>
        </pc:graphicFrameChg>
        <pc:picChg chg="add mod">
          <ac:chgData name="Fábio Vidart" userId="dca8298e-ecf8-47d4-b4a2-6a27c72e50ef" providerId="ADAL" clId="{5ADE955B-D2C9-4C6D-820C-C83BBCA0CEA8}" dt="2026-09-16T19:20:58.537" v="5086" actId="1076"/>
          <ac:picMkLst>
            <pc:docMk/>
            <pc:sldMk cId="0" sldId="265"/>
            <ac:picMk id="4" creationId="{F255DE0D-1078-185E-CC17-D7AC67303355}"/>
          </ac:picMkLst>
        </pc:picChg>
      </pc:sldChg>
      <pc:sldChg chg="modSp mod">
        <pc:chgData name="Fábio Vidart" userId="dca8298e-ecf8-47d4-b4a2-6a27c72e50ef" providerId="ADAL" clId="{5ADE955B-D2C9-4C6D-820C-C83BBCA0CEA8}" dt="2026-09-16T18:44:17.200" v="5036" actId="14734"/>
        <pc:sldMkLst>
          <pc:docMk/>
          <pc:sldMk cId="0" sldId="266"/>
        </pc:sldMkLst>
        <pc:spChg chg="mod">
          <ac:chgData name="Fábio Vidart" userId="dca8298e-ecf8-47d4-b4a2-6a27c72e50ef" providerId="ADAL" clId="{5ADE955B-D2C9-4C6D-820C-C83BBCA0CEA8}" dt="2026-09-15T18:59:08.420" v="3632" actId="20577"/>
          <ac:spMkLst>
            <pc:docMk/>
            <pc:sldMk cId="0" sldId="266"/>
            <ac:spMk id="55" creationId="{15410F9B-609B-671F-58C9-EB0E666A3ED5}"/>
          </ac:spMkLst>
        </pc:spChg>
        <pc:spChg chg="mod">
          <ac:chgData name="Fábio Vidart" userId="dca8298e-ecf8-47d4-b4a2-6a27c72e50ef" providerId="ADAL" clId="{5ADE955B-D2C9-4C6D-820C-C83BBCA0CEA8}" dt="2026-09-15T19:03:26.366" v="3633" actId="20577"/>
          <ac:spMkLst>
            <pc:docMk/>
            <pc:sldMk cId="0" sldId="266"/>
            <ac:spMk id="63" creationId="{82AA4448-4406-17BB-D152-9D3B3BF8A443}"/>
          </ac:spMkLst>
        </pc:spChg>
        <pc:graphicFrameChg chg="mod modGraphic">
          <ac:chgData name="Fábio Vidart" userId="dca8298e-ecf8-47d4-b4a2-6a27c72e50ef" providerId="ADAL" clId="{5ADE955B-D2C9-4C6D-820C-C83BBCA0CEA8}" dt="2026-09-16T18:44:17.200" v="5036" actId="14734"/>
          <ac:graphicFrameMkLst>
            <pc:docMk/>
            <pc:sldMk cId="0" sldId="266"/>
            <ac:graphicFrameMk id="75" creationId="{03BA5884-7F54-D428-05C2-714CA105AC30}"/>
          </ac:graphicFrameMkLst>
        </pc:graphicFrameChg>
      </pc:sldChg>
      <pc:sldChg chg="delSp mod">
        <pc:chgData name="Fábio Vidart" userId="dca8298e-ecf8-47d4-b4a2-6a27c72e50ef" providerId="ADAL" clId="{5ADE955B-D2C9-4C6D-820C-C83BBCA0CEA8}" dt="2026-09-15T21:20:07.250" v="4683" actId="478"/>
        <pc:sldMkLst>
          <pc:docMk/>
          <pc:sldMk cId="0" sldId="267"/>
        </pc:sldMkLst>
      </pc:sldChg>
      <pc:sldChg chg="modSp mod">
        <pc:chgData name="Fábio Vidart" userId="dca8298e-ecf8-47d4-b4a2-6a27c72e50ef" providerId="ADAL" clId="{5ADE955B-D2C9-4C6D-820C-C83BBCA0CEA8}" dt="2026-09-16T19:17:05.818" v="5079" actId="1036"/>
        <pc:sldMkLst>
          <pc:docMk/>
          <pc:sldMk cId="2832670910" sldId="269"/>
        </pc:sldMkLst>
        <pc:spChg chg="mod">
          <ac:chgData name="Fábio Vidart" userId="dca8298e-ecf8-47d4-b4a2-6a27c72e50ef" providerId="ADAL" clId="{5ADE955B-D2C9-4C6D-820C-C83BBCA0CEA8}" dt="2026-09-16T19:17:05.818" v="5079" actId="1036"/>
          <ac:spMkLst>
            <pc:docMk/>
            <pc:sldMk cId="2832670910" sldId="269"/>
            <ac:spMk id="7" creationId="{87D86D00-E97B-D8B9-C3A2-9E67DDF1912C}"/>
          </ac:spMkLst>
        </pc:spChg>
        <pc:spChg chg="mod">
          <ac:chgData name="Fábio Vidart" userId="dca8298e-ecf8-47d4-b4a2-6a27c72e50ef" providerId="ADAL" clId="{5ADE955B-D2C9-4C6D-820C-C83BBCA0CEA8}" dt="2026-09-16T19:17:00.027" v="5078" actId="120"/>
          <ac:spMkLst>
            <pc:docMk/>
            <pc:sldMk cId="2832670910" sldId="269"/>
            <ac:spMk id="44" creationId="{2EC6CA18-EBB1-DEBD-2983-2B2B19871F91}"/>
          </ac:spMkLst>
        </pc:spChg>
        <pc:graphicFrameChg chg="mod modGraphic">
          <ac:chgData name="Fábio Vidart" userId="dca8298e-ecf8-47d4-b4a2-6a27c72e50ef" providerId="ADAL" clId="{5ADE955B-D2C9-4C6D-820C-C83BBCA0CEA8}" dt="2026-09-14T20:13:09.677" v="3550" actId="255"/>
          <ac:graphicFrameMkLst>
            <pc:docMk/>
            <pc:sldMk cId="2832670910" sldId="269"/>
            <ac:graphicFrameMk id="47" creationId="{110ECEA0-5A76-8FC6-DC4E-DB4CB5E76C7A}"/>
          </ac:graphicFrameMkLst>
        </pc:graphicFrameChg>
      </pc:sldChg>
      <pc:sldChg chg="addSp modSp mod">
        <pc:chgData name="Fábio Vidart" userId="dca8298e-ecf8-47d4-b4a2-6a27c72e50ef" providerId="ADAL" clId="{5ADE955B-D2C9-4C6D-820C-C83BBCA0CEA8}" dt="2026-09-15T19:32:16.353" v="4157" actId="20577"/>
        <pc:sldMkLst>
          <pc:docMk/>
          <pc:sldMk cId="2239950473" sldId="270"/>
        </pc:sldMkLst>
        <pc:spChg chg="mod">
          <ac:chgData name="Fábio Vidart" userId="dca8298e-ecf8-47d4-b4a2-6a27c72e50ef" providerId="ADAL" clId="{5ADE955B-D2C9-4C6D-820C-C83BBCA0CEA8}" dt="2026-09-15T19:31:37.051" v="4135" actId="1038"/>
          <ac:spMkLst>
            <pc:docMk/>
            <pc:sldMk cId="2239950473" sldId="270"/>
            <ac:spMk id="2" creationId="{7043A971-D781-82B0-7F50-6671A2F0EA00}"/>
          </ac:spMkLst>
        </pc:spChg>
        <pc:spChg chg="mod">
          <ac:chgData name="Fábio Vidart" userId="dca8298e-ecf8-47d4-b4a2-6a27c72e50ef" providerId="ADAL" clId="{5ADE955B-D2C9-4C6D-820C-C83BBCA0CEA8}" dt="2026-09-15T19:32:08.996" v="4156" actId="1035"/>
          <ac:spMkLst>
            <pc:docMk/>
            <pc:sldMk cId="2239950473" sldId="270"/>
            <ac:spMk id="4" creationId="{D04174B7-0E85-FA13-CA7E-532066B24011}"/>
          </ac:spMkLst>
        </pc:spChg>
        <pc:spChg chg="mod">
          <ac:chgData name="Fábio Vidart" userId="dca8298e-ecf8-47d4-b4a2-6a27c72e50ef" providerId="ADAL" clId="{5ADE955B-D2C9-4C6D-820C-C83BBCA0CEA8}" dt="2026-09-15T19:32:16.353" v="4157" actId="20577"/>
          <ac:spMkLst>
            <pc:docMk/>
            <pc:sldMk cId="2239950473" sldId="270"/>
            <ac:spMk id="8" creationId="{E4D2449F-15F6-508E-82F8-2E4578AC8330}"/>
          </ac:spMkLst>
        </pc:spChg>
        <pc:spChg chg="add mod">
          <ac:chgData name="Fábio Vidart" userId="dca8298e-ecf8-47d4-b4a2-6a27c72e50ef" providerId="ADAL" clId="{5ADE955B-D2C9-4C6D-820C-C83BBCA0CEA8}" dt="2026-09-15T19:30:25.731" v="4097" actId="1076"/>
          <ac:spMkLst>
            <pc:docMk/>
            <pc:sldMk cId="2239950473" sldId="270"/>
            <ac:spMk id="9" creationId="{DEA74B65-044E-39ED-8804-59454C936101}"/>
          </ac:spMkLst>
        </pc:spChg>
        <pc:spChg chg="mod">
          <ac:chgData name="Fábio Vidart" userId="dca8298e-ecf8-47d4-b4a2-6a27c72e50ef" providerId="ADAL" clId="{5ADE955B-D2C9-4C6D-820C-C83BBCA0CEA8}" dt="2026-09-15T19:30:35.099" v="4098" actId="21"/>
          <ac:spMkLst>
            <pc:docMk/>
            <pc:sldMk cId="2239950473" sldId="270"/>
            <ac:spMk id="10" creationId="{6C38E8A7-A2FF-44BA-DECE-84B7A2217343}"/>
          </ac:spMkLst>
        </pc:spChg>
        <pc:spChg chg="add mod">
          <ac:chgData name="Fábio Vidart" userId="dca8298e-ecf8-47d4-b4a2-6a27c72e50ef" providerId="ADAL" clId="{5ADE955B-D2C9-4C6D-820C-C83BBCA0CEA8}" dt="2026-09-15T19:31:11.688" v="4110" actId="20577"/>
          <ac:spMkLst>
            <pc:docMk/>
            <pc:sldMk cId="2239950473" sldId="270"/>
            <ac:spMk id="13" creationId="{40594DD8-1D9D-CCB4-759C-A94F24D93C87}"/>
          </ac:spMkLst>
        </pc:spChg>
        <pc:spChg chg="mod">
          <ac:chgData name="Fábio Vidart" userId="dca8298e-ecf8-47d4-b4a2-6a27c72e50ef" providerId="ADAL" clId="{5ADE955B-D2C9-4C6D-820C-C83BBCA0CEA8}" dt="2026-09-15T19:31:59.322" v="4153" actId="1038"/>
          <ac:spMkLst>
            <pc:docMk/>
            <pc:sldMk cId="2239950473" sldId="270"/>
            <ac:spMk id="55" creationId="{A1EB607B-715B-7865-D730-14051BEEB091}"/>
          </ac:spMkLst>
        </pc:spChg>
        <pc:spChg chg="mod">
          <ac:chgData name="Fábio Vidart" userId="dca8298e-ecf8-47d4-b4a2-6a27c72e50ef" providerId="ADAL" clId="{5ADE955B-D2C9-4C6D-820C-C83BBCA0CEA8}" dt="2026-09-15T19:31:59.322" v="4153" actId="1038"/>
          <ac:spMkLst>
            <pc:docMk/>
            <pc:sldMk cId="2239950473" sldId="270"/>
            <ac:spMk id="57" creationId="{7C17DE8F-787D-2249-435D-014DE1529BA9}"/>
          </ac:spMkLst>
        </pc:spChg>
        <pc:spChg chg="mod">
          <ac:chgData name="Fábio Vidart" userId="dca8298e-ecf8-47d4-b4a2-6a27c72e50ef" providerId="ADAL" clId="{5ADE955B-D2C9-4C6D-820C-C83BBCA0CEA8}" dt="2026-09-15T19:31:24.750" v="4121" actId="1038"/>
          <ac:spMkLst>
            <pc:docMk/>
            <pc:sldMk cId="2239950473" sldId="270"/>
            <ac:spMk id="63" creationId="{3BB3F79B-F498-BAF4-06B0-5450A59EBF21}"/>
          </ac:spMkLst>
        </pc:spChg>
        <pc:spChg chg="mod">
          <ac:chgData name="Fábio Vidart" userId="dca8298e-ecf8-47d4-b4a2-6a27c72e50ef" providerId="ADAL" clId="{5ADE955B-D2C9-4C6D-820C-C83BBCA0CEA8}" dt="2026-09-15T19:31:24.750" v="4121" actId="1038"/>
          <ac:spMkLst>
            <pc:docMk/>
            <pc:sldMk cId="2239950473" sldId="270"/>
            <ac:spMk id="65" creationId="{0A4CC207-81FF-55AC-59F9-08E14475B438}"/>
          </ac:spMkLst>
        </pc:spChg>
        <pc:graphicFrameChg chg="mod modGraphic">
          <ac:chgData name="Fábio Vidart" userId="dca8298e-ecf8-47d4-b4a2-6a27c72e50ef" providerId="ADAL" clId="{5ADE955B-D2C9-4C6D-820C-C83BBCA0CEA8}" dt="2026-09-15T19:27:05.989" v="4057" actId="20577"/>
          <ac:graphicFrameMkLst>
            <pc:docMk/>
            <pc:sldMk cId="2239950473" sldId="270"/>
            <ac:graphicFrameMk id="75" creationId="{37D79888-9064-CF9F-80B9-D69E7E44C867}"/>
          </ac:graphicFrameMkLst>
        </pc:graphicFrameChg>
        <pc:picChg chg="add mod">
          <ac:chgData name="Fábio Vidart" userId="dca8298e-ecf8-47d4-b4a2-6a27c72e50ef" providerId="ADAL" clId="{5ADE955B-D2C9-4C6D-820C-C83BBCA0CEA8}" dt="2026-09-15T19:29:56.198" v="4095" actId="1076"/>
          <ac:picMkLst>
            <pc:docMk/>
            <pc:sldMk cId="2239950473" sldId="270"/>
            <ac:picMk id="5" creationId="{2AC53081-17B5-8768-3CEB-1E3AED3D6809}"/>
          </ac:picMkLst>
        </pc:picChg>
        <pc:picChg chg="mod">
          <ac:chgData name="Fábio Vidart" userId="dca8298e-ecf8-47d4-b4a2-6a27c72e50ef" providerId="ADAL" clId="{5ADE955B-D2C9-4C6D-820C-C83BBCA0CEA8}" dt="2026-09-15T19:31:24.750" v="4121" actId="1038"/>
          <ac:picMkLst>
            <pc:docMk/>
            <pc:sldMk cId="2239950473" sldId="270"/>
            <ac:picMk id="6" creationId="{2E5DCA81-B890-6FCD-82F8-25E9DAE1D4F2}"/>
          </ac:picMkLst>
        </pc:picChg>
        <pc:picChg chg="mod">
          <ac:chgData name="Fábio Vidart" userId="dca8298e-ecf8-47d4-b4a2-6a27c72e50ef" providerId="ADAL" clId="{5ADE955B-D2C9-4C6D-820C-C83BBCA0CEA8}" dt="2026-09-15T19:29:43.733" v="4091" actId="1037"/>
          <ac:picMkLst>
            <pc:docMk/>
            <pc:sldMk cId="2239950473" sldId="270"/>
            <ac:picMk id="12" creationId="{3FE7E06A-EBA1-2E76-BA05-BD560D4A2C8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lighthouseitbr-my.sharepoint.com/personal/fabio_vidart_lighthouseit_com_br/Documents/Documents/Salon%20Line/STATUS%20REPORT%20QUINZENAL/Dados%20-%20Indicadores%20Salon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lighthouseitbr-my.sharepoint.com/personal/fabio_vidart_lighthouseit_com_br/Documents/Documents/Salon%20Line/STATUS%20REPORT%20QUINZENAL/Dados%20-%20Indicadores%20Salon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lighthouseitbr-my.sharepoint.com/personal/fabio_vidart_lighthouseit_com_br/Documents/Documents/Salon%20Line/STATUS%20REPORT%20QUINZENAL/Dados%20-%20Indicadores%20Salon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https://lighthouseitbr-my.sharepoint.com/personal/fabio_vidart_lighthouseit_com_br/Documents/Documents/Salon%20Line/STATUS%20REPORT%20QUINZENAL/Dados%20-%20Indicadores%20Sal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11"/>
            <c:spPr>
              <a:solidFill>
                <a:schemeClr val="tx1"/>
              </a:solidFill>
              <a:ln w="9525" cmpd="sng">
                <a:noFill/>
                <a:bevel/>
                <a:headEnd type="diamond"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DADOS!$A$5:$A$10</c:f>
              <c:numCache>
                <c:formatCode>mmm\-yy</c:formatCode>
                <c:ptCount val="6"/>
                <c:pt idx="0">
                  <c:v>46113</c:v>
                </c:pt>
                <c:pt idx="1">
                  <c:v>46143</c:v>
                </c:pt>
                <c:pt idx="2">
                  <c:v>46174</c:v>
                </c:pt>
                <c:pt idx="3">
                  <c:v>46204</c:v>
                </c:pt>
                <c:pt idx="4">
                  <c:v>46235</c:v>
                </c:pt>
                <c:pt idx="5">
                  <c:v>46266</c:v>
                </c:pt>
              </c:numCache>
            </c:numRef>
          </c:cat>
          <c:val>
            <c:numRef>
              <c:f>DADOS!$B$5:$B$10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99.4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8A-436B-98CB-81678323DAF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323519"/>
        <c:axId val="530775919"/>
      </c:lineChart>
      <c:dateAx>
        <c:axId val="630323519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30775919"/>
        <c:crosses val="autoZero"/>
        <c:auto val="1"/>
        <c:lblOffset val="100"/>
        <c:baseTimeUnit val="months"/>
      </c:dateAx>
      <c:valAx>
        <c:axId val="53077591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30323519"/>
        <c:crosses val="autoZero"/>
        <c:crossBetween val="between"/>
      </c:valAx>
      <c:spPr>
        <a:noFill/>
        <a:ln>
          <a:noFill/>
        </a:ln>
        <a:effectLst>
          <a:softEdge rad="127000"/>
        </a:effec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40" b="0" i="0" u="none" strike="noStrike" kern="1200" cap="all" spc="132" baseline="0" dirty="0" err="1" smtClean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r>
              <a:rPr lang="en-US" sz="1440" b="0" i="0" u="none" strike="noStrike" kern="1200" cap="all" spc="132" baseline="0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rPr>
              <a:t>Composição das entregas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40" b="0" i="0" u="none" strike="noStrike" kern="1200" cap="all" spc="132" baseline="0" dirty="0" err="1" smtClean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DADOS!$B$23:$B$24</c:f>
              <c:strCache>
                <c:ptCount val="2"/>
                <c:pt idx="0">
                  <c:v>ENTREGAS POR TIPO</c:v>
                </c:pt>
                <c:pt idx="1">
                  <c:v>QUANTIDADE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A3-4C21-8171-65E6458396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9A3-4C21-8171-65E6458396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9A3-4C21-8171-65E645839621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9A3-4C21-8171-65E645839621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A3-4C21-8171-65E645839621}"/>
                </c:ext>
              </c:extLst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9A3-4C21-8171-65E6458396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200" b="0" i="0" u="none" strike="noStrike" kern="1200" spc="132" baseline="0">
                    <a:solidFill>
                      <a:srgbClr val="FFFFFF"/>
                    </a:solidFill>
                    <a:latin typeface="General Sans 2 Medium"/>
                    <a:ea typeface="General Sans 2 Medium"/>
                    <a:cs typeface="General Sans 2 Medium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DADOS!$A$25:$A$27</c:f>
              <c:strCache>
                <c:ptCount val="3"/>
                <c:pt idx="0">
                  <c:v>BUG</c:v>
                </c:pt>
                <c:pt idx="1">
                  <c:v>MELHORIA</c:v>
                </c:pt>
                <c:pt idx="2">
                  <c:v>USER STORY</c:v>
                </c:pt>
              </c:strCache>
            </c:strRef>
          </c:cat>
          <c:val>
            <c:numRef>
              <c:f>DADOS!$B$25:$B$27</c:f>
              <c:numCache>
                <c:formatCode>General</c:formatCode>
                <c:ptCount val="3"/>
                <c:pt idx="0">
                  <c:v>2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A3-4C21-8171-65E645839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6"/>
        <c:overlap val="-58"/>
        <c:axId val="1423374767"/>
        <c:axId val="439216623"/>
      </c:barChart>
      <c:valAx>
        <c:axId val="439216623"/>
        <c:scaling>
          <c:orientation val="minMax"/>
          <c:max val="1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endParaRPr lang="pt-BR"/>
          </a:p>
        </c:txPr>
        <c:crossAx val="1423374767"/>
        <c:crosses val="autoZero"/>
        <c:crossBetween val="between"/>
      </c:valAx>
      <c:catAx>
        <c:axId val="14233747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endParaRPr lang="pt-BR"/>
          </a:p>
        </c:txPr>
        <c:crossAx val="4392166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40" b="0" i="0" u="none" strike="noStrike" kern="1200" cap="all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r>
              <a:rPr lang="pt-BR" dirty="0"/>
              <a:t>Entregas</a:t>
            </a:r>
            <a:r>
              <a:rPr lang="pt-BR" baseline="0" dirty="0"/>
              <a:t> </a:t>
            </a:r>
            <a:r>
              <a:rPr lang="pt-BR" baseline="0"/>
              <a:t>por responsável</a:t>
            </a:r>
            <a:endParaRPr lang="pt-B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40" b="0" i="0" u="none" strike="noStrike" kern="1200" cap="all" spc="132" baseline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DADOS!$B$17</c:f>
              <c:strCache>
                <c:ptCount val="1"/>
                <c:pt idx="0">
                  <c:v>set/26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0" i="0" u="none" strike="noStrike" kern="1200" spc="132" baseline="0">
                    <a:solidFill>
                      <a:srgbClr val="FFFFFF"/>
                    </a:solidFill>
                    <a:latin typeface="General Sans 2 Medium"/>
                    <a:ea typeface="General Sans 2 Medium"/>
                    <a:cs typeface="General Sans 2 Medium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DADOS!$A$18:$A$19</c:f>
              <c:strCache>
                <c:ptCount val="2"/>
                <c:pt idx="0">
                  <c:v>Ewerton Bezerra</c:v>
                </c:pt>
                <c:pt idx="1">
                  <c:v>Regis Ropke</c:v>
                </c:pt>
              </c:strCache>
            </c:strRef>
          </c:cat>
          <c:val>
            <c:numRef>
              <c:f>DADOS!$B$18:$B$19</c:f>
              <c:numCache>
                <c:formatCode>General</c:formatCode>
                <c:ptCount val="2"/>
                <c:pt idx="0">
                  <c:v>6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5-48D7-958B-05538F1CD6A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axId val="1817787152"/>
        <c:axId val="530910799"/>
      </c:barChart>
      <c:catAx>
        <c:axId val="1817787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endParaRPr lang="pt-BR"/>
          </a:p>
        </c:txPr>
        <c:crossAx val="530910799"/>
        <c:crosses val="autoZero"/>
        <c:auto val="1"/>
        <c:lblAlgn val="ctr"/>
        <c:lblOffset val="100"/>
        <c:noMultiLvlLbl val="0"/>
      </c:catAx>
      <c:valAx>
        <c:axId val="530910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spc="132" baseline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endParaRPr lang="pt-BR"/>
          </a:p>
        </c:txPr>
        <c:crossAx val="1817787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en-US" sz="1200" b="0" i="0" u="none" strike="noStrike" kern="1200" spc="132" baseline="0">
          <a:solidFill>
            <a:srgbClr val="FFFFFF"/>
          </a:solidFill>
          <a:latin typeface="General Sans 2 Medium"/>
          <a:ea typeface="General Sans 2 Medium"/>
          <a:cs typeface="General Sans 2 Medium"/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40" b="0" i="0" u="none" strike="noStrike" kern="1200" cap="all" spc="132" baseline="0" dirty="0" smtClean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r>
              <a:rPr lang="en-US" sz="1440" b="0" i="0" u="none" strike="noStrike" kern="1200" cap="all" spc="132" baseline="0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rPr>
              <a:t>HISTÓRICO DE ENTREGAS</a:t>
            </a:r>
          </a:p>
          <a:p>
            <a:pPr algn="ctr" rtl="0">
              <a:defRPr sz="1440" cap="all" spc="132" dirty="0" smtClean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pPr>
            <a:r>
              <a:rPr lang="en-US" sz="900" b="0" i="0" u="none" strike="noStrike" kern="1200" cap="all" spc="132" baseline="0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rPr>
              <a:t>ÚLTIMOS MESES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40" b="0" i="0" u="none" strike="noStrike" kern="1200" cap="all" spc="132" baseline="0" dirty="0" smtClean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</a:defRPr>
          </a:pPr>
          <a:endParaRPr lang="pt-BR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DADOS!$B$70</c:f>
              <c:strCache>
                <c:ptCount val="1"/>
                <c:pt idx="0">
                  <c:v>Entregas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1">
                <a:spAutoFit/>
              </a:bodyPr>
              <a:lstStyle/>
              <a:p>
                <a:pPr>
                  <a:defRPr lang="en-US"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DADOS!$A$71:$A$73</c:f>
              <c:numCache>
                <c:formatCode>mmm\-yy</c:formatCode>
                <c:ptCount val="3"/>
                <c:pt idx="0">
                  <c:v>46204</c:v>
                </c:pt>
                <c:pt idx="1">
                  <c:v>46235</c:v>
                </c:pt>
                <c:pt idx="2">
                  <c:v>46266</c:v>
                </c:pt>
              </c:numCache>
            </c:numRef>
          </c:cat>
          <c:val>
            <c:numRef>
              <c:f>DADOS!$B$71:$B$73</c:f>
              <c:numCache>
                <c:formatCode>General</c:formatCode>
                <c:ptCount val="3"/>
                <c:pt idx="0">
                  <c:v>11</c:v>
                </c:pt>
                <c:pt idx="1">
                  <c:v>18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30-4F20-B0FA-85370CAB3D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578432"/>
        <c:axId val="1618745072"/>
      </c:areaChart>
      <c:dateAx>
        <c:axId val="2057843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18745072"/>
        <c:crosses val="autoZero"/>
        <c:auto val="1"/>
        <c:lblOffset val="100"/>
        <c:baseTimeUnit val="months"/>
      </c:dateAx>
      <c:valAx>
        <c:axId val="1618745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578432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en-US" sz="1197" b="0" i="0" u="none" strike="noStrike" kern="1200" baseline="0">
          <a:solidFill>
            <a:schemeClr val="bg1"/>
          </a:solidFill>
          <a:latin typeface="+mn-lt"/>
          <a:ea typeface="+mn-ea"/>
          <a:cs typeface="+mn-cs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chart" Target="../charts/chart2.xml"/><Relationship Id="rId7" Type="http://schemas.openxmlformats.org/officeDocument/2006/relationships/chart" Target="../charts/chart3.xml"/><Relationship Id="rId8" Type="http://schemas.openxmlformats.org/officeDocument/2006/relationships/image" Target="../media/image12.svg"/><Relationship Id="rId9" Type="http://schemas.openxmlformats.org/officeDocument/2006/relationships/slide" Target="slide19.xml"/><Relationship Id="rId10" Type="http://schemas.openxmlformats.org/officeDocument/2006/relationships/image" Target="../media/image13.svg"/><Relationship Id="rId11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8.svg"/><Relationship Id="rId4" Type="http://schemas.openxmlformats.org/officeDocument/2006/relationships/image" Target="../media/image1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5" Type="http://schemas.openxmlformats.org/officeDocument/2006/relationships/image" Target="../media/image20.png"/><Relationship Id="rId6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5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17633"/>
            <a:ext cx="18288000" cy="10287000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13303567" y="8318345"/>
            <a:ext cx="1736950" cy="918630"/>
          </a:xfrm>
          <a:custGeom>
            <a:avLst/>
            <a:gdLst/>
            <a:ahLst/>
            <a:cxnLst/>
            <a:rect l="l" t="t" r="r" b="b"/>
            <a:pathLst>
              <a:path w="1736950" h="918630">
                <a:moveTo>
                  <a:pt x="0" y="0"/>
                </a:moveTo>
                <a:lnTo>
                  <a:pt x="1736949" y="0"/>
                </a:lnTo>
                <a:lnTo>
                  <a:pt x="1736949" y="918629"/>
                </a:lnTo>
                <a:lnTo>
                  <a:pt x="0" y="918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028700" y="5908696"/>
            <a:ext cx="11182811" cy="192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54"/>
              </a:lnSpc>
            </a:pPr>
            <a:r>
              <a:rPr lang="en-US" sz="11450" b="1" spc="-584" dirty="0">
                <a:solidFill>
                  <a:srgbClr val="FFFFFF"/>
                </a:solidFill>
                <a:latin typeface="General Sans 1 Medium"/>
                <a:sym typeface="General Sans 1 Medium"/>
              </a:rPr>
              <a:t>Salon Line</a:t>
            </a:r>
            <a:endParaRPr lang="pt-BR" dirty="0"/>
          </a:p>
        </p:txBody>
      </p:sp>
      <p:sp>
        <p:nvSpPr>
          <p:cNvPr id="9" name="TextBox 9"/>
          <p:cNvSpPr txBox="1"/>
          <p:nvPr/>
        </p:nvSpPr>
        <p:spPr>
          <a:xfrm>
            <a:off x="15300188" y="8322147"/>
            <a:ext cx="2275673" cy="93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Consultoria ​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e desenvolvimento 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de software para seu 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sucesso digital.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690359"/>
            <a:ext cx="7505700" cy="404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22"/>
              </a:lnSpc>
            </a:pPr>
            <a:r>
              <a:rPr lang="en-US" sz="2400" b="1" dirty="0">
                <a:solidFill>
                  <a:srgbClr val="FFFFFF"/>
                </a:solidFill>
                <a:latin typeface="General Sans 1 Medium"/>
                <a:sym typeface="General Sans 1 Medium"/>
              </a:rPr>
              <a:t>Status Report Mensal – </a:t>
            </a:r>
            <a:r>
              <a:rPr lang="en-US" sz="2400" b="1" dirty="0" err="1">
                <a:solidFill>
                  <a:srgbClr val="FFFFFF"/>
                </a:solidFill>
                <a:latin typeface="General Sans 1 Medium"/>
                <a:sym typeface="General Sans 1 Medium"/>
              </a:rPr>
              <a:t>Sustentação</a:t>
            </a:r>
            <a:r>
              <a:rPr lang="en-US" sz="2400" b="1" dirty="0">
                <a:solidFill>
                  <a:srgbClr val="FFFFFF"/>
                </a:solidFill>
                <a:latin typeface="General Sans 1 Medium"/>
                <a:sym typeface="General Sans 1 Medium"/>
              </a:rPr>
              <a:t> E-commerce</a:t>
            </a:r>
            <a:endParaRPr lang="pt-BR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7981093"/>
            <a:ext cx="8487516" cy="523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3"/>
              </a:lnSpc>
            </a:pPr>
            <a:r>
              <a:rPr lang="en-US" sz="3100" dirty="0">
                <a:solidFill>
                  <a:srgbClr val="FFFFFF"/>
                </a:solidFill>
                <a:latin typeface="General Sans 1 Light"/>
                <a:sym typeface="General Sans 1 Light"/>
              </a:rPr>
              <a:t>Setembro/2026</a:t>
            </a:r>
            <a:endParaRPr lang="pt-BR" dirty="0"/>
          </a:p>
        </p:txBody>
      </p:sp>
      <p:pic>
        <p:nvPicPr>
          <p:cNvPr id="3" name="Imagem 2" descr="Minha Loja SalonLine">
            <a:extLst>
              <a:ext uri="{FF2B5EF4-FFF2-40B4-BE49-F238E27FC236}">
                <a16:creationId xmlns:a16="http://schemas.microsoft.com/office/drawing/2014/main" id="{0C23BAF6-4BAA-B286-2FBC-2D04EC63E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78143" y="6761722"/>
            <a:ext cx="3943057" cy="14297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616" y="-3202125"/>
            <a:ext cx="28155366" cy="16459560"/>
          </a:xfrm>
          <a:custGeom>
            <a:avLst/>
            <a:gdLst/>
            <a:ahLst/>
            <a:cxnLst/>
            <a:rect l="l" t="t" r="r" b="b"/>
            <a:pathLst>
              <a:path w="28155366" h="16459560">
                <a:moveTo>
                  <a:pt x="0" y="0"/>
                </a:moveTo>
                <a:lnTo>
                  <a:pt x="28155366" y="0"/>
                </a:lnTo>
                <a:lnTo>
                  <a:pt x="28155366" y="16459559"/>
                </a:lnTo>
                <a:lnTo>
                  <a:pt x="0" y="16459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7" b="-131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10800000">
            <a:off x="-5801" y="-1125"/>
            <a:ext cx="18293801" cy="6292691"/>
          </a:xfrm>
          <a:custGeom>
            <a:avLst/>
            <a:gdLst/>
            <a:ahLst/>
            <a:cxnLst/>
            <a:rect l="l" t="t" r="r" b="b"/>
            <a:pathLst>
              <a:path w="18293801" h="6292691">
                <a:moveTo>
                  <a:pt x="0" y="0"/>
                </a:moveTo>
                <a:lnTo>
                  <a:pt x="18293801" y="0"/>
                </a:lnTo>
                <a:lnTo>
                  <a:pt x="18293801" y="6292691"/>
                </a:lnTo>
                <a:lnTo>
                  <a:pt x="0" y="6292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 t="-30745" b="-1779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0" y="2959892"/>
            <a:ext cx="18293801" cy="7625751"/>
          </a:xfrm>
          <a:custGeom>
            <a:avLst/>
            <a:gdLst/>
            <a:ahLst/>
            <a:cxnLst/>
            <a:rect l="l" t="t" r="r" b="b"/>
            <a:pathLst>
              <a:path w="18293801" h="7625751">
                <a:moveTo>
                  <a:pt x="0" y="0"/>
                </a:moveTo>
                <a:lnTo>
                  <a:pt x="18293801" y="0"/>
                </a:lnTo>
                <a:lnTo>
                  <a:pt x="18293801" y="7625751"/>
                </a:lnTo>
                <a:lnTo>
                  <a:pt x="0" y="76257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</a:blip>
            <a:stretch>
              <a:fillRect t="-15244" b="-732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185034" y="4687802"/>
            <a:ext cx="3569749" cy="115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</a:pPr>
            <a:endParaRPr dirty="0"/>
          </a:p>
          <a:p>
            <a:pPr algn="l">
              <a:lnSpc>
                <a:spcPts val="4367"/>
              </a:lnSpc>
            </a:pPr>
            <a:r>
              <a:rPr lang="en-US" sz="4043" b="1" spc="-202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Indicadores</a:t>
            </a:r>
            <a:endParaRPr lang="en-US" sz="4043" b="1" spc="-202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6113546"/>
            <a:ext cx="3823791" cy="1201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Indicador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de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Disponibilidade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Indicadores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– Squad OCC</a:t>
            </a:r>
          </a:p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Backlog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Atual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  <a:p>
            <a:pPr algn="l">
              <a:lnSpc>
                <a:spcPts val="2425"/>
              </a:lnSpc>
            </a:pP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71314" y="5279510"/>
            <a:ext cx="3569749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4043" b="1" spc="-202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Gestão</a:t>
            </a:r>
            <a:endParaRPr lang="en-US" sz="4043" b="1" spc="-202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49567" y="4687802"/>
            <a:ext cx="4392605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67"/>
              </a:lnSpc>
            </a:pPr>
            <a:endParaRPr dirty="0"/>
          </a:p>
          <a:p>
            <a:pPr algn="l">
              <a:lnSpc>
                <a:spcPts val="4367"/>
              </a:lnSpc>
            </a:pPr>
            <a:r>
              <a:rPr lang="en-US" sz="4043" b="1" spc="-202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Resumo</a:t>
            </a:r>
            <a:r>
              <a:rPr lang="en-US" sz="4043" b="1" spc="-202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  <a:r>
              <a:rPr lang="en-US" sz="4043" b="1" spc="-202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Executivo</a:t>
            </a:r>
            <a:endParaRPr lang="en-US" sz="4043" b="1" spc="-202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44294" y="6113546"/>
            <a:ext cx="3823791" cy="91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Acompanhamento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de Deploys</a:t>
            </a:r>
          </a:p>
          <a:p>
            <a:pPr marL="374079" lvl="1" indent="-187039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Acompanhamento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de SRs</a:t>
            </a:r>
          </a:p>
          <a:p>
            <a:pPr algn="l">
              <a:lnSpc>
                <a:spcPts val="2425"/>
              </a:lnSpc>
            </a:pP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893233" y="6113546"/>
            <a:ext cx="3823791" cy="89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079" lvl="1" indent="-187040" algn="l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Pontos de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Atenção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  <a:p>
            <a:pPr marL="374079" lvl="1" indent="-187040" algn="l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Pontos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Positivos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  <a:p>
            <a:pPr marL="374079" lvl="1" indent="-187040" algn="l">
              <a:lnSpc>
                <a:spcPts val="2425"/>
              </a:lnSpc>
              <a:buFont typeface="Arial"/>
              <a:buChar char="•"/>
            </a:pP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Próximas</a:t>
            </a:r>
            <a:r>
              <a:rPr lang="en-US" sz="1732" dirty="0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 </a:t>
            </a:r>
            <a:r>
              <a:rPr lang="en-US" sz="1732" dirty="0" err="1">
                <a:solidFill>
                  <a:srgbClr val="FFFFFF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Ações</a:t>
            </a:r>
            <a:endParaRPr lang="en-US" sz="1732" dirty="0">
              <a:solidFill>
                <a:srgbClr val="FFFFFF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771656"/>
            <a:ext cx="4680245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6"/>
              </a:lnSpc>
            </a:pPr>
            <a:r>
              <a:rPr lang="en-US" sz="8963" b="1" spc="-448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4" t="-1438" r="-15287" b="-365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-7055354" y="2813684"/>
            <a:ext cx="18288155" cy="14946631"/>
          </a:xfrm>
          <a:custGeom>
            <a:avLst/>
            <a:gdLst/>
            <a:ahLst/>
            <a:cxnLst/>
            <a:rect l="l" t="t" r="r" b="b"/>
            <a:pathLst>
              <a:path w="18288155" h="14946631">
                <a:moveTo>
                  <a:pt x="0" y="0"/>
                </a:moveTo>
                <a:lnTo>
                  <a:pt x="18288155" y="0"/>
                </a:lnTo>
                <a:lnTo>
                  <a:pt x="18288155" y="14946632"/>
                </a:lnTo>
                <a:lnTo>
                  <a:pt x="0" y="14946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11874" b="-1187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9143923" y="-3771900"/>
            <a:ext cx="18288155" cy="14946631"/>
          </a:xfrm>
          <a:custGeom>
            <a:avLst/>
            <a:gdLst/>
            <a:ahLst/>
            <a:cxnLst/>
            <a:rect l="l" t="t" r="r" b="b"/>
            <a:pathLst>
              <a:path w="18288155" h="14946631">
                <a:moveTo>
                  <a:pt x="0" y="0"/>
                </a:moveTo>
                <a:lnTo>
                  <a:pt x="18288154" y="0"/>
                </a:lnTo>
                <a:lnTo>
                  <a:pt x="18288154" y="14946631"/>
                </a:lnTo>
                <a:lnTo>
                  <a:pt x="0" y="149466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11874" b="-1187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028699" y="4716663"/>
            <a:ext cx="7163767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4142" spc="-207" dirty="0" err="1">
                <a:solidFill>
                  <a:srgbClr val="282525"/>
                </a:solidFill>
                <a:latin typeface="General Sans 1 Light"/>
                <a:ea typeface="General Sans 1 Light"/>
                <a:cs typeface="General Sans 1 Light"/>
                <a:sym typeface="General Sans 1 Light"/>
              </a:rPr>
              <a:t>Disponibilidade</a:t>
            </a:r>
            <a:r>
              <a:rPr lang="en-US" sz="4142" spc="-207" dirty="0">
                <a:solidFill>
                  <a:srgbClr val="282525"/>
                </a:solidFill>
                <a:latin typeface="General Sans 1 Light"/>
                <a:ea typeface="General Sans 1 Light"/>
                <a:cs typeface="General Sans 1 Light"/>
                <a:sym typeface="General Sans 1 Light"/>
              </a:rPr>
              <a:t> do E-commerce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368131"/>
            <a:ext cx="6810812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sz="7042" b="1" spc="-352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Indicador</a:t>
            </a:r>
            <a:r>
              <a:rPr lang="en-US" sz="7042" b="1" spc="-352" dirty="0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de </a:t>
            </a:r>
            <a:r>
              <a:rPr lang="en-US" sz="7042" b="1" spc="-352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Disponibilidade</a:t>
            </a:r>
            <a:endParaRPr lang="en-US" sz="7042" b="1" spc="-352" dirty="0">
              <a:solidFill>
                <a:srgbClr val="282525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780953" y="1482292"/>
            <a:ext cx="3756414" cy="3486270"/>
            <a:chOff x="0" y="0"/>
            <a:chExt cx="989344" cy="9181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9343" cy="918195"/>
            </a:xfrm>
            <a:custGeom>
              <a:avLst/>
              <a:gdLst/>
              <a:ahLst/>
              <a:cxnLst/>
              <a:rect l="l" t="t" r="r" b="b"/>
              <a:pathLst>
                <a:path w="989343" h="918195">
                  <a:moveTo>
                    <a:pt x="41220" y="0"/>
                  </a:moveTo>
                  <a:lnTo>
                    <a:pt x="948124" y="0"/>
                  </a:lnTo>
                  <a:cubicBezTo>
                    <a:pt x="970889" y="0"/>
                    <a:pt x="989343" y="18455"/>
                    <a:pt x="989343" y="41220"/>
                  </a:cubicBezTo>
                  <a:lnTo>
                    <a:pt x="989343" y="876975"/>
                  </a:lnTo>
                  <a:cubicBezTo>
                    <a:pt x="989343" y="887907"/>
                    <a:pt x="985001" y="898391"/>
                    <a:pt x="977270" y="906122"/>
                  </a:cubicBezTo>
                  <a:cubicBezTo>
                    <a:pt x="969540" y="913852"/>
                    <a:pt x="959056" y="918195"/>
                    <a:pt x="948124" y="918195"/>
                  </a:cubicBezTo>
                  <a:lnTo>
                    <a:pt x="41220" y="918195"/>
                  </a:lnTo>
                  <a:cubicBezTo>
                    <a:pt x="18455" y="918195"/>
                    <a:pt x="0" y="899740"/>
                    <a:pt x="0" y="876975"/>
                  </a:cubicBezTo>
                  <a:lnTo>
                    <a:pt x="0" y="41220"/>
                  </a:lnTo>
                  <a:cubicBezTo>
                    <a:pt x="0" y="18455"/>
                    <a:pt x="18455" y="0"/>
                    <a:pt x="412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82525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89344" cy="95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90867" y="1482292"/>
            <a:ext cx="3748450" cy="3486270"/>
            <a:chOff x="0" y="0"/>
            <a:chExt cx="987246" cy="9181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7246" cy="918195"/>
            </a:xfrm>
            <a:custGeom>
              <a:avLst/>
              <a:gdLst/>
              <a:ahLst/>
              <a:cxnLst/>
              <a:rect l="l" t="t" r="r" b="b"/>
              <a:pathLst>
                <a:path w="987246" h="918195">
                  <a:moveTo>
                    <a:pt x="41307" y="0"/>
                  </a:moveTo>
                  <a:lnTo>
                    <a:pt x="945939" y="0"/>
                  </a:lnTo>
                  <a:cubicBezTo>
                    <a:pt x="968752" y="0"/>
                    <a:pt x="987246" y="18494"/>
                    <a:pt x="987246" y="41307"/>
                  </a:cubicBezTo>
                  <a:lnTo>
                    <a:pt x="987246" y="876887"/>
                  </a:lnTo>
                  <a:cubicBezTo>
                    <a:pt x="987246" y="899701"/>
                    <a:pt x="968752" y="918195"/>
                    <a:pt x="945939" y="918195"/>
                  </a:cubicBezTo>
                  <a:lnTo>
                    <a:pt x="41307" y="918195"/>
                  </a:lnTo>
                  <a:cubicBezTo>
                    <a:pt x="18494" y="918195"/>
                    <a:pt x="0" y="899701"/>
                    <a:pt x="0" y="876887"/>
                  </a:cubicBezTo>
                  <a:lnTo>
                    <a:pt x="0" y="41307"/>
                  </a:lnTo>
                  <a:cubicBezTo>
                    <a:pt x="0" y="18494"/>
                    <a:pt x="18494" y="0"/>
                    <a:pt x="413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82525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87246" cy="95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780953" y="2083995"/>
            <a:ext cx="3756414" cy="157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0"/>
              </a:lnSpc>
            </a:pPr>
            <a:r>
              <a:rPr lang="en-US" sz="10478" b="1" dirty="0">
                <a:solidFill>
                  <a:srgbClr val="282525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90867" y="2083995"/>
            <a:ext cx="3756414" cy="157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0"/>
              </a:lnSpc>
            </a:pPr>
            <a:r>
              <a:rPr lang="en-US" sz="10478" b="1" dirty="0">
                <a:solidFill>
                  <a:srgbClr val="282525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72989" y="4003709"/>
            <a:ext cx="3764223" cy="64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2" b="1" spc="117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% META DE DISPONIBILIDADE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82888" y="4019987"/>
            <a:ext cx="3756414" cy="64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2" b="1" spc="117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% DISPONIBILIDADE DO MÊS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5994028"/>
            <a:ext cx="6445585" cy="196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44"/>
              </a:lnSpc>
            </a:pPr>
            <a:r>
              <a:rPr lang="pt-BR" sz="1889" dirty="0">
                <a:solidFill>
                  <a:srgbClr val="282525"/>
                </a:solidFill>
                <a:latin typeface="General Sans 2 Light"/>
                <a:ea typeface="General Sans 2 Light"/>
                <a:cs typeface="General Sans 2 Light"/>
                <a:sym typeface="General Sans 2 Light"/>
              </a:rPr>
              <a:t>O indicador de SLA demonstra o nível de disponibilidade do e-commerce, considerando o período em que a plataforma permaneceu acessível e operando normalmente para os usuários. Seu objetivo é acompanhar a estabilidade do ambiente e apoiar ações que garantam a continuidade da operação.</a:t>
            </a:r>
            <a:endParaRPr lang="en-US" sz="1889" dirty="0">
              <a:solidFill>
                <a:srgbClr val="282525"/>
              </a:solidFill>
              <a:latin typeface="General Sans 2 Light"/>
              <a:ea typeface="General Sans 2 Light"/>
              <a:cs typeface="General Sans 2 Light"/>
              <a:sym typeface="General Sans 2 Light"/>
            </a:endParaRPr>
          </a:p>
        </p:txBody>
      </p:sp>
      <p:grpSp>
        <p:nvGrpSpPr>
          <p:cNvPr id="29" name="Group 7">
            <a:extLst>
              <a:ext uri="{FF2B5EF4-FFF2-40B4-BE49-F238E27FC236}">
                <a16:creationId xmlns:a16="http://schemas.microsoft.com/office/drawing/2014/main" id="{6C7CD4BA-CB71-3C4C-1927-262031C309AF}"/>
              </a:ext>
            </a:extLst>
          </p:cNvPr>
          <p:cNvGrpSpPr/>
          <p:nvPr/>
        </p:nvGrpSpPr>
        <p:grpSpPr>
          <a:xfrm>
            <a:off x="8780949" y="5162484"/>
            <a:ext cx="7658368" cy="2619762"/>
            <a:chOff x="0" y="0"/>
            <a:chExt cx="989344" cy="918195"/>
          </a:xfrm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36F7F69C-8111-57E4-789E-E045D6DB248B}"/>
                </a:ext>
              </a:extLst>
            </p:cNvPr>
            <p:cNvSpPr/>
            <p:nvPr/>
          </p:nvSpPr>
          <p:spPr>
            <a:xfrm>
              <a:off x="0" y="0"/>
              <a:ext cx="989343" cy="918195"/>
            </a:xfrm>
            <a:custGeom>
              <a:avLst/>
              <a:gdLst/>
              <a:ahLst/>
              <a:cxnLst/>
              <a:rect l="l" t="t" r="r" b="b"/>
              <a:pathLst>
                <a:path w="989343" h="918195">
                  <a:moveTo>
                    <a:pt x="41220" y="0"/>
                  </a:moveTo>
                  <a:lnTo>
                    <a:pt x="948124" y="0"/>
                  </a:lnTo>
                  <a:cubicBezTo>
                    <a:pt x="970889" y="0"/>
                    <a:pt x="989343" y="18455"/>
                    <a:pt x="989343" y="41220"/>
                  </a:cubicBezTo>
                  <a:lnTo>
                    <a:pt x="989343" y="876975"/>
                  </a:lnTo>
                  <a:cubicBezTo>
                    <a:pt x="989343" y="887907"/>
                    <a:pt x="985001" y="898391"/>
                    <a:pt x="977270" y="906122"/>
                  </a:cubicBezTo>
                  <a:cubicBezTo>
                    <a:pt x="969540" y="913852"/>
                    <a:pt x="959056" y="918195"/>
                    <a:pt x="948124" y="918195"/>
                  </a:cubicBezTo>
                  <a:lnTo>
                    <a:pt x="41220" y="918195"/>
                  </a:lnTo>
                  <a:cubicBezTo>
                    <a:pt x="18455" y="918195"/>
                    <a:pt x="0" y="899740"/>
                    <a:pt x="0" y="876975"/>
                  </a:cubicBezTo>
                  <a:lnTo>
                    <a:pt x="0" y="41220"/>
                  </a:lnTo>
                  <a:cubicBezTo>
                    <a:pt x="0" y="18455"/>
                    <a:pt x="18455" y="0"/>
                    <a:pt x="412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82525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B48463CB-5F22-4964-3829-01D201B6E2D9}"/>
                </a:ext>
              </a:extLst>
            </p:cNvPr>
            <p:cNvSpPr txBox="1"/>
            <p:nvPr/>
          </p:nvSpPr>
          <p:spPr>
            <a:xfrm>
              <a:off x="0" y="-38100"/>
              <a:ext cx="989344" cy="95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E3D46DA-5338-6003-2CCD-BCE747D6214D}"/>
              </a:ext>
            </a:extLst>
          </p:cNvPr>
          <p:cNvSpPr txBox="1"/>
          <p:nvPr/>
        </p:nvSpPr>
        <p:spPr>
          <a:xfrm>
            <a:off x="8780941" y="7181213"/>
            <a:ext cx="7658361" cy="400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2" b="1" spc="117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ÚLTIMOS MESES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E6473918-8D1F-0157-13E9-056F602CA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8960207"/>
              </p:ext>
            </p:extLst>
          </p:nvPr>
        </p:nvGraphicFramePr>
        <p:xfrm>
          <a:off x="8772989" y="5191877"/>
          <a:ext cx="7658360" cy="163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582" y="0"/>
            <a:ext cx="18244837" cy="10673230"/>
          </a:xfrm>
          <a:custGeom>
            <a:avLst/>
            <a:gdLst/>
            <a:ahLst/>
            <a:cxnLst/>
            <a:rect l="l" t="t" r="r" b="b"/>
            <a:pathLst>
              <a:path w="18244837" h="10673230">
                <a:moveTo>
                  <a:pt x="0" y="0"/>
                </a:moveTo>
                <a:lnTo>
                  <a:pt x="18244836" y="0"/>
                </a:lnTo>
                <a:lnTo>
                  <a:pt x="18244836" y="10673230"/>
                </a:lnTo>
                <a:lnTo>
                  <a:pt x="0" y="1067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Freeform 4"/>
          <p:cNvSpPr/>
          <p:nvPr/>
        </p:nvSpPr>
        <p:spPr>
          <a:xfrm>
            <a:off x="10966261" y="564059"/>
            <a:ext cx="4911724" cy="4242501"/>
          </a:xfrm>
          <a:custGeom>
            <a:avLst/>
            <a:gdLst/>
            <a:ahLst/>
            <a:cxnLst/>
            <a:rect l="l" t="t" r="r" b="b"/>
            <a:pathLst>
              <a:path w="4911724" h="4242501">
                <a:moveTo>
                  <a:pt x="0" y="0"/>
                </a:moveTo>
                <a:lnTo>
                  <a:pt x="4911723" y="0"/>
                </a:lnTo>
                <a:lnTo>
                  <a:pt x="4911723" y="4242501"/>
                </a:lnTo>
                <a:lnTo>
                  <a:pt x="0" y="4242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1831900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40209" y="2971263"/>
            <a:ext cx="359499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r>
              <a:rPr lang="en-US" sz="1800" b="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de </a:t>
            </a:r>
            <a:r>
              <a:rPr lang="en-US" sz="1800" b="0" dirty="0" err="1">
                <a:sym typeface="General Sans 2 Medium"/>
              </a:rPr>
              <a:t>Trabalho</a:t>
            </a:r>
            <a:r>
              <a:rPr lang="en-US" sz="1800" b="0" dirty="0">
                <a:sym typeface="General Sans 2 Medium"/>
              </a:rPr>
              <a:t> </a:t>
            </a:r>
          </a:p>
          <a:p>
            <a:r>
              <a:rPr lang="en-US" sz="1800" b="0" dirty="0" err="1">
                <a:sym typeface="General Sans 2 Medium"/>
              </a:rPr>
              <a:t>Entregues</a:t>
            </a:r>
            <a:endParaRPr lang="en-US" sz="1800" b="0" dirty="0">
              <a:sym typeface="General Sans 2 Medium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327697" y="1028700"/>
            <a:ext cx="738653" cy="820726"/>
          </a:xfrm>
          <a:custGeom>
            <a:avLst/>
            <a:gdLst/>
            <a:ahLst/>
            <a:cxnLst/>
            <a:rect l="l" t="t" r="r" b="b"/>
            <a:pathLst>
              <a:path w="738653" h="820726">
                <a:moveTo>
                  <a:pt x="0" y="0"/>
                </a:moveTo>
                <a:lnTo>
                  <a:pt x="738653" y="0"/>
                </a:lnTo>
                <a:lnTo>
                  <a:pt x="738653" y="820726"/>
                </a:lnTo>
                <a:lnTo>
                  <a:pt x="0" y="820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8391218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21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0247" y="2971263"/>
            <a:ext cx="3313553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Dias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Úteis</a:t>
            </a:r>
            <a:endParaRPr lang="en-US" spc="132" dirty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699" y="1221550"/>
            <a:ext cx="7693307" cy="127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28"/>
              </a:lnSpc>
            </a:pPr>
            <a:r>
              <a:rPr lang="en-US" sz="7200" b="1" spc="-519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Indicadores</a:t>
            </a:r>
            <a:r>
              <a:rPr lang="en-US" sz="5400" b="1" spc="-519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659AC373-228C-0E69-E193-BEA1C9092C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5943201"/>
              </p:ext>
            </p:extLst>
          </p:nvPr>
        </p:nvGraphicFramePr>
        <p:xfrm>
          <a:off x="6622596" y="4661332"/>
          <a:ext cx="5410201" cy="416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3" name="Gráfico 32">
            <a:extLst>
              <a:ext uri="{FF2B5EF4-FFF2-40B4-BE49-F238E27FC236}">
                <a16:creationId xmlns:a16="http://schemas.microsoft.com/office/drawing/2014/main" id="{7C6BDD33-66AC-416C-AFE2-D010F3E39C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7263785"/>
              </p:ext>
            </p:extLst>
          </p:nvPr>
        </p:nvGraphicFramePr>
        <p:xfrm>
          <a:off x="1523999" y="4710862"/>
          <a:ext cx="5410201" cy="416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5" name="TextBox 6">
            <a:extLst>
              <a:ext uri="{FF2B5EF4-FFF2-40B4-BE49-F238E27FC236}">
                <a16:creationId xmlns:a16="http://schemas.microsoft.com/office/drawing/2014/main" id="{A3DB876F-B92B-471B-C8FF-F3776B57F94E}"/>
              </a:ext>
            </a:extLst>
          </p:cNvPr>
          <p:cNvSpPr txBox="1"/>
          <p:nvPr/>
        </p:nvSpPr>
        <p:spPr>
          <a:xfrm>
            <a:off x="15049199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16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735AF0BB-D692-1902-7731-94A86B2F6FB5}"/>
              </a:ext>
            </a:extLst>
          </p:cNvPr>
          <p:cNvSpPr txBox="1"/>
          <p:nvPr/>
        </p:nvSpPr>
        <p:spPr>
          <a:xfrm>
            <a:off x="14557508" y="2971263"/>
            <a:ext cx="3594991" cy="77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r>
              <a:rPr lang="en-US" sz="1800" b="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b="0" dirty="0" err="1">
                <a:sym typeface="General Sans 2 Medium"/>
              </a:rPr>
              <a:t>Detectados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b="0" dirty="0" err="1">
                <a:sym typeface="General Sans 2 Medium"/>
              </a:rPr>
              <a:t>internamente</a:t>
            </a:r>
            <a:br>
              <a:rPr lang="en-US" dirty="0">
                <a:sym typeface="General Sans 2 Medium"/>
              </a:rPr>
            </a:br>
            <a:r>
              <a:rPr lang="en-US" sz="1100" b="0" dirty="0">
                <a:sym typeface="General Sans 2 Medium"/>
              </a:rPr>
              <a:t>(Bugs + </a:t>
            </a:r>
            <a:r>
              <a:rPr lang="en-US" sz="1100" b="0" dirty="0" err="1">
                <a:sym typeface="General Sans 2 Medium"/>
              </a:rPr>
              <a:t>Melhorias</a:t>
            </a:r>
            <a:r>
              <a:rPr lang="en-US" sz="1100" b="0" dirty="0">
                <a:sym typeface="General Sans 2 Medium"/>
              </a:rPr>
              <a:t>)</a:t>
            </a:r>
            <a:endParaRPr lang="en-US" b="0" dirty="0">
              <a:sym typeface="General Sans 2 Medium"/>
            </a:endParaRPr>
          </a:p>
        </p:txBody>
      </p:sp>
      <p:pic>
        <p:nvPicPr>
          <p:cNvPr id="45" name="Gráfico 44" descr="Na mosca com preenchimento sólido">
            <a:extLst>
              <a:ext uri="{FF2B5EF4-FFF2-40B4-BE49-F238E27FC236}">
                <a16:creationId xmlns:a16="http://schemas.microsoft.com/office/drawing/2014/main" id="{4EA97F2C-CF12-F607-700D-264234480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99567" y="981863"/>
            <a:ext cx="914400" cy="914400"/>
          </a:xfrm>
          <a:prstGeom prst="rect">
            <a:avLst/>
          </a:prstGeom>
        </p:spPr>
      </p:pic>
      <p:sp>
        <p:nvSpPr>
          <p:cNvPr id="46" name="CaixaDeTexto 45">
            <a:hlinkClick r:id="rId9" action="ppaction://hlinksldjump"/>
            <a:extLst>
              <a:ext uri="{FF2B5EF4-FFF2-40B4-BE49-F238E27FC236}">
                <a16:creationId xmlns:a16="http://schemas.microsoft.com/office/drawing/2014/main" id="{320BB0C1-4874-420C-DA6A-C597D5CD5A3A}"/>
              </a:ext>
            </a:extLst>
          </p:cNvPr>
          <p:cNvSpPr txBox="1"/>
          <p:nvPr/>
        </p:nvSpPr>
        <p:spPr>
          <a:xfrm>
            <a:off x="20027" y="9410700"/>
            <a:ext cx="1824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E2D8D0"/>
                </a:solidFill>
              </a:rPr>
              <a:t>Detalhes – Itens de Trabalho Entregues</a:t>
            </a:r>
          </a:p>
        </p:txBody>
      </p:sp>
      <p:pic>
        <p:nvPicPr>
          <p:cNvPr id="50" name="Gráfico 49" descr="Bandeira de corrida com preenchimento sólido">
            <a:extLst>
              <a:ext uri="{FF2B5EF4-FFF2-40B4-BE49-F238E27FC236}">
                <a16:creationId xmlns:a16="http://schemas.microsoft.com/office/drawing/2014/main" id="{1E301AD5-75D3-6EA6-5A83-0DD058801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80504" y="1028700"/>
            <a:ext cx="914400" cy="914400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EA53B2FB-1272-6730-FFA1-BAA10F289E1A}"/>
              </a:ext>
            </a:extLst>
          </p:cNvPr>
          <p:cNvSpPr txBox="1"/>
          <p:nvPr/>
        </p:nvSpPr>
        <p:spPr>
          <a:xfrm>
            <a:off x="992003" y="2495745"/>
            <a:ext cx="7163767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4142" spc="-207" dirty="0">
                <a:solidFill>
                  <a:schemeClr val="bg2"/>
                </a:solidFill>
                <a:latin typeface="General Sans 1 Light"/>
                <a:ea typeface="General Sans 1 Light"/>
                <a:cs typeface="General Sans 1 Light"/>
                <a:sym typeface="General Sans 1 Light"/>
              </a:rPr>
              <a:t>Squad OCC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CF9A7A19-D372-4B13-A072-85FFDA7F2A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330781"/>
              </p:ext>
            </p:extLst>
          </p:nvPr>
        </p:nvGraphicFramePr>
        <p:xfrm>
          <a:off x="12164695" y="4710862"/>
          <a:ext cx="5410800" cy="416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12620000" y="6480000"/>
            <a:ext cx="42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eneral Sans 2 Medium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580000" y="5520000"/>
            <a:ext cx="42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eneral Sans 2 Medium"/>
              </a:rPr>
              <a:t>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680000" y="6360000"/>
            <a:ext cx="42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eneral Sans 2 Medium"/>
              </a:rPr>
              <a:t>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Atual</a:t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687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41682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Adicionar AnalyticsTags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pela área de negócios: faltam os nomes das Analytics Tags de cada tela.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41509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Integração Server to Server Rakuten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18/09/2026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Regis Ropke. Bloqueado pela Rakuten: o card espera credenciais da API e a resposta às dúvidas de homologação.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Alinhamento de Expectativa de Tráfego e Capacidade para a Black Friday 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pela Oracle (SR 4-0003839520; histórico SR 4-0001220950): análise preventiva de capacidade para a Black Friday.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40904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Novos Requisitos para Imagem dos Produtos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24/08/2026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pelo Google: aguardando a confirmação de quais imagens e configurações o Merchant Center exige.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40883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 Relatorios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pela Oracle (SR 4-0003585464): cobrada a causa raiz das falhas recorrentes do serviço de relatórios.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20412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Análise: Produtos iguais não estão sendo agrupados no pedido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22/10/2024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marta.bispo salonline.com.br. O histórico cita a SR Oracle 3-38505981351, fora do formato 4-. O motivo vigente do bloqueio não está fechado.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19253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 com erro - OCC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20/09/2024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Thiago Beserra. Card sem descrição e sem comentário. Dependência e motivo do bloqueio não identificados.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13441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Não é possivel acessar a conta de algumas clientes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10/05/2024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kauan.oliveira salonline.com.br. O erro deixou de reproduzir. O card permanece bloqueado até surgir um novo caso para investigar.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12356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 com amountAuthorized zerado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10/04/2024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marta.bispo salonline.com.br. A discussão de 2024 trata do retorno do Mercado Pago via Digibee. O bloqueio vigente não está explícito.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(2/9)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47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Tire suas dúvidas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na definição com a YourViews: falta decidir se a seção Tire suas dúvidas será da ferramenta ou interna.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Avaliações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na definição com a YourViews: falta decidir se o front das avaliações será da ferramenta ou interno.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39624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Inclusão de novos campos no formulário da central de atendimento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13/07/2026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Bloqueado pela Salesforce: a plataforma ainda precisa receber os novos campos do formulário da central de atendimento.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37871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Análise de Performance do Site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22/04/2026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Marcus Linck. Bloqueado pela Salon Line: a lentidão foi atribuída ao peso das imagens e o plano de ação ficou com o time interno.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37626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Inclusão de Apple Pay e Google Pay como formas de pagamento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09/04/2026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luana.santos salonline.com.br. Bloqueado pela área de negócios: o Mercado Pago não cobre Apple Pay nem Google Pay e o gateway ainda não foi escolhido.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37408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Ajustar exibição de mensagem de frete grátis no cálculo de frete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02/04/2026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Marcus Linck. Bloqueado pela Salon Line: a prioridade foi adiada até a definição das regras de mensagem de frete grátis.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37148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Integração App SEO + Oracle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26/03/2026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Ewerton Bezerra. O título cita integração com a Oracle e não há SR 4-. O comentário recente diz que os ajustes pedidos já foram feitos.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37147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Integração "Viva Você Studio" + Ecomm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26/03/2026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karina.zaghetto salonline.com.br. Bloqueado pela Salon Line: faltam as URLs de TST e PRD, a escolha entre iframe e subdomínio e a correção da API exposta.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37101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Implementação no Modal de Visualização Rápida (Quick View) – PLP Web e Mobile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25/03/2026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karina.zaghetto salonline.com.br. O estado segue Blocked, mas o comentário mais recente libera o Figma. O motivo atual da dependência não está explícito.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(3/9)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09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10644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Boleto Pago Após o Vencimento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07/02/2024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Card sem descrição e sem comentário. Dependência e motivo do bloqueio não identificados.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10100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Indexação não está sendo refletida no Front - Categorias não são atualizadas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Bloqueio sem dono nem motivo vigente. O último comentário é de janeiro de 2024.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9260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Request para Cotação de Frete com divergências - PESO INCORRETO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12/12/2023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Blocked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Lucas Borges. Mantido bloqueado para preservar as evidências de peso incorreto na cotação, no aguardo de nova ocorrência.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41756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Criar replicas de ordenação e filtros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01/10/2026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Ewerton Bezerra. Em desenvolvimento: réplicas de ordenação por preço e mais vendidos e índice de filtros na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Adicionar a Algolia nas páginas de categoria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desenvolvimento: consulta de produtos das páginas de categoria pela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41479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Hero da PDP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Regis Ropke. Hero da página de produto em desenvolvimento. O botão de compartilhar ainda aguarda o Figma.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40929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Desenvolvimento do novo layout da Página de Produto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Regis Ropke. Novo layout da página de produto em desenvolvimento, com dúvidas de Figma mobile ainda abertas.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23616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Problema/Cronograma-Capilar exibindo imagens quebradas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09/01/2025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Imagens quebradas no Cronograma Capilar. O último comentário, de janeiro de 2025, pede validação em produção.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10004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Produtos sendo exibidos como "Grátis" no carrinho incorretamente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Bug antigo ainda em desenvolvimento, sem descrição nem comentário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9669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Valor TOTAL de pedido parcelado COM Juros está sendo exibido com soma incorreta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04/01/2024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Active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Bug antigo ainda em desenvolvimento, sem descrição nem comentário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(4/9)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31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41820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Implementar atualizações incrementais do catálogo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02/10/2026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atualização incremental do catálogo, com rotina a cada cinco minutos.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41786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Adaptar FrontEnd da busca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01/10/2026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Julio Lima. Em teste LH: autocomplete da busca no padrão recomendado pela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Implementar Recent Searches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buscas recentes salvas no navegador e reaproveitadas no autocomplete.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41676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Implementar userToken nos eventos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identificador de usuário nos eventos e nas consultas da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41516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Eventos &amp; Analitycs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18/09/2026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eventos de visualização, clique e conversão da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41515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Indexação / Backend (Integração de Catálogo)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18/09/2026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Julio Lima. Em teste LH: indexação do catálogo Oracle na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Monte sua Rotina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widget Monte sua Rotina, com destaque do produto que o cliente está vendo.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Ritual em {x} passos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ritual em passos, exibido somente quando o produto tem o conteúdo preenchido.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Informações do Produto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informações do produto, incluindo a seção Dica de Ouro.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41480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Trust Bar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Light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LH: faixa de benefícios da nova página de produto.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41513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Spike Técnico: Viabilidade de Instalação (widgets/showcase/js)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18/09/2026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In Test Customer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teste com o cliente: estudo de viabilidade do InstantSearch da Algolia, já disponível em TST.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(5/9)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51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41726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[Projeto CDP] Abandono Checkout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29/09/2026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Ready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Fábio Vidart. Pronto para produção: campos de abandono de checkout validados em TST.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40639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Permitir vídeo ou GIF na PDP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12/08/2026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Ready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daniela.damasceno salonline.com.br. Pronto para produção: exibição de vídeo ou GIF na galeria da página de produto.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41853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Adicinar a marca Trata no menu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05/10/2026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daniela.damasceno salonline.com.br. Em validação de produção: inclusão da marca Trata no menu do site.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41755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Preço zerado em produtos após retorno null no endpoint listProducts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validação de produção. SR Oracle 4-0003936169 aberta para o preço zerado após retorno nulo de produtos.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39603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[Análise &amp; Ajuste] array dataLayer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10/07/2026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validação de produção: preço com desconto no dataLayer. A Salon indicou que a prova só ocorre em produção.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47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28070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Erros retornados pela SSE Smart Checkout ao finalizar pedidos pelo App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11/06/2025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Em validação de produção. O histórico cita as SRs Oracle 4-0000687590 e 4-0000873061 na SSE de checkout do app.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29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20387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Implementação cód. LP Galeria feed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21/10/2024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kauan.oliveira salonline.com.br. Em validação de produção desde 2024: código da landing de galeria no feed.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13160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Divergência Pedido x Payload -Site Pedido 570495481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02/05/2024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Validation PRD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Em validação de produção desde 2024, depois de uma correção pontual de item que o pedido não agrupou.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41401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Erro ao fechar pedido / Recalculo dos descontos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14/09/2026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Monitoring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luana.santos salonline.com.br. Em monitoramento do recálculo de descontos ao fechar o pedido.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40912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Pedidos falhando na Integração - Erro "VL_DESC_INC_UNIT nao poder ser menor que 0"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24/08/2026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Monitoring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luana.santos salonline.com.br. Em monitoramento do erro de desconto negativo na integração do pedido.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40351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Pedidos com o erro "Valor de Meio incorreto para PED_CLIENTE"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03/08/2026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Monitoring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luana.santos salonline.com.br. Em monitoramento do erro de valor de meio na integração do pedido.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(6/9)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689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41870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Trazer informações de venda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06/10/2026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incluir informações de venda de 30, 60 e 90 dias na indexação do produto.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Adicionar a Algolia em Collections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avaliar o uso da Algolia nas collections.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41680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Algolia | Implementar Federated Search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busca federada no autocomplete da Algolia.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41577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Envelopamento do Site — Black Friday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23/09/2026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envelopamento visual do site para a campanha de Black Friday.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40638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Exibir itens de lançamento nas sugestões do Cronograma Capilar (Quiz)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12/08/2026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exibir lançamentos nas sugestões do Cronograma Capilar.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40290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[PDP] Cards de produtos relacionados duplicam o símbolo de moeda no parcelamento  Descrição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30/07/2026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cards relacionados da página de produto duplicam o símbolo da moeda no parcelamento.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39839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Quantidade incorreta de itens sendo adicionados via Streamshop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16/07/2026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quantidade incorreta de itens adicionados pelo Streamshop.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77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38287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PLP Outlet repete produtos ao utilizar “Ver mais produtos”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13/05/2026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a listagem de outlet repete produtos ao usar Ver mais produtos.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Sprint 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27982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 sem registro de produtos na propriedade "commerceItems": [],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11/06/2025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Landing Page do Programa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visitante/cliente, quero acessar uma página explicando o programa e ver produtos para assinar, para entender benefícios e iniciar compra recorrente por ali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(7/9)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685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Admin de Compras Recorrentes (Gerenciamento)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Quero gerenciar minhas compras recorrentes em Minha Conta Para pausar, cancelar, reativar ou ajustar minha recorrência Escopo - Tela “Minhas Compra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Identificação da Compra Recorrente em Meus Pedidos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Quero identificar facilmente meus pedidos recorrentes Para acessar o gerenciamento quando necessário Escopo - Exibir tag de Compra Recorrente na li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Regras de Preço, Descontos e Operação da Recorrência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Quero entender claramente como funcionam preços, descontos e frete da recorrência Para confiar no programa Escopo - 10% de desconto adicional aplic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Carrinho e Checkout com Compra Recorrente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Quero visualizar e confirmar minha compra recorrente no carrinho e checkout Para finalizar a contratação com clareza Escopo - Exibir no carrinho: -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35771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[COMPRA RECORRENTE] Contratação da Compra Recorrente na PDP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 do e-commerce Quero escolher entre Compra Única ou Compra Recorrente na PDP Para decidir receber meus produtos automaticamente em uma frequência fi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35285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Exibir até 4 produtos por categoria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15/01/2026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cliente, quero ver mais opções por categoria (até 4) para comparar melhor as recomendações.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35284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Remover opção “Máscara” e ajustar impactos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15/01/2026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cliente, não devo ver a opção “Máscara” no Quiz nem ter recomendações de máscara no resultado ou no cronograma capilar.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35283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Aplicar UI do Quiz conforme Figma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15/01/2026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Como cliente, quero uma interface do Quiz igual ao Figma, g arantindo responsividade e alinhamento com o restante do produto.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(8/9)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727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27864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Melhorar experiência do usuário deslogado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05/06/2025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Marcus Linck. A fazer: Realizar análise para melhor experiência do usuário na confirmação do pedido quando for usuário deslogado.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27152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Criar a autenticação para acessar as paginas de config personalizadas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05/05/2025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Marcus Linck. A fazer: Criar a autenticação pela conta do painel admin para acessar as paginas de config personalizadas.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24585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 na Experiência do Usuário – Mensagem no Modal de CPF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30/01/2025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Descrição: Atualmente, ao fazer login via login social e avançar para o checkout sem um CPF cadastrado, um modal é exibido solicitando o preenchimento do CPF.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21540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 de espaçamento no header ao renderizar a pagina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29/11/2024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21214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Autenticação Apple - ( Sign in with Apple 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19/11/2024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Lucas Borges. A fazer: Boa tarde time, Recebi a seguinte demanda do time de desenvolvimento do APP, gostaria que avaliassem e caso tenham duvidas formalizem neste card e se necessário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19425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Cotação de Frete na Pagina de Produtos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25/09/2024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Boa tarde 😉 Podem verificar a cotação de frete via pagina de produtos, parece não considerar a quantidade informada pelo cliente.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17326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Implementação de Content Security Policy (CSP)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05/08/2024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A fazer: Implementar uma Content Security Policy (CSP) para aumentar a segurança do site, mitigando ataques XSS e controlando a origem dos recursos carregados.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13805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Realizar a atualização automática do site map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21/05/2024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Lucas Borges. A fazer: Conforme conversamos na reunião junto com o time de SEO no dia 18/09/24, precisamos perguntar para o Suporte da Oracle/Langer como podemos automatizar a atualiz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10106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Botões para contato da pagina "central de relacionamento" não funciona no mobile. 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/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Backlog Atual (9/9)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/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138E084-B381-B7E5-1072-9CC52CEED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21813"/>
              </p:ext>
            </p:extLst>
          </p:nvPr>
        </p:nvGraphicFramePr>
        <p:xfrm>
          <a:off x="1028700" y="2095500"/>
          <a:ext cx="16344900" cy="2979319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755299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477577">
                  <a:extLst>
                    <a:ext uri="{9D8B030D-6E8A-4147-A177-3AD203B41FA5}">
                      <a16:colId xmlns:a16="http://schemas.microsoft.com/office/drawing/2014/main" val="1940100698"/>
                    </a:ext>
                  </a:extLst>
                </a:gridCol>
                <a:gridCol w="1747812">
                  <a:extLst>
                    <a:ext uri="{9D8B030D-6E8A-4147-A177-3AD203B41FA5}">
                      <a16:colId xmlns:a16="http://schemas.microsoft.com/office/drawing/2014/main" val="416282343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74501397"/>
                    </a:ext>
                  </a:extLst>
                </a:gridCol>
              </a:tblGrid>
              <a:tr h="4993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DATA DE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General Sans 1 Light" panose="020B0604020202020204" charset="0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10105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Desktop não está responsivo 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19/01/2024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9409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Exibição em telas pequenas está quebrando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20/12/2023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Sem responsável atribuído.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9302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Divergência request de Cotação de frete - ENDEREÇO PRINCIPAL VS SECUNDÁRIO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15/12/2023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Lucas Borges.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Backlog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9211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Pedido com quantidades e valores divergentes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07/12/2023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New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General Sans 1 Light" panose="020B0604020202020204" charset="0"/>
                        </a:rPr>
                        <a:t>Responsável: Gianluca Ferreira. Item em aberto, sem descrição recente no card.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pic>
        <p:nvPicPr>
          <p:cNvPr id="4" name="Gráfico 3" descr="Área de Transferência Toda Marcada com preenchimento sólido">
            <a:extLst>
              <a:ext uri="{FF2B5EF4-FFF2-40B4-BE49-F238E27FC236}">
                <a16:creationId xmlns:a16="http://schemas.microsoft.com/office/drawing/2014/main" id="{F255DE0D-1078-185E-CC17-D7AC67303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4336" y="781253"/>
            <a:ext cx="914400" cy="9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985DC11-4802-429A-BB94-76F88832976C}"/>
              </a:ext>
            </a:extLst>
          </p:cNvPr>
          <p:cNvSpPr txBox="1"/>
          <p:nvPr/>
        </p:nvSpPr>
        <p:spPr>
          <a:xfrm>
            <a:off x="12495486" y="79367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F77E-9A51-88B8-24A4-30FF3A5C59C3}"/>
              </a:ext>
            </a:extLst>
          </p:cNvPr>
          <p:cNvSpPr txBox="1"/>
          <p:nvPr/>
        </p:nvSpPr>
        <p:spPr>
          <a:xfrm>
            <a:off x="14401800" y="952500"/>
            <a:ext cx="18101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088"/>
              </a:lnSpc>
              <a:defRPr sz="2000" b="1" spc="132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</a:defRPr>
            </a:lvl1pPr>
          </a:lstStyle>
          <a:p>
            <a:pPr algn="l"/>
            <a:r>
              <a:rPr lang="en-US" sz="1800" dirty="0" err="1">
                <a:sym typeface="General Sans 2 Medium"/>
              </a:rPr>
              <a:t>Ítens</a:t>
            </a:r>
            <a:r>
              <a:rPr lang="en-US" sz="1800" b="0" dirty="0">
                <a:sym typeface="General Sans 2 Medium"/>
              </a:rPr>
              <a:t> </a:t>
            </a:r>
            <a:r>
              <a:rPr lang="en-US" sz="1800" dirty="0" err="1">
                <a:sym typeface="General Sans 2 Medium"/>
              </a:rPr>
              <a:t>Pendentes</a:t>
            </a:r>
            <a:endParaRPr lang="en-US" sz="1800" dirty="0">
              <a:sym typeface="General Sans 2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68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8" name="TextBox 48"/>
          <p:cNvSpPr txBox="1"/>
          <p:nvPr/>
        </p:nvSpPr>
        <p:spPr>
          <a:xfrm>
            <a:off x="1028700" y="1152525"/>
            <a:ext cx="11239500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863" b="1" spc="-29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Acompanhamento</a:t>
            </a:r>
            <a:r>
              <a:rPr lang="en-US" sz="5863" b="1" spc="-29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</a:p>
          <a:p>
            <a:pPr algn="l">
              <a:lnSpc>
                <a:spcPts val="5277"/>
              </a:lnSpc>
            </a:pPr>
            <a:r>
              <a:rPr lang="en-US" sz="5863" b="1" spc="-29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dos Deploys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15410F9B-609B-671F-58C9-EB0E666A3ED5}"/>
              </a:ext>
            </a:extLst>
          </p:cNvPr>
          <p:cNvSpPr txBox="1"/>
          <p:nvPr/>
        </p:nvSpPr>
        <p:spPr>
          <a:xfrm>
            <a:off x="9153218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3</a:t>
            </a:r>
          </a:p>
        </p:txBody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03D529F2-47A9-5A6B-DEB9-814BA45226DD}"/>
              </a:ext>
            </a:extLst>
          </p:cNvPr>
          <p:cNvSpPr txBox="1"/>
          <p:nvPr/>
        </p:nvSpPr>
        <p:spPr>
          <a:xfrm>
            <a:off x="8802247" y="2971263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Deploys </a:t>
            </a:r>
          </a:p>
          <a:p>
            <a:pPr algn="ctr">
              <a:lnSpc>
                <a:spcPts val="2088"/>
              </a:lnSpc>
            </a:pP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Realizados</a:t>
            </a:r>
            <a:endParaRPr lang="en-US" spc="132" dirty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</p:txBody>
      </p:sp>
      <p:pic>
        <p:nvPicPr>
          <p:cNvPr id="59" name="Gráfico 58" descr="Foguete com preenchimento sólido">
            <a:extLst>
              <a:ext uri="{FF2B5EF4-FFF2-40B4-BE49-F238E27FC236}">
                <a16:creationId xmlns:a16="http://schemas.microsoft.com/office/drawing/2014/main" id="{898651DC-F964-8BFA-4067-C54E9BA08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6829" y="1095580"/>
            <a:ext cx="914400" cy="914400"/>
          </a:xfrm>
          <a:prstGeom prst="rect">
            <a:avLst/>
          </a:prstGeom>
        </p:spPr>
      </p:pic>
      <p:pic>
        <p:nvPicPr>
          <p:cNvPr id="61" name="Gráfico 60" descr="Caixa com preenchimento sólido">
            <a:extLst>
              <a:ext uri="{FF2B5EF4-FFF2-40B4-BE49-F238E27FC236}">
                <a16:creationId xmlns:a16="http://schemas.microsoft.com/office/drawing/2014/main" id="{D9AACA0B-4FCC-4537-9AA7-9621583116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81975" y="1182051"/>
            <a:ext cx="914400" cy="914400"/>
          </a:xfrm>
          <a:prstGeom prst="rect">
            <a:avLst/>
          </a:prstGeom>
        </p:spPr>
      </p:pic>
      <p:sp>
        <p:nvSpPr>
          <p:cNvPr id="63" name="TextBox 9">
            <a:extLst>
              <a:ext uri="{FF2B5EF4-FFF2-40B4-BE49-F238E27FC236}">
                <a16:creationId xmlns:a16="http://schemas.microsoft.com/office/drawing/2014/main" id="{82AA4448-4406-17BB-D152-9D3B3BF8A443}"/>
              </a:ext>
            </a:extLst>
          </p:cNvPr>
          <p:cNvSpPr txBox="1"/>
          <p:nvPr/>
        </p:nvSpPr>
        <p:spPr>
          <a:xfrm>
            <a:off x="11933371" y="2070510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12</a:t>
            </a: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C0C7C28D-D8FD-CC52-78C1-EB6D1365FBAF}"/>
              </a:ext>
            </a:extLst>
          </p:cNvPr>
          <p:cNvSpPr txBox="1"/>
          <p:nvPr/>
        </p:nvSpPr>
        <p:spPr>
          <a:xfrm>
            <a:off x="11582400" y="2977434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Ítens</a:t>
            </a: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 </a:t>
            </a:r>
          </a:p>
          <a:p>
            <a:pPr algn="ctr">
              <a:lnSpc>
                <a:spcPts val="2088"/>
              </a:lnSpc>
            </a:pP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Publicados</a:t>
            </a:r>
            <a:endParaRPr lang="en-US" spc="132" dirty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</p:txBody>
      </p:sp>
      <p:sp>
        <p:nvSpPr>
          <p:cNvPr id="69" name="TextBox 9">
            <a:extLst>
              <a:ext uri="{FF2B5EF4-FFF2-40B4-BE49-F238E27FC236}">
                <a16:creationId xmlns:a16="http://schemas.microsoft.com/office/drawing/2014/main" id="{981F0836-477A-8ACC-6736-48E571F2F57E}"/>
              </a:ext>
            </a:extLst>
          </p:cNvPr>
          <p:cNvSpPr txBox="1"/>
          <p:nvPr/>
        </p:nvSpPr>
        <p:spPr>
          <a:xfrm>
            <a:off x="14792018" y="206234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100%</a:t>
            </a:r>
          </a:p>
        </p:txBody>
      </p:sp>
      <p:sp>
        <p:nvSpPr>
          <p:cNvPr id="71" name="TextBox 10">
            <a:extLst>
              <a:ext uri="{FF2B5EF4-FFF2-40B4-BE49-F238E27FC236}">
                <a16:creationId xmlns:a16="http://schemas.microsoft.com/office/drawing/2014/main" id="{6F64AFBC-113C-0737-3A9E-6E7F628CC302}"/>
              </a:ext>
            </a:extLst>
          </p:cNvPr>
          <p:cNvSpPr txBox="1"/>
          <p:nvPr/>
        </p:nvSpPr>
        <p:spPr>
          <a:xfrm>
            <a:off x="14441047" y="2969273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Taxa de</a:t>
            </a:r>
          </a:p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Sucesso</a:t>
            </a:r>
          </a:p>
        </p:txBody>
      </p:sp>
      <p:pic>
        <p:nvPicPr>
          <p:cNvPr id="73" name="Gráfico 72" descr="Área de transferência Mista com preenchimento sólido">
            <a:extLst>
              <a:ext uri="{FF2B5EF4-FFF2-40B4-BE49-F238E27FC236}">
                <a16:creationId xmlns:a16="http://schemas.microsoft.com/office/drawing/2014/main" id="{E502E578-C030-0859-CF65-9C1A2A3F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40622" y="1147949"/>
            <a:ext cx="914400" cy="914400"/>
          </a:xfrm>
          <a:prstGeom prst="rect">
            <a:avLst/>
          </a:prstGeom>
        </p:spPr>
      </p:pic>
      <p:graphicFrame>
        <p:nvGraphicFramePr>
          <p:cNvPr id="75" name="Tabela 74">
            <a:extLst>
              <a:ext uri="{FF2B5EF4-FFF2-40B4-BE49-F238E27FC236}">
                <a16:creationId xmlns:a16="http://schemas.microsoft.com/office/drawing/2014/main" id="{03BA5884-7F54-D428-05C2-714CA105A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616194"/>
              </p:ext>
            </p:extLst>
          </p:nvPr>
        </p:nvGraphicFramePr>
        <p:xfrm>
          <a:off x="685799" y="4381499"/>
          <a:ext cx="16717828" cy="51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1571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548503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5821227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ITENS PUBLICADOS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STATUS DO DEPLOY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2100000"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01/09/2026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285750" indent="-285750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40949 – Preencher propriedade dinâmica sl_origem</a:t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40838 – Revisão do Fluxo de Checkout - Pedidos com status "Incomplete"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38005 – Análise de Logs - error 500 OCC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40608 – Desenvolvimento do Widget Carrossel de Benefícios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40344 – Identificação da Origem do Cadastro do Cliente – APP ou Site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41059 – Alterar comportamento na requisição do SSE - sl-acs-statistics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✅ Sucesso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/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62978"/>
                  </a:ext>
                </a:extLst>
              </a:tr>
              <a:tr h="1900000"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22/09/2026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285750" indent="-285750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40912 – Pedidos falhando na Integração - Erro "VL_DESC_INC_UNIT nao poder ser menor que 0"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40351 – Pedidos com o erro "Valor de Meio incorreto para PED_CLIENTE"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40930 – Novo Widget de Carrossel “Oferta do Dia"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41344 – Logo não aparecendo no site</a:t>
                      </a:r>
                    </a:p>
                    <a:p>
                      <a:pPr/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41401 – Erro ao fechar pedido / Recalculo dos descontos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✅ Sucesso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/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780000"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30/09/2026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285750" indent="-285750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41755 – Preço zerado em produtos após retorno null no endpoint listProducts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>✅ Sucesso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defTabSz="914400" rtl="0" eaLnBrk="1" fontAlgn="b" latinLnBrk="0" hangingPunct="1">
                        <a:buNone/>
                      </a:pPr>
                      <a:r>
                        <a:rPr sz="1200">
                          <a:solidFill>
                            <a:srgbClr val="E2E0E1"/>
                          </a:solidFill>
                          <a:latin typeface="General Sans 2 Light"/>
                        </a:rPr>
                        <a:t/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B599-C80A-D684-97B6-BC07738C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43A971-D781-82B0-7F50-6671A2F0EA00}"/>
              </a:ext>
            </a:extLst>
          </p:cNvPr>
          <p:cNvSpPr/>
          <p:nvPr/>
        </p:nvSpPr>
        <p:spPr>
          <a:xfrm>
            <a:off x="11568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171FEA2-01A7-B416-0322-4CD93C20218C}"/>
              </a:ext>
            </a:extLst>
          </p:cNvPr>
          <p:cNvSpPr txBox="1"/>
          <p:nvPr/>
        </p:nvSpPr>
        <p:spPr>
          <a:xfrm>
            <a:off x="1028700" y="1152525"/>
            <a:ext cx="11239500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863" b="1" spc="-29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Acompanhamento</a:t>
            </a:r>
            <a:r>
              <a:rPr lang="en-US" sz="5863" b="1" spc="-29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</a:p>
          <a:p>
            <a:pPr algn="l">
              <a:lnSpc>
                <a:spcPts val="5277"/>
              </a:lnSpc>
            </a:pPr>
            <a:r>
              <a:rPr lang="en-US" sz="5863" b="1" spc="-29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de SRs Oracle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A1EB607B-715B-7865-D730-14051BEEB091}"/>
              </a:ext>
            </a:extLst>
          </p:cNvPr>
          <p:cNvSpPr txBox="1"/>
          <p:nvPr/>
        </p:nvSpPr>
        <p:spPr>
          <a:xfrm>
            <a:off x="9229418" y="2064339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2</a:t>
            </a:r>
          </a:p>
        </p:txBody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7C17DE8F-787D-2249-435D-014DE1529BA9}"/>
              </a:ext>
            </a:extLst>
          </p:cNvPr>
          <p:cNvSpPr txBox="1"/>
          <p:nvPr/>
        </p:nvSpPr>
        <p:spPr>
          <a:xfrm>
            <a:off x="8878447" y="2971263"/>
            <a:ext cx="3313553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SRs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Abertas</a:t>
            </a:r>
            <a:endParaRPr lang="en-US" spc="132" dirty="0">
              <a:solidFill>
                <a:srgbClr val="FFFFFF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3BB3F79B-F498-BAF4-06B0-5450A59EBF21}"/>
              </a:ext>
            </a:extLst>
          </p:cNvPr>
          <p:cNvSpPr txBox="1"/>
          <p:nvPr/>
        </p:nvSpPr>
        <p:spPr>
          <a:xfrm>
            <a:off x="11210618" y="2070510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2</a:t>
            </a: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0A4CC207-81FF-55AC-59F9-08E14475B438}"/>
              </a:ext>
            </a:extLst>
          </p:cNvPr>
          <p:cNvSpPr txBox="1"/>
          <p:nvPr/>
        </p:nvSpPr>
        <p:spPr>
          <a:xfrm>
            <a:off x="10859647" y="2977434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Em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Análise</a:t>
            </a: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 </a:t>
            </a:r>
          </a:p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Oracle</a:t>
            </a:r>
          </a:p>
        </p:txBody>
      </p:sp>
      <p:graphicFrame>
        <p:nvGraphicFramePr>
          <p:cNvPr id="75" name="Tabela 74">
            <a:extLst>
              <a:ext uri="{FF2B5EF4-FFF2-40B4-BE49-F238E27FC236}">
                <a16:creationId xmlns:a16="http://schemas.microsoft.com/office/drawing/2014/main" id="{37D79888-9064-CF9F-80B9-D69E7E44C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950017"/>
              </p:ext>
            </p:extLst>
          </p:nvPr>
        </p:nvGraphicFramePr>
        <p:xfrm>
          <a:off x="679692" y="3911538"/>
          <a:ext cx="16922509" cy="47453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2683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3401262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1952563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5474828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82845205"/>
                    </a:ext>
                  </a:extLst>
                </a:gridCol>
                <a:gridCol w="6705601">
                  <a:extLst>
                    <a:ext uri="{9D8B030D-6E8A-4147-A177-3AD203B41FA5}">
                      <a16:colId xmlns:a16="http://schemas.microsoft.com/office/drawing/2014/main" val="1941720085"/>
                    </a:ext>
                  </a:extLst>
                </a:gridCol>
              </a:tblGrid>
              <a:tr h="4853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ASSUNTO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DA ABERTURA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DO ÚLTIMO TRÂMITE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OBSERVAÇÕES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2100000"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4-0003585464</a:t>
                      </a:r>
                      <a:endParaRPr lang="pt-BR" sz="1400" kern="1200" dirty="0">
                        <a:solidFill>
                          <a:srgbClr val="E2E0E1"/>
                        </a:solidFill>
                        <a:latin typeface="General Sans 2 Ligh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indent="0" algn="ctr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Inconsistências recorrentes nos dados de relatórios e atualizações atrasadas de relatórios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21/08/2026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06/10/2026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Em análise</a:t>
                      </a:r>
                    </a:p>
                    <a:p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Oracle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Oracle enviou plano de ação em 06/10: segue analisando o fluxo de pedidos e a falha na atualização dos relatórios, com escalação interna. Pediu retorno em até 5 dias.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2100000"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4-0003839520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indent="0" algn="ctr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Black Friday 2026 - Avaliação Preventiva da Prontidão e Capacidade Ambiental do OCC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22/09/2026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05/10/2026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Em análise</a:t>
                      </a:r>
                    </a:p>
                    <a:p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Oracle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sz="1400">
                          <a:solidFill>
                            <a:srgbClr val="E2E0E1"/>
                          </a:solidFill>
                          <a:latin typeface="General Sans 2 Light"/>
                        </a:rPr>
                        <a:t>Em 05/10 a Lighthouse detalhou os slots da home e pediu a avaliação preventiva de capacidade para a Black Friday, mantendo os Espaços de Variação de Conteúdo.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572076"/>
                  </a:ext>
                </a:extLst>
              </a:tr>
            </a:tbl>
          </a:graphicData>
        </a:graphic>
      </p:graphicFrame>
      <p:sp>
        <p:nvSpPr>
          <p:cNvPr id="4" name="Freeform 5">
            <a:extLst>
              <a:ext uri="{FF2B5EF4-FFF2-40B4-BE49-F238E27FC236}">
                <a16:creationId xmlns:a16="http://schemas.microsoft.com/office/drawing/2014/main" id="{D04174B7-0E85-FA13-CA7E-532066B24011}"/>
              </a:ext>
            </a:extLst>
          </p:cNvPr>
          <p:cNvSpPr/>
          <p:nvPr/>
        </p:nvSpPr>
        <p:spPr>
          <a:xfrm>
            <a:off x="10119042" y="1257300"/>
            <a:ext cx="832360" cy="788472"/>
          </a:xfrm>
          <a:custGeom>
            <a:avLst/>
            <a:gdLst/>
            <a:ahLst/>
            <a:cxnLst/>
            <a:rect l="l" t="t" r="r" b="b"/>
            <a:pathLst>
              <a:path w="832360" h="788472">
                <a:moveTo>
                  <a:pt x="0" y="0"/>
                </a:moveTo>
                <a:lnTo>
                  <a:pt x="832359" y="0"/>
                </a:lnTo>
                <a:lnTo>
                  <a:pt x="832359" y="788472"/>
                </a:lnTo>
                <a:lnTo>
                  <a:pt x="0" y="788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pic>
        <p:nvPicPr>
          <p:cNvPr id="6" name="Gráfico 5" descr="Ampulheta 30% com preenchimento sólido">
            <a:extLst>
              <a:ext uri="{FF2B5EF4-FFF2-40B4-BE49-F238E27FC236}">
                <a16:creationId xmlns:a16="http://schemas.microsoft.com/office/drawing/2014/main" id="{2E5DCA81-B890-6FCD-82F8-25E9DAE1D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9222" y="1189349"/>
            <a:ext cx="914400" cy="914400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E4D2449F-15F6-508E-82F8-2E4578AC8330}"/>
              </a:ext>
            </a:extLst>
          </p:cNvPr>
          <p:cNvSpPr txBox="1"/>
          <p:nvPr/>
        </p:nvSpPr>
        <p:spPr>
          <a:xfrm>
            <a:off x="13115618" y="2097767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C38E8A7-A2FF-44BA-DECE-84B7A2217343}"/>
              </a:ext>
            </a:extLst>
          </p:cNvPr>
          <p:cNvSpPr txBox="1"/>
          <p:nvPr/>
        </p:nvSpPr>
        <p:spPr>
          <a:xfrm>
            <a:off x="12764647" y="3004691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Em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Análise</a:t>
            </a: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 </a:t>
            </a:r>
          </a:p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Salon Line</a:t>
            </a:r>
          </a:p>
        </p:txBody>
      </p:sp>
      <p:pic>
        <p:nvPicPr>
          <p:cNvPr id="12" name="Gráfico 11" descr="Ampulheta 30% com preenchimento sólido">
            <a:extLst>
              <a:ext uri="{FF2B5EF4-FFF2-40B4-BE49-F238E27FC236}">
                <a16:creationId xmlns:a16="http://schemas.microsoft.com/office/drawing/2014/main" id="{3FE7E06A-EBA1-2E76-BA05-BD560D4A2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4222" y="1216606"/>
            <a:ext cx="914400" cy="914400"/>
          </a:xfrm>
          <a:prstGeom prst="rect">
            <a:avLst/>
          </a:prstGeom>
        </p:spPr>
      </p:pic>
      <p:pic>
        <p:nvPicPr>
          <p:cNvPr id="5" name="Gráfico 4" descr="Ampulheta 30% com preenchimento sólido">
            <a:extLst>
              <a:ext uri="{FF2B5EF4-FFF2-40B4-BE49-F238E27FC236}">
                <a16:creationId xmlns:a16="http://schemas.microsoft.com/office/drawing/2014/main" id="{2AC53081-17B5-8768-3CEB-1E3AED3D6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56069" y="1220004"/>
            <a:ext cx="914400" cy="9144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EA74B65-044E-39ED-8804-59454C936101}"/>
              </a:ext>
            </a:extLst>
          </p:cNvPr>
          <p:cNvSpPr txBox="1"/>
          <p:nvPr/>
        </p:nvSpPr>
        <p:spPr>
          <a:xfrm>
            <a:off x="14907464" y="2149267"/>
            <a:ext cx="2611609" cy="8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sz="5976" b="1" dirty="0">
                <a:solidFill>
                  <a:srgbClr val="FFFFFF">
                    <a:alpha val="87843"/>
                  </a:srgbClr>
                </a:solidFill>
                <a:latin typeface="Inter Heavy"/>
                <a:ea typeface="Inter Heavy"/>
                <a:cs typeface="Inter Heavy"/>
                <a:sym typeface="Inter Heavy"/>
              </a:rPr>
              <a:t>0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40594DD8-1D9D-CCB4-759C-A94F24D93C87}"/>
              </a:ext>
            </a:extLst>
          </p:cNvPr>
          <p:cNvSpPr txBox="1"/>
          <p:nvPr/>
        </p:nvSpPr>
        <p:spPr>
          <a:xfrm>
            <a:off x="14556491" y="2995501"/>
            <a:ext cx="33135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Em </a:t>
            </a:r>
            <a:r>
              <a:rPr lang="en-US" spc="132" dirty="0" err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Análise</a:t>
            </a: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 </a:t>
            </a:r>
          </a:p>
          <a:p>
            <a:pPr algn="ctr">
              <a:lnSpc>
                <a:spcPts val="2088"/>
              </a:lnSpc>
            </a:pPr>
            <a:r>
              <a:rPr lang="en-US" spc="132" dirty="0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Lighthouse</a:t>
            </a:r>
          </a:p>
        </p:txBody>
      </p:sp>
    </p:spTree>
    <p:extLst>
      <p:ext uri="{BB962C8B-B14F-4D97-AF65-F5344CB8AC3E}">
        <p14:creationId xmlns:p14="http://schemas.microsoft.com/office/powerpoint/2010/main" val="2239950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4" t="-1438" r="-15287" b="-365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143923" y="-3215962"/>
            <a:ext cx="18288155" cy="14946631"/>
          </a:xfrm>
          <a:custGeom>
            <a:avLst/>
            <a:gdLst/>
            <a:ahLst/>
            <a:cxnLst/>
            <a:rect l="l" t="t" r="r" b="b"/>
            <a:pathLst>
              <a:path w="18288155" h="14946631">
                <a:moveTo>
                  <a:pt x="0" y="0"/>
                </a:moveTo>
                <a:lnTo>
                  <a:pt x="18288154" y="0"/>
                </a:lnTo>
                <a:lnTo>
                  <a:pt x="18288154" y="14946631"/>
                </a:lnTo>
                <a:lnTo>
                  <a:pt x="0" y="149466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11874" b="-1187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-7055199" y="2813684"/>
            <a:ext cx="18288155" cy="14946631"/>
          </a:xfrm>
          <a:custGeom>
            <a:avLst/>
            <a:gdLst/>
            <a:ahLst/>
            <a:cxnLst/>
            <a:rect l="l" t="t" r="r" b="b"/>
            <a:pathLst>
              <a:path w="18288155" h="14946631">
                <a:moveTo>
                  <a:pt x="0" y="0"/>
                </a:moveTo>
                <a:lnTo>
                  <a:pt x="18288155" y="0"/>
                </a:lnTo>
                <a:lnTo>
                  <a:pt x="18288155" y="14946632"/>
                </a:lnTo>
                <a:lnTo>
                  <a:pt x="0" y="14946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</a:blip>
            <a:stretch>
              <a:fillRect t="-11874" b="-1187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1028700" y="2223618"/>
            <a:ext cx="4877699" cy="7949082"/>
            <a:chOff x="0" y="0"/>
            <a:chExt cx="1150956" cy="9040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0956" cy="904003"/>
            </a:xfrm>
            <a:custGeom>
              <a:avLst/>
              <a:gdLst/>
              <a:ahLst/>
              <a:cxnLst/>
              <a:rect l="l" t="t" r="r" b="b"/>
              <a:pathLst>
                <a:path w="1150956" h="904003">
                  <a:moveTo>
                    <a:pt x="0" y="0"/>
                  </a:moveTo>
                  <a:lnTo>
                    <a:pt x="1150956" y="0"/>
                  </a:lnTo>
                  <a:lnTo>
                    <a:pt x="1150956" y="904003"/>
                  </a:lnTo>
                  <a:lnTo>
                    <a:pt x="0" y="904003"/>
                  </a:lnTo>
                  <a:close/>
                </a:path>
              </a:pathLst>
            </a:custGeom>
            <a:solidFill>
              <a:srgbClr val="E2D8D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50956" cy="9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28200" y="2223618"/>
            <a:ext cx="4878000" cy="7949082"/>
            <a:chOff x="0" y="0"/>
            <a:chExt cx="1150956" cy="904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0956" cy="904003"/>
            </a:xfrm>
            <a:custGeom>
              <a:avLst/>
              <a:gdLst/>
              <a:ahLst/>
              <a:cxnLst/>
              <a:rect l="l" t="t" r="r" b="b"/>
              <a:pathLst>
                <a:path w="1150956" h="904003">
                  <a:moveTo>
                    <a:pt x="41651" y="0"/>
                  </a:moveTo>
                  <a:lnTo>
                    <a:pt x="1109305" y="0"/>
                  </a:lnTo>
                  <a:cubicBezTo>
                    <a:pt x="1132308" y="0"/>
                    <a:pt x="1150956" y="18648"/>
                    <a:pt x="1150956" y="41651"/>
                  </a:cubicBezTo>
                  <a:lnTo>
                    <a:pt x="1150956" y="862352"/>
                  </a:lnTo>
                  <a:cubicBezTo>
                    <a:pt x="1150956" y="885355"/>
                    <a:pt x="1132308" y="904003"/>
                    <a:pt x="1109305" y="904003"/>
                  </a:cubicBezTo>
                  <a:lnTo>
                    <a:pt x="41651" y="904003"/>
                  </a:lnTo>
                  <a:cubicBezTo>
                    <a:pt x="18648" y="904003"/>
                    <a:pt x="0" y="885355"/>
                    <a:pt x="0" y="862352"/>
                  </a:cubicBezTo>
                  <a:lnTo>
                    <a:pt x="0" y="41651"/>
                  </a:lnTo>
                  <a:cubicBezTo>
                    <a:pt x="0" y="18648"/>
                    <a:pt x="18648" y="0"/>
                    <a:pt x="41651" y="0"/>
                  </a:cubicBezTo>
                  <a:close/>
                </a:path>
              </a:pathLst>
            </a:custGeom>
            <a:solidFill>
              <a:srgbClr val="282525"/>
            </a:solidFill>
            <a:ln w="38100" cap="sq">
              <a:solidFill>
                <a:srgbClr val="282525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50956" cy="9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77880" y="3036179"/>
            <a:ext cx="2955997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864" b="1" spc="-37" dirty="0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Pontos de </a:t>
            </a:r>
            <a:r>
              <a:rPr lang="en-US" sz="1864" b="1" spc="-37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Atenção</a:t>
            </a:r>
            <a:endParaRPr lang="en-US" sz="1864" b="1" spc="-37" dirty="0">
              <a:solidFill>
                <a:srgbClr val="282525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065478" y="2902829"/>
            <a:ext cx="1863200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864" b="1" spc="-37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Pontos </a:t>
            </a:r>
            <a:r>
              <a:rPr lang="en-US" sz="1864" b="1" spc="-37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Positivos</a:t>
            </a:r>
            <a:r>
              <a:rPr lang="en-US" sz="1864" b="1" spc="-37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7881" y="3534456"/>
            <a:ext cx="4231528" cy="4358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Itens bloqueados com dependência externa: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Formulário da central de atendimento, aguardando a Salesforce.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Relatórios do e-commerce, aguardando causa raiz da Oracle.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Capacidade da Black Friday, em análise preventiva com a Oracle.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Imagens de produto, aguardando confirmação do Google.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Avaliações e dúvidas da nova página de produto, com a YourViews.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Integração de afiliados, aguardando a Rakuten.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Apple Pay e Google Pay, aguardando a escolha do gateway.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Maior tempo em desenvolvimento: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Análise dos logs de erro 500 no OCC: 26 dias úteis.</a:t>
            </a:r>
            <a:r>
              <a:rPr lang="pt-BR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</a:rPr>
              <a:t>Hero da nova página de produto segue em desenvolvimento e ainda aguarda o Figma do botão de compartilhar.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65478" y="3504685"/>
            <a:ext cx="4167478" cy="5058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Disponibilidade do site: 100%.</a:t>
            </a:r>
            <a:r>
              <a:rPr lang="en-US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r>
              <a:rPr sz="1200">
                <a:solidFill>
                  <a:srgbClr val="E2D8D0"/>
                </a:solidFill>
                <a:latin typeface="General Sans 2 Medium"/>
              </a:rPr>
              <a:t>Três deploys no mês, com a validação pós-deploy aprovada em todos e 12 itens publicados.</a:t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E2D8D0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Sete das nove entregas de bug e melhoria levaram até 4 dias úteis de desenvolvimento. Três user stories de suporte de sprint foram encerradas no mês, sem passagem pelo estado Active.</a:t>
            </a:r>
            <a:r>
              <a:rPr lang="en-US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E2D8D0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 time registrou 16 bugs e melhorias internamente, adiantando a nova PDP, a Algolia e a correção de preço.</a:t>
            </a:r>
            <a:r>
              <a:rPr lang="en-US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E2D8D0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Entregas relevantes:</a:t>
            </a:r>
            <a:r>
              <a:rPr lang="en-US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Origem do cadastro distinguida entre aplicativo e site.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Novos carrosséis de benefícios e de oferta do dia.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Ajuste da estatística de navegação e da origem registrada no pedido.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Revisão do checkout de pedidos incompletos e tratativa do logo que não aparecia.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E2D8D0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Análises do consumo das APIs Oracle e dos logs de erro 500.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791837"/>
            <a:ext cx="78867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sz="7042" b="1" spc="-352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Resumo</a:t>
            </a:r>
            <a:r>
              <a:rPr lang="en-US" sz="7042" b="1" spc="-352" dirty="0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  <a:r>
              <a:rPr lang="en-US" sz="7042" b="1" spc="-352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Executivo</a:t>
            </a:r>
            <a:endParaRPr lang="en-US" sz="7042" b="1" spc="-352" dirty="0">
              <a:solidFill>
                <a:srgbClr val="282525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pSp>
        <p:nvGrpSpPr>
          <p:cNvPr id="36" name="Group 5">
            <a:extLst>
              <a:ext uri="{FF2B5EF4-FFF2-40B4-BE49-F238E27FC236}">
                <a16:creationId xmlns:a16="http://schemas.microsoft.com/office/drawing/2014/main" id="{E5CE34A7-C163-A74E-662D-79466A3D7C95}"/>
              </a:ext>
            </a:extLst>
          </p:cNvPr>
          <p:cNvGrpSpPr/>
          <p:nvPr/>
        </p:nvGrpSpPr>
        <p:grpSpPr>
          <a:xfrm>
            <a:off x="12304874" y="2223618"/>
            <a:ext cx="4877699" cy="7949082"/>
            <a:chOff x="0" y="0"/>
            <a:chExt cx="1150956" cy="904003"/>
          </a:xfrm>
        </p:grpSpPr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8538DD7-C3A8-22EC-8213-CE2CB964B2AB}"/>
                </a:ext>
              </a:extLst>
            </p:cNvPr>
            <p:cNvSpPr/>
            <p:nvPr/>
          </p:nvSpPr>
          <p:spPr>
            <a:xfrm>
              <a:off x="0" y="0"/>
              <a:ext cx="1150956" cy="904003"/>
            </a:xfrm>
            <a:custGeom>
              <a:avLst/>
              <a:gdLst/>
              <a:ahLst/>
              <a:cxnLst/>
              <a:rect l="l" t="t" r="r" b="b"/>
              <a:pathLst>
                <a:path w="1150956" h="904003">
                  <a:moveTo>
                    <a:pt x="0" y="0"/>
                  </a:moveTo>
                  <a:lnTo>
                    <a:pt x="1150956" y="0"/>
                  </a:lnTo>
                  <a:lnTo>
                    <a:pt x="1150956" y="904003"/>
                  </a:lnTo>
                  <a:lnTo>
                    <a:pt x="0" y="904003"/>
                  </a:lnTo>
                  <a:close/>
                </a:path>
              </a:pathLst>
            </a:custGeom>
            <a:solidFill>
              <a:srgbClr val="E2D8D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Box 7">
              <a:extLst>
                <a:ext uri="{FF2B5EF4-FFF2-40B4-BE49-F238E27FC236}">
                  <a16:creationId xmlns:a16="http://schemas.microsoft.com/office/drawing/2014/main" id="{D60789AB-B5D1-35C3-A6AE-02B5B3D574A4}"/>
                </a:ext>
              </a:extLst>
            </p:cNvPr>
            <p:cNvSpPr txBox="1"/>
            <p:nvPr/>
          </p:nvSpPr>
          <p:spPr>
            <a:xfrm>
              <a:off x="0" y="-38100"/>
              <a:ext cx="1150956" cy="9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F939704B-2803-E044-71D3-25487A283540}"/>
              </a:ext>
            </a:extLst>
          </p:cNvPr>
          <p:cNvSpPr txBox="1"/>
          <p:nvPr/>
        </p:nvSpPr>
        <p:spPr>
          <a:xfrm>
            <a:off x="12754054" y="3036179"/>
            <a:ext cx="2955997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864" b="1" spc="-37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Próximas</a:t>
            </a:r>
            <a:r>
              <a:rPr lang="en-US" sz="1864" b="1" spc="-37" dirty="0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  <a:r>
              <a:rPr lang="en-US" sz="1864" b="1" spc="-37" dirty="0" err="1">
                <a:solidFill>
                  <a:srgbClr val="282525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Ações</a:t>
            </a:r>
            <a:endParaRPr lang="en-US" sz="1864" b="1" spc="-37" dirty="0">
              <a:solidFill>
                <a:srgbClr val="282525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20E57E0C-F8C1-C794-D853-2FA416FAE00F}"/>
              </a:ext>
            </a:extLst>
          </p:cNvPr>
          <p:cNvSpPr txBox="1"/>
          <p:nvPr/>
        </p:nvSpPr>
        <p:spPr>
          <a:xfrm>
            <a:off x="12754055" y="3534457"/>
            <a:ext cx="4056064" cy="6674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Concluir o desenvolvimento: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Novo layout e hero da página de produto, com o botão de compartilhar.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Algolia nas categorias, com ordenação e filtros.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Concluir a validação interna: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Benefícios, informações, ritual e rotina da nova PDP.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Indexação, eventos, buscas recentes, autocomplete e catálogo da Algolia.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Validar com a Salon Line:</a:t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Viabilidade da busca Algolia.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Vídeo ou GIF na PDP e abandono de checkout, prontos para produção.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742950" lvl="1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Marca Trata no menu.</a:t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 err="1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  <a:r>
              <a:rPr lang="en-US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/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Acompanhar em monitoramento os erros de integração de pedidos.</a:t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Retomar bloqueios com Salesforce, Oracle, Google, YourViews e Rakuten.</a:t>
            </a: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82525"/>
              </a:solidFill>
              <a:latin typeface="General Sans 2 Medium"/>
              <a:ea typeface="General Sans 2 Medium"/>
              <a:cs typeface="General Sans 2 Medium"/>
              <a:sym typeface="General Sans 2 Medium"/>
            </a:endParaRPr>
          </a:p>
          <a:p>
            <a:pPr marL="285750" indent="-2857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282525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Planejar: outlet, Streamshop, moeda na PDP, Cronograma Capilar e Black Friday.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17633"/>
            <a:ext cx="18288000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0" y="717631"/>
            <a:ext cx="17012212" cy="9569369"/>
          </a:xfrm>
          <a:custGeom>
            <a:avLst/>
            <a:gdLst/>
            <a:ahLst/>
            <a:cxnLst/>
            <a:rect l="l" t="t" r="r" b="b"/>
            <a:pathLst>
              <a:path w="17012212" h="9569369">
                <a:moveTo>
                  <a:pt x="0" y="0"/>
                </a:moveTo>
                <a:lnTo>
                  <a:pt x="17012212" y="0"/>
                </a:lnTo>
                <a:lnTo>
                  <a:pt x="17012212" y="9569369"/>
                </a:lnTo>
                <a:lnTo>
                  <a:pt x="0" y="95693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03" t="-31003" b="-5944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flipH="1">
            <a:off x="10394830" y="0"/>
            <a:ext cx="7893170" cy="10287000"/>
          </a:xfrm>
          <a:custGeom>
            <a:avLst/>
            <a:gdLst/>
            <a:ahLst/>
            <a:cxnLst/>
            <a:rect l="l" t="t" r="r" b="b"/>
            <a:pathLst>
              <a:path w="7893170" h="10287000">
                <a:moveTo>
                  <a:pt x="7893170" y="0"/>
                </a:moveTo>
                <a:lnTo>
                  <a:pt x="0" y="0"/>
                </a:lnTo>
                <a:lnTo>
                  <a:pt x="0" y="10287000"/>
                </a:lnTo>
                <a:lnTo>
                  <a:pt x="7893170" y="10287000"/>
                </a:lnTo>
                <a:lnTo>
                  <a:pt x="7893170" y="0"/>
                </a:lnTo>
                <a:close/>
              </a:path>
            </a:pathLst>
          </a:custGeom>
          <a:blipFill>
            <a:blip r:embed="rId5"/>
            <a:stretch>
              <a:fillRect l="-33166" r="-46354" b="-45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flipH="1">
            <a:off x="10394830" y="0"/>
            <a:ext cx="7893170" cy="10287000"/>
          </a:xfrm>
          <a:custGeom>
            <a:avLst/>
            <a:gdLst/>
            <a:ahLst/>
            <a:cxnLst/>
            <a:rect l="l" t="t" r="r" b="b"/>
            <a:pathLst>
              <a:path w="7893170" h="10287000">
                <a:moveTo>
                  <a:pt x="7893170" y="0"/>
                </a:moveTo>
                <a:lnTo>
                  <a:pt x="0" y="0"/>
                </a:lnTo>
                <a:lnTo>
                  <a:pt x="0" y="10287000"/>
                </a:lnTo>
                <a:lnTo>
                  <a:pt x="7893170" y="10287000"/>
                </a:lnTo>
                <a:lnTo>
                  <a:pt x="7893170" y="0"/>
                </a:lnTo>
                <a:close/>
              </a:path>
            </a:pathLst>
          </a:custGeom>
          <a:blipFill>
            <a:blip r:embed="rId5"/>
            <a:stretch>
              <a:fillRect l="-33166" r="-46354" b="-45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10394830" cy="10287000"/>
          </a:xfrm>
          <a:custGeom>
            <a:avLst/>
            <a:gdLst/>
            <a:ahLst/>
            <a:cxnLst/>
            <a:rect l="l" t="t" r="r" b="b"/>
            <a:pathLst>
              <a:path w="10394830" h="10287000">
                <a:moveTo>
                  <a:pt x="0" y="0"/>
                </a:moveTo>
                <a:lnTo>
                  <a:pt x="10394830" y="0"/>
                </a:lnTo>
                <a:lnTo>
                  <a:pt x="103948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61" t="-21864" r="-63660" b="-552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7007853" y="4676384"/>
            <a:ext cx="1736950" cy="918630"/>
          </a:xfrm>
          <a:custGeom>
            <a:avLst/>
            <a:gdLst/>
            <a:ahLst/>
            <a:cxnLst/>
            <a:rect l="l" t="t" r="r" b="b"/>
            <a:pathLst>
              <a:path w="1736950" h="918630">
                <a:moveTo>
                  <a:pt x="0" y="0"/>
                </a:moveTo>
                <a:lnTo>
                  <a:pt x="1736950" y="0"/>
                </a:lnTo>
                <a:lnTo>
                  <a:pt x="1736950" y="918629"/>
                </a:lnTo>
                <a:lnTo>
                  <a:pt x="0" y="9186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9004474" y="4680186"/>
            <a:ext cx="2275673" cy="93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Consultoria ​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e desenvolvimento 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de software para seu </a:t>
            </a:r>
          </a:p>
          <a:p>
            <a:pPr algn="l">
              <a:lnSpc>
                <a:spcPts val="1864"/>
              </a:lnSpc>
            </a:pPr>
            <a:r>
              <a:rPr lang="en-US" sz="1759" b="1">
                <a:solidFill>
                  <a:srgbClr val="FFFFF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sucesso digital.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0094" y="8384053"/>
            <a:ext cx="7203322" cy="337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2041" b="1">
                <a:solidFill>
                  <a:srgbClr val="EFEFEF"/>
                </a:solidFill>
                <a:latin typeface="General Sans 1 Medium"/>
                <a:ea typeface="General Sans 1 Medium"/>
                <a:cs typeface="General Sans 1 Medium"/>
                <a:sym typeface="General Sans 1 Medium"/>
              </a:rPr>
              <a:t>www.lighthouseit.com.br​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17633"/>
            <a:ext cx="18288000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0" y="717631"/>
            <a:ext cx="17012212" cy="9569369"/>
          </a:xfrm>
          <a:custGeom>
            <a:avLst/>
            <a:gdLst/>
            <a:ahLst/>
            <a:cxnLst/>
            <a:rect l="l" t="t" r="r" b="b"/>
            <a:pathLst>
              <a:path w="17012212" h="9569369">
                <a:moveTo>
                  <a:pt x="0" y="0"/>
                </a:moveTo>
                <a:lnTo>
                  <a:pt x="17012212" y="0"/>
                </a:lnTo>
                <a:lnTo>
                  <a:pt x="17012212" y="9569369"/>
                </a:lnTo>
                <a:lnTo>
                  <a:pt x="0" y="95693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03" t="-31003" b="-5944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flipH="1">
            <a:off x="10394830" y="0"/>
            <a:ext cx="7893170" cy="10287000"/>
          </a:xfrm>
          <a:custGeom>
            <a:avLst/>
            <a:gdLst/>
            <a:ahLst/>
            <a:cxnLst/>
            <a:rect l="l" t="t" r="r" b="b"/>
            <a:pathLst>
              <a:path w="7893170" h="10287000">
                <a:moveTo>
                  <a:pt x="7893170" y="0"/>
                </a:moveTo>
                <a:lnTo>
                  <a:pt x="0" y="0"/>
                </a:lnTo>
                <a:lnTo>
                  <a:pt x="0" y="10287000"/>
                </a:lnTo>
                <a:lnTo>
                  <a:pt x="7893170" y="10287000"/>
                </a:lnTo>
                <a:lnTo>
                  <a:pt x="7893170" y="0"/>
                </a:lnTo>
                <a:close/>
              </a:path>
            </a:pathLst>
          </a:custGeom>
          <a:blipFill>
            <a:blip r:embed="rId5"/>
            <a:stretch>
              <a:fillRect l="-33166" r="-46354" b="-45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flipH="1">
            <a:off x="10394830" y="0"/>
            <a:ext cx="7893170" cy="10287000"/>
          </a:xfrm>
          <a:custGeom>
            <a:avLst/>
            <a:gdLst/>
            <a:ahLst/>
            <a:cxnLst/>
            <a:rect l="l" t="t" r="r" b="b"/>
            <a:pathLst>
              <a:path w="7893170" h="10287000">
                <a:moveTo>
                  <a:pt x="7893170" y="0"/>
                </a:moveTo>
                <a:lnTo>
                  <a:pt x="0" y="0"/>
                </a:lnTo>
                <a:lnTo>
                  <a:pt x="0" y="10287000"/>
                </a:lnTo>
                <a:lnTo>
                  <a:pt x="7893170" y="10287000"/>
                </a:lnTo>
                <a:lnTo>
                  <a:pt x="7893170" y="0"/>
                </a:lnTo>
                <a:close/>
              </a:path>
            </a:pathLst>
          </a:custGeom>
          <a:blipFill>
            <a:blip r:embed="rId5"/>
            <a:stretch>
              <a:fillRect l="-33166" r="-46354" b="-45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10394830" cy="10287000"/>
          </a:xfrm>
          <a:custGeom>
            <a:avLst/>
            <a:gdLst/>
            <a:ahLst/>
            <a:cxnLst/>
            <a:rect l="l" t="t" r="r" b="b"/>
            <a:pathLst>
              <a:path w="10394830" h="10287000">
                <a:moveTo>
                  <a:pt x="0" y="0"/>
                </a:moveTo>
                <a:lnTo>
                  <a:pt x="10394830" y="0"/>
                </a:lnTo>
                <a:lnTo>
                  <a:pt x="103948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61" t="-21864" r="-63660" b="-552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2D2BEFCF-FCB6-DF8B-65C8-ADEBB921761A}"/>
              </a:ext>
            </a:extLst>
          </p:cNvPr>
          <p:cNvSpPr txBox="1"/>
          <p:nvPr/>
        </p:nvSpPr>
        <p:spPr>
          <a:xfrm>
            <a:off x="1" y="4624127"/>
            <a:ext cx="182880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66"/>
              </a:lnSpc>
            </a:pPr>
            <a:r>
              <a:rPr lang="en-US" sz="8963" b="1" spc="-448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Anexos</a:t>
            </a:r>
            <a:endParaRPr lang="en-US" sz="8963" b="1" spc="-448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51946941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D3E6-4C52-B731-887D-43611921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6FFAC3-A20B-510B-F802-D03A1175D0F7}"/>
              </a:ext>
            </a:extLst>
          </p:cNvPr>
          <p:cNvSpPr/>
          <p:nvPr/>
        </p:nvSpPr>
        <p:spPr>
          <a:xfrm>
            <a:off x="0" y="0"/>
            <a:ext cx="18264864" cy="10273986"/>
          </a:xfrm>
          <a:custGeom>
            <a:avLst/>
            <a:gdLst/>
            <a:ahLst/>
            <a:cxnLst/>
            <a:rect l="l" t="t" r="r" b="b"/>
            <a:pathLst>
              <a:path w="18264864" h="10273986">
                <a:moveTo>
                  <a:pt x="0" y="0"/>
                </a:moveTo>
                <a:lnTo>
                  <a:pt x="18264864" y="0"/>
                </a:lnTo>
                <a:lnTo>
                  <a:pt x="18264864" y="10273986"/>
                </a:lnTo>
                <a:lnTo>
                  <a:pt x="0" y="1027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2EC6CA18-EBB1-DEBD-2983-2B2B19871F91}"/>
              </a:ext>
            </a:extLst>
          </p:cNvPr>
          <p:cNvSpPr txBox="1"/>
          <p:nvPr/>
        </p:nvSpPr>
        <p:spPr>
          <a:xfrm>
            <a:off x="1028700" y="866557"/>
            <a:ext cx="1598493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7"/>
              </a:lnSpc>
            </a:pP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Ítens</a:t>
            </a: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de 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Trabalho</a:t>
            </a:r>
            <a:r>
              <a:rPr lang="en-US" sz="6463" b="1" spc="-323" dirty="0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 </a:t>
            </a:r>
            <a:r>
              <a:rPr lang="en-US" sz="6463" b="1" spc="-323" dirty="0" err="1">
                <a:solidFill>
                  <a:srgbClr val="E2D8D0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Entregues</a:t>
            </a:r>
            <a:endParaRPr lang="en-US" sz="6463" b="1" spc="-323" dirty="0">
              <a:solidFill>
                <a:srgbClr val="E2D8D0"/>
              </a:soli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110ECEA0-5A76-8FC6-DC4E-DB4CB5E76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09638"/>
              </p:ext>
            </p:extLst>
          </p:nvPr>
        </p:nvGraphicFramePr>
        <p:xfrm>
          <a:off x="1371600" y="1754516"/>
          <a:ext cx="16078200" cy="62859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790148474"/>
                    </a:ext>
                  </a:extLst>
                </a:gridCol>
                <a:gridCol w="11201400">
                  <a:extLst>
                    <a:ext uri="{9D8B030D-6E8A-4147-A177-3AD203B41FA5}">
                      <a16:colId xmlns:a16="http://schemas.microsoft.com/office/drawing/2014/main" val="35347908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48296162"/>
                    </a:ext>
                  </a:extLst>
                </a:gridCol>
              </a:tblGrid>
              <a:tr h="6953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TIPO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TÍTULO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TEMPO EM DESENVOLVIMENTO (DIAS)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0554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Análise de Logs - error 500 OCC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Novo Widget de Carrossel “Oferta do Dia"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Análise de Consumo de APIs Externas – Excedente de Requisições Oracle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Revisão do Fluxo de Checkout - Pedidos com status "Incomplete"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Desenvolvimento do Widget Carrossel de Benefícios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Identificação da Origem do Cadastro do Cliente – APP ou Site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Alterar comportamento na requisição do SSE - sl-acs-statistics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Bug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Logo não aparecendo no site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Melhoria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Preencher propriedade dinâmica sl_origem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User Story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[Suporte] Sprint 74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User Story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[Suporte] Sprint 75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User Story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[Suporte] Sprint 76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General Sans 2 Light" panose="020B060402020202020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72012"/>
                  </a:ext>
                </a:extLst>
              </a:tr>
            </a:tbl>
          </a:graphicData>
        </a:graphic>
      </p:graphicFrame>
      <p:sp>
        <p:nvSpPr>
          <p:cNvPr id="7" name="Seta: para a Esquerda 6">
            <a:hlinkClick r:id="rId3" action="ppaction://hlinksldjump"/>
            <a:extLst>
              <a:ext uri="{FF2B5EF4-FFF2-40B4-BE49-F238E27FC236}">
                <a16:creationId xmlns:a16="http://schemas.microsoft.com/office/drawing/2014/main" id="{87D86D00-E97B-D8B9-C3A2-9E67DDF1912C}"/>
              </a:ext>
            </a:extLst>
          </p:cNvPr>
          <p:cNvSpPr/>
          <p:nvPr/>
        </p:nvSpPr>
        <p:spPr>
          <a:xfrm>
            <a:off x="1447800" y="9611868"/>
            <a:ext cx="978408" cy="484632"/>
          </a:xfrm>
          <a:prstGeom prst="leftArrow">
            <a:avLst/>
          </a:prstGeom>
          <a:solidFill>
            <a:srgbClr val="E2D8D0"/>
          </a:solidFill>
          <a:ln>
            <a:solidFill>
              <a:srgbClr val="E2D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67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9c81e3-c1e0-4784-8aad-83c15c1b9561">
      <Terms xmlns="http://schemas.microsoft.com/office/infopath/2007/PartnerControls"/>
    </lcf76f155ced4ddcb4097134ff3c332f>
    <TaxCatchAll xmlns="32734e72-e50b-4c6b-bc09-26ff5ba5e4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1D15D1B2A80CC41AD5AADBC6A2161BF" ma:contentTypeVersion="14" ma:contentTypeDescription="Crie um novo documento." ma:contentTypeScope="" ma:versionID="c91a7cce5431787dce1437cd66d3bdde">
  <xsd:schema xmlns:xsd="http://www.w3.org/2001/XMLSchema" xmlns:xs="http://www.w3.org/2001/XMLSchema" xmlns:p="http://schemas.microsoft.com/office/2006/metadata/properties" xmlns:ns2="bf9c81e3-c1e0-4784-8aad-83c15c1b9561" xmlns:ns3="32734e72-e50b-4c6b-bc09-26ff5ba5e4dc" targetNamespace="http://schemas.microsoft.com/office/2006/metadata/properties" ma:root="true" ma:fieldsID="f0ab1c69cb18904216fa175d28c0f0da" ns2:_="" ns3:_="">
    <xsd:import namespace="bf9c81e3-c1e0-4784-8aad-83c15c1b9561"/>
    <xsd:import namespace="32734e72-e50b-4c6b-bc09-26ff5ba5e4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9c81e3-c1e0-4784-8aad-83c15c1b95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cb44fb7a-77ca-42bc-9b22-ac304b7a57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734e72-e50b-4c6b-bc09-26ff5ba5e4d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6a74e86-b12c-4406-937b-302af72c60f1}" ma:internalName="TaxCatchAll" ma:showField="CatchAllData" ma:web="32734e72-e50b-4c6b-bc09-26ff5ba5e4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C39A49-29C9-4B57-8E3C-B39B93327ED2}">
  <ds:schemaRefs>
    <ds:schemaRef ds:uri="http://schemas.microsoft.com/office/2006/metadata/properties"/>
    <ds:schemaRef ds:uri="32734e72-e50b-4c6b-bc09-26ff5ba5e4dc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bf9c81e3-c1e0-4784-8aad-83c15c1b9561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CBD49B9-7177-40D6-A91E-B71479154A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9c81e3-c1e0-4784-8aad-83c15c1b9561"/>
    <ds:schemaRef ds:uri="32734e72-e50b-4c6b-bc09-26ff5ba5e4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AD8D6B-356A-4B70-B5D6-A37F877120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3790</TotalTime>
  <Words>1258</Words>
  <Application>Microsoft Office PowerPoint</Application>
  <PresentationFormat>Personalizar</PresentationFormat>
  <Paragraphs>320</Paragraphs>
  <Slides>11</Slides>
  <Notes>0</Notes>
  <HiddenSlides>0</HiddenSlides>
  <MMClips>3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Calibri</vt:lpstr>
      <vt:lpstr>General Sans 1 Light</vt:lpstr>
      <vt:lpstr>General Sans 1 Semi-Bold</vt:lpstr>
      <vt:lpstr>General Sans 2 Medium</vt:lpstr>
      <vt:lpstr>Inter Heavy</vt:lpstr>
      <vt:lpstr>General Sans 2 Light</vt:lpstr>
      <vt:lpstr>Arial</vt:lpstr>
      <vt:lpstr>General Sans 1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PPT - 2025</dc:title>
  <dc:creator>Fábio Vidart</dc:creator>
  <cp:lastModifiedBy>Fábio Vidart</cp:lastModifiedBy>
  <cp:revision>13</cp:revision>
  <dcterms:created xsi:type="dcterms:W3CDTF">2006-08-16T00:00:00Z</dcterms:created>
  <dcterms:modified xsi:type="dcterms:W3CDTF">2026-09-24T15:48:07Z</dcterms:modified>
  <dc:identifier>DAGeuo3ZbiA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0x01010081D15D1B2A80CC41AD5AADBC6A2161BF</vt:lpwstr>
  </property>
  <property fmtid="{D5CDD505-2E9C-101B-9397-08002B2CF9AE}" pid="3" name="MediaServiceImageTags">
    <vt:lpwstr/>
  </property>
</Properties>
</file>